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9202419-1d5d-c603-e7e7-c0d21f5bb31e}">
          <p14:sldIdLst>
            <p14:sldId id="256"/>
            <p14:sldId id="257"/>
            <p14:sldId id="258"/>
          </p14:sldIdLst>
        </p14:section>
        <p14:section name="How it is built" id="{1a91277a-1b1b-21fc-1a31-da7bd92e8a27}">
          <p14:sldIdLst>
            <p14:sldId id="259"/>
            <p14:sldId id="260"/>
            <p14:sldId id="261"/>
            <p14:sldId id="262"/>
            <p14:sldId id="263"/>
            <p14:sldId id="264"/>
          </p14:sldIdLst>
        </p14:section>
        <p14:section name="What it does today" id="{351049f7-2f86-fea7-e2c1-f3d2bde6a818}">
          <p14:sldIdLst>
            <p14:sldId id="265"/>
            <p14:sldId id="266"/>
            <p14:sldId id="267"/>
            <p14:sldId id="268"/>
            <p14:sldId id="269"/>
            <p14:sldId id="270"/>
            <p14:sldId id="271"/>
            <p14:sldId id="272"/>
            <p14:sldId id="273"/>
            <p14:sldId id="274"/>
            <p14:sldId id="275"/>
          </p14:sldIdLst>
        </p14:section>
        <p14:section name="What could be next" id="{f9d123bb-e8c6-0825-b4d7-186736b87ca6}">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second dossier tutorial. The quickstart showed you how to use it. This one shows you how it is built, what it can do today, and what could come next. You will see the two rules that shape the code, follow a document from the moment it is synced to the moment it is found by a search, and finish with the pilot on real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dossier is a document collection and audit pipeline. It syncs documents from the sources you configure, and fetches only what changed. It freezes each one as a snapshot that is never changed again. It converts them to text, and to a picture of every page. It runs a sequence of prompt stages over them, which extract structured fields, each pointing at the evidence it came from. It scores those answers against answers a person verified. And it writes an index you can search by meaning and by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dossier does is written down before it is built. There are 23 specs, holding 477 numbered rules. Behind them sit 561 test files, and the playground has 27 hands-on exercises. The numbers matter less than how they are linked: each rule names the test that proves it, each test is claimed by a rule, and the build checks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how it is built. Two loops for writing it, and two boundaries for keeping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specs folder is the source of truth, and the code is an implementation of it. Every spec ends with a list of rules. Each rule is an invariant, with examples and at least one counter-example, and it carries four fields: its kind, the layer it lives in, the test that proves it, and its status. The test's file name carries the rule's id, and an architecture test checks the link in both directions. Rule ids never move. A rule that stops being true is superseded and names its replacement, so nothing that cites it is left claiming something nobody agreed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happens in two loops. Discover turns a request into rules, with the unknowns settled before anything is written. Accept opens the outer loop: one acceptance test that describes what a user observes, and stays red for as long as the slice takes. Inside it, each TDD cycle drives one failing unit test to green with the smallest change, and the default suite stays green after every cycle. When the acceptance test passes, the rule is met and the slice is done. Verify and quality then read the spec against the tests, and ask whether each rule is really 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boundary is the hash boundary. Left of it, the world is mutable and remote: a Jira issue changes, a page is edited. Sync crosses the line once, and freezes what it fetched. Right of it, everything is a function of content hashes, so the same snapshots, prompts, schemas and model give byte-identical plans and cache keys, on any machine. Only four packages may reach the network. Connectors fetch payloads. Models ask a model, for an answer or a vector. Tracking sends records to MLflow. And index writes and searches the embedding index. An architecture test walks every module, and fails the build if anything else imports a network client, even lazily, inside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boundary is purity. The domain layer imports the standard library and pydantic, and nothing else: no files, no network, no clock, no environment variables. The decisions live there: cache keys, resolution, grounding, scoring, model id checks. That is why its tests need no fixtures and run in milliseconds, and why mutation testing is affordable on it. Application holds the use cases, and is handed its connector, store and model client. Infrastructure is wiring. Config is the only reader of the environment, and the CLI is the only place that exits. The test for where something belongs is simple. If it could be asserted with a plain dictionary and no fixtures, it is a decision, and it goes in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the two boundaries make a run reproducible by construction. Snapshots are content addressed, and never overwritten. Every stage's cache key holds everything that could change its answer: the snapshot, the prompt, the schema, the pinned model, and the keys of the stages before it. Change one, and exactly what depends on it runs again. A model is pinned exactly, so an Ollama tag is pinned by its digest. A model is asked only on a cache miss, never during a plan or a replay, so a replay reproduces a run from months ago without a single model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dossier does today, in the order a document meets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come first. There are four connectors: a folder, Jira, Confluence, and a website, read from its sitemap or crawled, with an optional headless browser for pages drawn by script. Every connector is read only, and returns each payload byte for byte, as it was received. A ledger remembers what each source holds, so a sync asks only for what changed since the last one, with an overlap so that nothing at the edge is missed. A document removed from its source is kept, and marked as gone. And a fetch that failed is owed, and asked for again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turns each snapshot into what a stage reads, and there are two kinds. Markdown is text: what most stages read, and what every quoted span is checked against. Page images are one picture per page, for a vision model to read charts and screenshots. Converters exist for markdown, plain text, CSV, HTML, Jira issues, Confluence pages, PDFs from their text layer or as page images, images, and scans read by OCR with Docling. A source declares which kinds it wants for each media type. And converters are registered by entry point, so you can write your own, as exercise three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is data, end to end. pipeline.yaml names its sources, a pinned model, and a sequence of steps. Each step has a prompt, an input, a mode, per file or per group, and an output, declared as fields in YAML. dossier never imports your code to find out what you are extracting. Run with plan says what would run, and why, before anything is spent. A try asks about one document at a time while you work on a prompt, and its answers are cached for the next full run. And a replay reproduces a past run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is checked before it is trusted. Output that does not match its schema is never written. It is asked for again once, with the error, and a document that still fails does not stop the run. Every value names the document it came from, and quotes a span of it. That span must be found in the document, or the value is ungrounded, and scored incorrect whatever it says. A value read from a picture of a page is described, because no string search can check it. And not stated is a valid answer: null,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answers one question: is the output correct? Gold is a set of answers a person verified. Each field is scored by its declared type. Amounts, dates, references, categories, booleans, durations and lists are scored exactly, with no model and no network. Only free text needs a judge. A judge is a model too, so it is calibrated first, against a sample a person scored, and it must agree well enough before its scores count. Eval with compare puts two runs side by side, field by field, which is how a prompt change that breaks something is caught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tracking on, every command records to MLflow. A run is an MLflow run, with a trace for each document that shows what was read and what was answered, and an answer dossier doubts is tagged for review. The gold set publishes as an evaluation dataset, a pipeline as a versioned logged model, and each prompt as a prompt version. Reviewers who never run dossier mark answers in MLflow. Review pull brings their verdicts back, and review apply writes them into gold, with who verified them. Tracking only sends. Nothing MLflow holds can enter a cache key, a manifest or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 makes the workspace searchable. Each document is cut at its headings, each chunk carrying the headings above it, and embedded with a pinned local model, through Ollama, into Postgres with pgvector. The latest run's grounded answers come along: categories as values to filter on, and free text as one more chunk to search. With nothing changed, no model is asked and nothing is written, because the index is derived data. Search ranks by meaning and by words together, fuses the two lists with reciprocal rank fusion, filters by grounded values, and shows a reader only the sources they may read. And search with gold measures the ranking, against questions a person graded, as nDCG and recall at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there is running it every day. Status tells you what the workspace holds before anything is spent: each source, each pipeline's latest run, and what eval would withhold. gc reclaims space, and every run it keeps still replays. A workspace lock lets one writing command run at a time, and refuses a second at once, naming the first, so a scheduled job never collides with yesterday's. And CID masking. When a pipeline declares it, every text a model is shown is first masked on this machine, so a client's name becomes person one, and the index and MLflow only ever see the masked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reached through dossier's own model client, with no LangChain. There are clients for any OpenAI-compatible endpoint, which covers OpenWebUI and vLLM, for Anthropic, and for Ollama, which also serves the embeddings. The identifier in pipeline.yaml pins the model, and is part of every key. Where it is served is the .env file's business, and in no key, which is how a local stub can stand in for a real model in the playground. For real incidents the rule is simple: local models, or models behind OpenWebUI, and never a cloud API called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way to learn dossier is to run it. The playground has 27 exercises. The first ten are the core loop, and run offline, in seconds, at zero cost, against a stub model. Then come MLflow and real servers: a Jira in Docker, a public Confluence, and reviews. Then richer documents: several files as one, procedures as context, websites, answers that are not text, and OCR. Then search. And finally operating it: two commands in one workspace, masking a client, and a workspace that runs every day. Every walkthrough shows real output, and the quickstart video covers the core loop in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what could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a pilot on real incidents, and it needs four things. First, which Jira projects, Confluence spaces and folders to read. Second, what Eureka is. Its post-mortems have no connector yet, so the pilot can start without them, or with an export to a folder. Third, a labelled sample of real incidents, marked up on this machine, to set how much masking must catch. And fourth, about thirty real questions, each with its top documents graded by a person, to give search its first measurement. The stages run on gpt-5.4-mini, through OpenWebUI.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decisions are left open on purpose, because only real data can settle them. What recall makes masking good enough. What score search must clear. Whether a hundred candidates per list is enough, and whether the words list should match any word of a query rather than all of them. And whether a list of client names can be exported, as a deny list. None of these numbers will be invented. Each waits on the pilot's measurements, and is the owner's to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pilot, the candidates are already written down in the specs, under left out on purpose. A Eureka connector, if an export is not enough. Per item permissions, so the index honours Jira security levels and Confluence page restrictions, rather than one reader list per source. Reranking, and a relevance judge for search, if the measurements ask for them. More masking: a report of what was masked, redacted page images, and masked document keys. A link and a container for every document. And clustering and chat over the index, built by other tools that read its views. Each one starts the same way: a spec, then a failing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dossier: two loops to build it, two boundaries to keep it honest, a path from a synced document to a search, and a pilot next. To go further, start with the overview spec and the architecture document, then work through the playground.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4415"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548640" y="2103120"/>
            <a:ext cx="11094415" cy="137160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4" name="Text 0"/>
          <p:cNvSpPr/>
          <p:nvPr>
            <p:ph idx="102" type="body" hasCustomPrompt="1"/>
          </p:nvPr>
        </p:nvSpPr>
        <p:spPr>
          <a:xfrm>
            <a:off x="548640" y="3566160"/>
            <a:ext cx="9601200" cy="1097280"/>
          </a:xfrm>
          <a:prstGeom prst="rect">
            <a:avLst/>
          </a:prstGeom>
          <a:noFill/>
          <a:ln/>
        </p:spPr>
        <p:txBody>
          <a:bodyPr wrap="square" rtlCol="0"/>
          <a:lstStyle>
            <a:lvl1pPr indent="0" marL="0">
              <a:buNone/>
              <a:defRPr lang="en-US" sz="2400" dirty="0">
                <a:solidFill>
                  <a:schemeClr val="accent6"/>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828800" cy="1280160"/>
          </a:xfrm>
          <a:prstGeom prst="rect">
            <a:avLst/>
          </a:prstGeom>
          <a:noFill/>
          <a:ln/>
        </p:spPr>
        <p:txBody>
          <a:bodyPr wrap="square" rtlCol="0"/>
          <a:lstStyle>
            <a:lvl1pPr indent="0" marL="0">
              <a:buNone/>
              <a:defRPr lang="en-US" sz="9600" b="1" dirty="0">
                <a:solidFill>
                  <a:schemeClr val="accent2"/>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3" name="Text 0"/>
          <p:cNvSpPr/>
          <p:nvPr>
            <p:ph idx="101" type="title" hasCustomPrompt="1"/>
          </p:nvPr>
        </p:nvSpPr>
        <p:spPr>
          <a:xfrm>
            <a:off x="548640" y="3200400"/>
            <a:ext cx="11094415"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4206240"/>
            <a:ext cx="9601200" cy="91440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dossier · architecture, features and what comes next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4.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4415" cy="457200"/>
          </a:xfrm>
          <a:prstGeom prst="rect">
            <a:avLst/>
          </a:prstGeom>
          <a:noFill/>
          <a:ln/>
        </p:spPr>
        <p:txBody>
          <a:bodyPr wrap="square" lIns="0" tIns="0" rIns="0" bIns="0" rtlCol="0" anchor="b"/>
          <a:lstStyle/>
          <a:p>
            <a:pPr indent="0" marL="0">
              <a:buNone/>
            </a:pPr>
            <a:r>
              <a:rPr lang="en-US" sz="1800" b="1" spc="200" kern="0" dirty="0">
                <a:solidFill>
                  <a:schemeClr val="accent2"/>
                </a:solidFill>
              </a:rPr>
              <a:t>TUTORIAL 2</a:t>
            </a:r>
            <a:endParaRPr lang="en-US" sz="1800" dirty="0"/>
          </a:p>
        </p:txBody>
      </p:sp>
      <p:sp>
        <p:nvSpPr>
          <p:cNvPr id="3" name="Text 0"/>
          <p:cNvSpPr/>
          <p:nvPr>
            <p:ph idx="101" type="title" hasCustomPrompt="1"/>
          </p:nvPr>
        </p:nvSpPr>
        <p:spPr>
          <a:xfrm>
            <a:off x="548640" y="2103120"/>
            <a:ext cx="11094415" cy="1371600"/>
          </a:xfrm>
          <a:prstGeom prst="rect">
            <a:avLst/>
          </a:prstGeom>
          <a:noFill/>
          <a:ln/>
        </p:spPr>
        <p:txBody>
          <a:bodyPr wrap="square" lIns="0" tIns="0" rIns="0" bIns="0" rtlCol="0" anchor="ctr"/>
          <a:lstStyle/>
          <a:p>
            <a:pPr algn="l" indent="0" marL="0">
              <a:buNone/>
            </a:pPr>
            <a:r>
              <a:rPr lang="en-US" sz="6000" b="1" dirty="0">
                <a:solidFill>
                  <a:schemeClr val="bg1"/>
                </a:solidFill>
                <a:latin typeface="Cambria" pitchFamily="34" charset="0"/>
                <a:ea typeface="Cambria" pitchFamily="34" charset="-122"/>
                <a:cs typeface="Cambria" pitchFamily="34" charset="-120"/>
              </a:rPr>
              <a:t>dossier, from the inside</a:t>
            </a:r>
            <a:endParaRPr lang="en-US" sz="6000" dirty="0"/>
          </a:p>
        </p:txBody>
      </p:sp>
      <p:sp>
        <p:nvSpPr>
          <p:cNvPr id="4" name="Text 0"/>
          <p:cNvSpPr/>
          <p:nvPr>
            <p:ph idx="102" type="body" hasCustomPrompt="1"/>
          </p:nvPr>
        </p:nvSpPr>
        <p:spPr>
          <a:xfrm>
            <a:off x="548640" y="3566160"/>
            <a:ext cx="9601200" cy="1097280"/>
          </a:xfrm>
          <a:prstGeom prst="rect">
            <a:avLst/>
          </a:prstGeom>
          <a:noFill/>
          <a:ln/>
        </p:spPr>
        <p:txBody>
          <a:bodyPr wrap="square" lIns="0" tIns="0" rIns="0" bIns="0" rtlCol="0" anchor="t"/>
          <a:lstStyle/>
          <a:p>
            <a:pPr indent="0" marL="0">
              <a:buNone/>
            </a:pPr>
            <a:r>
              <a:rPr lang="en-US" sz="2400" dirty="0">
                <a:solidFill>
                  <a:schemeClr val="accent6"/>
                </a:solidFill>
              </a:rPr>
              <a:t>How it is built, what it does today, and what could come next</a:t>
            </a:r>
            <a:endParaRPr lang="en-US" sz="2400" dirty="0"/>
          </a:p>
        </p:txBody>
      </p:sp>
      <p:sp>
        <p:nvSpPr>
          <p:cNvPr id="5" name="FaMagnifyingGlass badge"/>
          <p:cNvSpPr/>
          <p:nvPr/>
        </p:nvSpPr>
        <p:spPr>
          <a:xfrm>
            <a:off x="10180015" y="4754880"/>
            <a:ext cx="1463040" cy="1463040"/>
          </a:xfrm>
          <a:prstGeom prst="ellipse">
            <a:avLst/>
          </a:prstGeom>
          <a:solidFill>
            <a:schemeClr val="accent2"/>
          </a:solidFill>
          <a:ln/>
        </p:spPr>
      </p:sp>
      <p:pic>
        <p:nvPicPr>
          <p:cNvPr id="6" name="FaMagnifyingGlass icon" descr="preencoded.png">    </p:cNvPr>
          <p:cNvPicPr>
            <a:picLocks noChangeAspect="1"/>
          </p:cNvPicPr>
          <p:nvPr/>
        </p:nvPicPr>
        <p:blipFill>
          <a:blip r:embed="rId1"/>
          <a:stretch>
            <a:fillRect/>
          </a:stretch>
        </p:blipFill>
        <p:spPr>
          <a:xfrm>
            <a:off x="10545775" y="512064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dossier does</a:t>
            </a:r>
            <a:endParaRPr lang="en-US" sz="3600" dirty="0"/>
          </a:p>
        </p:txBody>
      </p:sp>
      <p:sp>
        <p:nvSpPr>
          <p:cNvPr id="4" name="step Sync"/>
          <p:cNvSpPr/>
          <p:nvPr/>
        </p:nvSpPr>
        <p:spPr>
          <a:xfrm>
            <a:off x="548640" y="1600200"/>
            <a:ext cx="1696669" cy="3749040"/>
          </a:xfrm>
          <a:prstGeom prst="roundRect">
            <a:avLst>
              <a:gd name="adj" fmla="val 4312"/>
            </a:avLst>
          </a:prstGeom>
          <a:solidFill>
            <a:schemeClr val="bg2"/>
          </a:solidFill>
          <a:ln/>
        </p:spPr>
      </p:sp>
      <p:sp>
        <p:nvSpPr>
          <p:cNvPr id="5" name="Sync badge"/>
          <p:cNvSpPr/>
          <p:nvPr/>
        </p:nvSpPr>
        <p:spPr>
          <a:xfrm>
            <a:off x="962635" y="1920240"/>
            <a:ext cx="868680" cy="868680"/>
          </a:xfrm>
          <a:prstGeom prst="ellipse">
            <a:avLst/>
          </a:prstGeom>
          <a:solidFill>
            <a:schemeClr val="accent1"/>
          </a:solidFill>
          <a:ln/>
        </p:spPr>
      </p:sp>
      <p:pic>
        <p:nvPicPr>
          <p:cNvPr id="6" name="Sync icon" descr="preencoded.png">    </p:cNvPr>
          <p:cNvPicPr>
            <a:picLocks noChangeAspect="1"/>
          </p:cNvPicPr>
          <p:nvPr/>
        </p:nvPicPr>
        <p:blipFill>
          <a:blip r:embed="rId1"/>
          <a:stretch>
            <a:fillRect/>
          </a:stretch>
        </p:blipFill>
        <p:spPr>
          <a:xfrm>
            <a:off x="1179805" y="2137410"/>
            <a:ext cx="434340" cy="434340"/>
          </a:xfrm>
          <a:prstGeom prst="rect">
            <a:avLst/>
          </a:prstGeom>
        </p:spPr>
      </p:pic>
      <p:sp>
        <p:nvSpPr>
          <p:cNvPr id="7" name="Text 3"/>
          <p:cNvSpPr txBox="1"/>
          <p:nvPr/>
        </p:nvSpPr>
        <p:spPr>
          <a:xfrm>
            <a:off x="548640"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1</a:t>
            </a:r>
            <a:endParaRPr lang="en-US" sz="1400" dirty="0"/>
          </a:p>
        </p:txBody>
      </p:sp>
      <p:sp>
        <p:nvSpPr>
          <p:cNvPr id="8" name="Text 4"/>
          <p:cNvSpPr txBox="1"/>
          <p:nvPr/>
        </p:nvSpPr>
        <p:spPr>
          <a:xfrm>
            <a:off x="548640"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Sync</a:t>
            </a:r>
            <a:endParaRPr lang="en-US" sz="2200" dirty="0"/>
          </a:p>
        </p:txBody>
      </p:sp>
      <p:sp>
        <p:nvSpPr>
          <p:cNvPr id="9" name="Text 5"/>
          <p:cNvSpPr txBox="1"/>
          <p:nvPr/>
        </p:nvSpPr>
        <p:spPr>
          <a:xfrm>
            <a:off x="685800"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Fetch only what changed, from folders, Jira, Confluence and websites</a:t>
            </a:r>
            <a:endParaRPr lang="en-US" sz="1500" dirty="0"/>
          </a:p>
        </p:txBody>
      </p:sp>
      <p:sp>
        <p:nvSpPr>
          <p:cNvPr id="10" name="step Freeze"/>
          <p:cNvSpPr/>
          <p:nvPr/>
        </p:nvSpPr>
        <p:spPr>
          <a:xfrm>
            <a:off x="2428189" y="1600200"/>
            <a:ext cx="1696669" cy="3749040"/>
          </a:xfrm>
          <a:prstGeom prst="roundRect">
            <a:avLst>
              <a:gd name="adj" fmla="val 4312"/>
            </a:avLst>
          </a:prstGeom>
          <a:solidFill>
            <a:schemeClr val="bg2"/>
          </a:solidFill>
          <a:ln/>
        </p:spPr>
      </p:sp>
      <p:sp>
        <p:nvSpPr>
          <p:cNvPr id="11" name="Freeze badge"/>
          <p:cNvSpPr/>
          <p:nvPr/>
        </p:nvSpPr>
        <p:spPr>
          <a:xfrm>
            <a:off x="2842184" y="1920240"/>
            <a:ext cx="868680" cy="868680"/>
          </a:xfrm>
          <a:prstGeom prst="ellipse">
            <a:avLst/>
          </a:prstGeom>
          <a:solidFill>
            <a:schemeClr val="accent2"/>
          </a:solidFill>
          <a:ln/>
        </p:spPr>
      </p:sp>
      <p:pic>
        <p:nvPicPr>
          <p:cNvPr id="12" name="Freeze icon" descr="preencoded.png">    </p:cNvPr>
          <p:cNvPicPr>
            <a:picLocks noChangeAspect="1"/>
          </p:cNvPicPr>
          <p:nvPr/>
        </p:nvPicPr>
        <p:blipFill>
          <a:blip r:embed="rId2"/>
          <a:stretch>
            <a:fillRect/>
          </a:stretch>
        </p:blipFill>
        <p:spPr>
          <a:xfrm>
            <a:off x="3059354" y="2137410"/>
            <a:ext cx="434340" cy="434340"/>
          </a:xfrm>
          <a:prstGeom prst="rect">
            <a:avLst/>
          </a:prstGeom>
        </p:spPr>
      </p:pic>
      <p:sp>
        <p:nvSpPr>
          <p:cNvPr id="13" name="Text 8"/>
          <p:cNvSpPr txBox="1"/>
          <p:nvPr/>
        </p:nvSpPr>
        <p:spPr>
          <a:xfrm>
            <a:off x="2428189"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2</a:t>
            </a:r>
            <a:endParaRPr lang="en-US" sz="1400" dirty="0"/>
          </a:p>
        </p:txBody>
      </p:sp>
      <p:sp>
        <p:nvSpPr>
          <p:cNvPr id="14" name="Text 9"/>
          <p:cNvSpPr txBox="1"/>
          <p:nvPr/>
        </p:nvSpPr>
        <p:spPr>
          <a:xfrm>
            <a:off x="2428189"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Freeze</a:t>
            </a:r>
            <a:endParaRPr lang="en-US" sz="2200" dirty="0"/>
          </a:p>
        </p:txBody>
      </p:sp>
      <p:sp>
        <p:nvSpPr>
          <p:cNvPr id="15" name="Text 10"/>
          <p:cNvSpPr txBox="1"/>
          <p:nvPr/>
        </p:nvSpPr>
        <p:spPr>
          <a:xfrm>
            <a:off x="2565349"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Keep every payload as an immutable, content-addressed snapshot</a:t>
            </a:r>
            <a:endParaRPr lang="en-US" sz="1500" dirty="0"/>
          </a:p>
        </p:txBody>
      </p:sp>
      <p:sp>
        <p:nvSpPr>
          <p:cNvPr id="16" name="step Convert"/>
          <p:cNvSpPr/>
          <p:nvPr/>
        </p:nvSpPr>
        <p:spPr>
          <a:xfrm>
            <a:off x="4307738" y="1600200"/>
            <a:ext cx="1696669" cy="3749040"/>
          </a:xfrm>
          <a:prstGeom prst="roundRect">
            <a:avLst>
              <a:gd name="adj" fmla="val 4312"/>
            </a:avLst>
          </a:prstGeom>
          <a:solidFill>
            <a:schemeClr val="bg2"/>
          </a:solidFill>
          <a:ln/>
        </p:spPr>
      </p:sp>
      <p:sp>
        <p:nvSpPr>
          <p:cNvPr id="17" name="Convert badge"/>
          <p:cNvSpPr/>
          <p:nvPr/>
        </p:nvSpPr>
        <p:spPr>
          <a:xfrm>
            <a:off x="4721733" y="1920240"/>
            <a:ext cx="868680" cy="868680"/>
          </a:xfrm>
          <a:prstGeom prst="ellipse">
            <a:avLst/>
          </a:prstGeom>
          <a:solidFill>
            <a:schemeClr val="accent1"/>
          </a:solidFill>
          <a:ln/>
        </p:spPr>
      </p:sp>
      <p:pic>
        <p:nvPicPr>
          <p:cNvPr id="18" name="Convert icon" descr="preencoded.png">    </p:cNvPr>
          <p:cNvPicPr>
            <a:picLocks noChangeAspect="1"/>
          </p:cNvPicPr>
          <p:nvPr/>
        </p:nvPicPr>
        <p:blipFill>
          <a:blip r:embed="rId3"/>
          <a:stretch>
            <a:fillRect/>
          </a:stretch>
        </p:blipFill>
        <p:spPr>
          <a:xfrm>
            <a:off x="4938903" y="2137410"/>
            <a:ext cx="434340" cy="434340"/>
          </a:xfrm>
          <a:prstGeom prst="rect">
            <a:avLst/>
          </a:prstGeom>
        </p:spPr>
      </p:pic>
      <p:sp>
        <p:nvSpPr>
          <p:cNvPr id="19" name="Text 13"/>
          <p:cNvSpPr txBox="1"/>
          <p:nvPr/>
        </p:nvSpPr>
        <p:spPr>
          <a:xfrm>
            <a:off x="4307738"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3</a:t>
            </a:r>
            <a:endParaRPr lang="en-US" sz="1400" dirty="0"/>
          </a:p>
        </p:txBody>
      </p:sp>
      <p:sp>
        <p:nvSpPr>
          <p:cNvPr id="20" name="Text 14"/>
          <p:cNvSpPr txBox="1"/>
          <p:nvPr/>
        </p:nvSpPr>
        <p:spPr>
          <a:xfrm>
            <a:off x="4307738"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Convert</a:t>
            </a:r>
            <a:endParaRPr lang="en-US" sz="2200" dirty="0"/>
          </a:p>
        </p:txBody>
      </p:sp>
      <p:sp>
        <p:nvSpPr>
          <p:cNvPr id="21" name="Text 15"/>
          <p:cNvSpPr txBox="1"/>
          <p:nvPr/>
        </p:nvSpPr>
        <p:spPr>
          <a:xfrm>
            <a:off x="4444898"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To text, and to one picture per page</a:t>
            </a:r>
            <a:endParaRPr lang="en-US" sz="1500" dirty="0"/>
          </a:p>
        </p:txBody>
      </p:sp>
      <p:sp>
        <p:nvSpPr>
          <p:cNvPr id="22" name="step Ask"/>
          <p:cNvSpPr/>
          <p:nvPr/>
        </p:nvSpPr>
        <p:spPr>
          <a:xfrm>
            <a:off x="6187288" y="1600200"/>
            <a:ext cx="1696669" cy="3749040"/>
          </a:xfrm>
          <a:prstGeom prst="roundRect">
            <a:avLst>
              <a:gd name="adj" fmla="val 4312"/>
            </a:avLst>
          </a:prstGeom>
          <a:solidFill>
            <a:schemeClr val="bg2"/>
          </a:solidFill>
          <a:ln/>
        </p:spPr>
      </p:sp>
      <p:sp>
        <p:nvSpPr>
          <p:cNvPr id="23" name="Ask badge"/>
          <p:cNvSpPr/>
          <p:nvPr/>
        </p:nvSpPr>
        <p:spPr>
          <a:xfrm>
            <a:off x="6601282" y="1920240"/>
            <a:ext cx="868680" cy="868680"/>
          </a:xfrm>
          <a:prstGeom prst="ellipse">
            <a:avLst/>
          </a:prstGeom>
          <a:solidFill>
            <a:schemeClr val="accent1"/>
          </a:solidFill>
          <a:ln/>
        </p:spPr>
      </p:sp>
      <p:pic>
        <p:nvPicPr>
          <p:cNvPr id="24" name="Ask icon" descr="preencoded.png">    </p:cNvPr>
          <p:cNvPicPr>
            <a:picLocks noChangeAspect="1"/>
          </p:cNvPicPr>
          <p:nvPr/>
        </p:nvPicPr>
        <p:blipFill>
          <a:blip r:embed="rId4"/>
          <a:stretch>
            <a:fillRect/>
          </a:stretch>
        </p:blipFill>
        <p:spPr>
          <a:xfrm>
            <a:off x="6818452" y="2137410"/>
            <a:ext cx="434340" cy="434340"/>
          </a:xfrm>
          <a:prstGeom prst="rect">
            <a:avLst/>
          </a:prstGeom>
        </p:spPr>
      </p:pic>
      <p:sp>
        <p:nvSpPr>
          <p:cNvPr id="25" name="Text 18"/>
          <p:cNvSpPr txBox="1"/>
          <p:nvPr/>
        </p:nvSpPr>
        <p:spPr>
          <a:xfrm>
            <a:off x="6187288"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4</a:t>
            </a:r>
            <a:endParaRPr lang="en-US" sz="1400" dirty="0"/>
          </a:p>
        </p:txBody>
      </p:sp>
      <p:sp>
        <p:nvSpPr>
          <p:cNvPr id="26" name="Text 19"/>
          <p:cNvSpPr txBox="1"/>
          <p:nvPr/>
        </p:nvSpPr>
        <p:spPr>
          <a:xfrm>
            <a:off x="6187288"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Ask</a:t>
            </a:r>
            <a:endParaRPr lang="en-US" sz="2200" dirty="0"/>
          </a:p>
        </p:txBody>
      </p:sp>
      <p:sp>
        <p:nvSpPr>
          <p:cNvPr id="27" name="Text 20"/>
          <p:cNvSpPr txBox="1"/>
          <p:nvPr/>
        </p:nvSpPr>
        <p:spPr>
          <a:xfrm>
            <a:off x="6324448"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Prompt stages extract fields, each pointing at its evidence</a:t>
            </a:r>
            <a:endParaRPr lang="en-US" sz="1500" dirty="0"/>
          </a:p>
        </p:txBody>
      </p:sp>
      <p:sp>
        <p:nvSpPr>
          <p:cNvPr id="28" name="step Score"/>
          <p:cNvSpPr/>
          <p:nvPr/>
        </p:nvSpPr>
        <p:spPr>
          <a:xfrm>
            <a:off x="8066837" y="1600200"/>
            <a:ext cx="1696669" cy="3749040"/>
          </a:xfrm>
          <a:prstGeom prst="roundRect">
            <a:avLst>
              <a:gd name="adj" fmla="val 4312"/>
            </a:avLst>
          </a:prstGeom>
          <a:solidFill>
            <a:schemeClr val="bg2"/>
          </a:solidFill>
          <a:ln/>
        </p:spPr>
      </p:sp>
      <p:sp>
        <p:nvSpPr>
          <p:cNvPr id="29" name="Score badge"/>
          <p:cNvSpPr/>
          <p:nvPr/>
        </p:nvSpPr>
        <p:spPr>
          <a:xfrm>
            <a:off x="8480831" y="1920240"/>
            <a:ext cx="868680" cy="868680"/>
          </a:xfrm>
          <a:prstGeom prst="ellipse">
            <a:avLst/>
          </a:prstGeom>
          <a:solidFill>
            <a:schemeClr val="accent1"/>
          </a:solidFill>
          <a:ln/>
        </p:spPr>
      </p:sp>
      <p:pic>
        <p:nvPicPr>
          <p:cNvPr id="30" name="Score icon" descr="preencoded.png">    </p:cNvPr>
          <p:cNvPicPr>
            <a:picLocks noChangeAspect="1"/>
          </p:cNvPicPr>
          <p:nvPr/>
        </p:nvPicPr>
        <p:blipFill>
          <a:blip r:embed="rId5"/>
          <a:stretch>
            <a:fillRect/>
          </a:stretch>
        </p:blipFill>
        <p:spPr>
          <a:xfrm>
            <a:off x="8698001" y="2137410"/>
            <a:ext cx="434340" cy="434340"/>
          </a:xfrm>
          <a:prstGeom prst="rect">
            <a:avLst/>
          </a:prstGeom>
        </p:spPr>
      </p:pic>
      <p:sp>
        <p:nvSpPr>
          <p:cNvPr id="31" name="Text 23"/>
          <p:cNvSpPr txBox="1"/>
          <p:nvPr/>
        </p:nvSpPr>
        <p:spPr>
          <a:xfrm>
            <a:off x="8066837"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5</a:t>
            </a:r>
            <a:endParaRPr lang="en-US" sz="1400" dirty="0"/>
          </a:p>
        </p:txBody>
      </p:sp>
      <p:sp>
        <p:nvSpPr>
          <p:cNvPr id="32" name="Text 24"/>
          <p:cNvSpPr txBox="1"/>
          <p:nvPr/>
        </p:nvSpPr>
        <p:spPr>
          <a:xfrm>
            <a:off x="8066837"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Score</a:t>
            </a:r>
            <a:endParaRPr lang="en-US" sz="2200" dirty="0"/>
          </a:p>
        </p:txBody>
      </p:sp>
      <p:sp>
        <p:nvSpPr>
          <p:cNvPr id="33" name="Text 25"/>
          <p:cNvSpPr txBox="1"/>
          <p:nvPr/>
        </p:nvSpPr>
        <p:spPr>
          <a:xfrm>
            <a:off x="8203997"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Against answers a person verified</a:t>
            </a:r>
            <a:endParaRPr lang="en-US" sz="1500" dirty="0"/>
          </a:p>
        </p:txBody>
      </p:sp>
      <p:sp>
        <p:nvSpPr>
          <p:cNvPr id="34" name="step Search"/>
          <p:cNvSpPr/>
          <p:nvPr/>
        </p:nvSpPr>
        <p:spPr>
          <a:xfrm>
            <a:off x="9946386" y="1600200"/>
            <a:ext cx="1696669" cy="3749040"/>
          </a:xfrm>
          <a:prstGeom prst="roundRect">
            <a:avLst>
              <a:gd name="adj" fmla="val 4312"/>
            </a:avLst>
          </a:prstGeom>
          <a:solidFill>
            <a:schemeClr val="bg2"/>
          </a:solidFill>
          <a:ln/>
        </p:spPr>
      </p:sp>
      <p:sp>
        <p:nvSpPr>
          <p:cNvPr id="35" name="Search badge"/>
          <p:cNvSpPr/>
          <p:nvPr/>
        </p:nvSpPr>
        <p:spPr>
          <a:xfrm>
            <a:off x="10360381" y="1920240"/>
            <a:ext cx="868680" cy="868680"/>
          </a:xfrm>
          <a:prstGeom prst="ellipse">
            <a:avLst/>
          </a:prstGeom>
          <a:solidFill>
            <a:schemeClr val="accent1"/>
          </a:solidFill>
          <a:ln/>
        </p:spPr>
      </p:sp>
      <p:pic>
        <p:nvPicPr>
          <p:cNvPr id="36" name="Search icon" descr="preencoded.png">    </p:cNvPr>
          <p:cNvPicPr>
            <a:picLocks noChangeAspect="1"/>
          </p:cNvPicPr>
          <p:nvPr/>
        </p:nvPicPr>
        <p:blipFill>
          <a:blip r:embed="rId6"/>
          <a:stretch>
            <a:fillRect/>
          </a:stretch>
        </p:blipFill>
        <p:spPr>
          <a:xfrm>
            <a:off x="10577551" y="2137410"/>
            <a:ext cx="434340" cy="434340"/>
          </a:xfrm>
          <a:prstGeom prst="rect">
            <a:avLst/>
          </a:prstGeom>
        </p:spPr>
      </p:pic>
      <p:sp>
        <p:nvSpPr>
          <p:cNvPr id="37" name="Text 28"/>
          <p:cNvSpPr txBox="1"/>
          <p:nvPr/>
        </p:nvSpPr>
        <p:spPr>
          <a:xfrm>
            <a:off x="9946386" y="2926080"/>
            <a:ext cx="1696669" cy="320040"/>
          </a:xfrm>
          <a:prstGeom prst="rect">
            <a:avLst/>
          </a:prstGeom>
          <a:noFill/>
          <a:ln/>
        </p:spPr>
        <p:txBody>
          <a:bodyPr wrap="square" lIns="0" tIns="0" rIns="0" bIns="0" rtlCol="0" anchor="t"/>
          <a:lstStyle/>
          <a:p>
            <a:pPr algn="ctr" indent="0" marL="0">
              <a:buNone/>
            </a:pPr>
            <a:r>
              <a:rPr lang="en-US" sz="1400" b="1" dirty="0">
                <a:solidFill>
                  <a:schemeClr val="accent5"/>
                </a:solidFill>
              </a:rPr>
              <a:t>6</a:t>
            </a:r>
            <a:endParaRPr lang="en-US" sz="1400" dirty="0"/>
          </a:p>
        </p:txBody>
      </p:sp>
      <p:sp>
        <p:nvSpPr>
          <p:cNvPr id="38" name="Text 29"/>
          <p:cNvSpPr txBox="1"/>
          <p:nvPr/>
        </p:nvSpPr>
        <p:spPr>
          <a:xfrm>
            <a:off x="9946386" y="3246120"/>
            <a:ext cx="1696669"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Search</a:t>
            </a:r>
            <a:endParaRPr lang="en-US" sz="2200" dirty="0"/>
          </a:p>
        </p:txBody>
      </p:sp>
      <p:sp>
        <p:nvSpPr>
          <p:cNvPr id="39" name="Text 30"/>
          <p:cNvSpPr txBox="1"/>
          <p:nvPr/>
        </p:nvSpPr>
        <p:spPr>
          <a:xfrm>
            <a:off x="10083546" y="3794760"/>
            <a:ext cx="1422349" cy="1463040"/>
          </a:xfrm>
          <a:prstGeom prst="rect">
            <a:avLst/>
          </a:prstGeom>
          <a:noFill/>
          <a:ln/>
        </p:spPr>
        <p:txBody>
          <a:bodyPr wrap="square" lIns="0" tIns="0" rIns="0" bIns="0" rtlCol="0" anchor="t"/>
          <a:lstStyle/>
          <a:p>
            <a:pPr algn="ctr" indent="0" marL="0">
              <a:buNone/>
            </a:pPr>
            <a:r>
              <a:rPr lang="en-US" sz="1500" dirty="0">
                <a:solidFill>
                  <a:schemeClr val="tx1"/>
                </a:solidFill>
              </a:rPr>
              <a:t>By meaning and by words, filtered by what was extracted</a:t>
            </a:r>
            <a:endParaRPr lang="en-US" sz="1500" dirty="0"/>
          </a:p>
        </p:txBody>
      </p:sp>
      <p:sp>
        <p:nvSpPr>
          <p:cNvPr id="40" name="Text 31"/>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800" i="1" dirty="0">
                <a:solidFill>
                  <a:schemeClr val="accent1"/>
                </a:solidFill>
              </a:rPr>
              <a:t>Everything after Freeze is a function of what was frozen, so it can be repeated exactly.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Written down first, then built</a:t>
            </a:r>
            <a:endParaRPr lang="en-US" sz="3600" dirty="0"/>
          </a:p>
        </p:txBody>
      </p:sp>
      <p:sp>
        <p:nvSpPr>
          <p:cNvPr id="4" name="stat specs"/>
          <p:cNvSpPr/>
          <p:nvPr/>
        </p:nvSpPr>
        <p:spPr>
          <a:xfrm>
            <a:off x="548640" y="1737360"/>
            <a:ext cx="2567864" cy="3017520"/>
          </a:xfrm>
          <a:prstGeom prst="roundRect">
            <a:avLst>
              <a:gd name="adj" fmla="val 2849"/>
            </a:avLst>
          </a:prstGeom>
          <a:solidFill>
            <a:schemeClr val="bg2"/>
          </a:solidFill>
          <a:ln/>
        </p:spPr>
      </p:sp>
      <p:sp>
        <p:nvSpPr>
          <p:cNvPr id="5" name="Text 2"/>
          <p:cNvSpPr txBox="1"/>
          <p:nvPr/>
        </p:nvSpPr>
        <p:spPr>
          <a:xfrm>
            <a:off x="548640" y="1965960"/>
            <a:ext cx="2567864" cy="118872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23</a:t>
            </a:r>
            <a:endParaRPr lang="en-US" sz="6600" dirty="0"/>
          </a:p>
        </p:txBody>
      </p:sp>
      <p:sp>
        <p:nvSpPr>
          <p:cNvPr id="6" name="Text 3"/>
          <p:cNvSpPr txBox="1"/>
          <p:nvPr/>
        </p:nvSpPr>
        <p:spPr>
          <a:xfrm>
            <a:off x="548640" y="3200400"/>
            <a:ext cx="2567864" cy="457200"/>
          </a:xfrm>
          <a:prstGeom prst="rect">
            <a:avLst/>
          </a:prstGeom>
          <a:noFill/>
          <a:ln/>
        </p:spPr>
        <p:txBody>
          <a:bodyPr wrap="square" lIns="0" tIns="0" rIns="0" bIns="0" rtlCol="0" anchor="t"/>
          <a:lstStyle/>
          <a:p>
            <a:pPr algn="ctr" indent="0" marL="0">
              <a:buNone/>
            </a:pPr>
            <a:r>
              <a:rPr lang="en-US" sz="2200" b="1" dirty="0">
                <a:solidFill>
                  <a:schemeClr val="tx2"/>
                </a:solidFill>
              </a:rPr>
              <a:t>specs</a:t>
            </a:r>
            <a:endParaRPr lang="en-US" sz="2200" dirty="0"/>
          </a:p>
        </p:txBody>
      </p:sp>
      <p:sp>
        <p:nvSpPr>
          <p:cNvPr id="7" name="Text 4"/>
          <p:cNvSpPr txBox="1"/>
          <p:nvPr/>
        </p:nvSpPr>
        <p:spPr>
          <a:xfrm>
            <a:off x="777240" y="3703320"/>
            <a:ext cx="2110664" cy="822960"/>
          </a:xfrm>
          <a:prstGeom prst="rect">
            <a:avLst/>
          </a:prstGeom>
          <a:noFill/>
          <a:ln/>
        </p:spPr>
        <p:txBody>
          <a:bodyPr wrap="square" lIns="0" tIns="0" rIns="0" bIns="0" rtlCol="0" anchor="t"/>
          <a:lstStyle/>
          <a:p>
            <a:pPr algn="ctr" indent="0" marL="0">
              <a:buNone/>
            </a:pPr>
            <a:r>
              <a:rPr lang="en-US" sz="1500" dirty="0">
                <a:solidFill>
                  <a:schemeClr val="accent5"/>
                </a:solidFill>
              </a:rPr>
              <a:t>in specs/, the source of truth</a:t>
            </a:r>
            <a:endParaRPr lang="en-US" sz="1500" dirty="0"/>
          </a:p>
        </p:txBody>
      </p:sp>
      <p:sp>
        <p:nvSpPr>
          <p:cNvPr id="8" name="stat rules"/>
          <p:cNvSpPr/>
          <p:nvPr/>
        </p:nvSpPr>
        <p:spPr>
          <a:xfrm>
            <a:off x="3390824" y="1737360"/>
            <a:ext cx="2567864" cy="3017520"/>
          </a:xfrm>
          <a:prstGeom prst="roundRect">
            <a:avLst>
              <a:gd name="adj" fmla="val 2849"/>
            </a:avLst>
          </a:prstGeom>
          <a:solidFill>
            <a:schemeClr val="bg2"/>
          </a:solidFill>
          <a:ln/>
        </p:spPr>
      </p:sp>
      <p:sp>
        <p:nvSpPr>
          <p:cNvPr id="9" name="Text 6"/>
          <p:cNvSpPr txBox="1"/>
          <p:nvPr/>
        </p:nvSpPr>
        <p:spPr>
          <a:xfrm>
            <a:off x="3390824" y="1965960"/>
            <a:ext cx="2567864" cy="1188720"/>
          </a:xfrm>
          <a:prstGeom prst="rect">
            <a:avLst/>
          </a:prstGeom>
          <a:noFill/>
          <a:ln/>
        </p:spPr>
        <p:txBody>
          <a:bodyPr wrap="square" lIns="0" tIns="0" rIns="0" bIns="0" rtlCol="0" anchor="ctr"/>
          <a:lstStyle/>
          <a:p>
            <a:pPr algn="ctr" indent="0" marL="0">
              <a:buNone/>
            </a:pPr>
            <a:r>
              <a:rPr lang="en-US" sz="6600" b="1" dirty="0">
                <a:solidFill>
                  <a:schemeClr val="accent2"/>
                </a:solidFill>
                <a:latin typeface="Cambria" pitchFamily="34" charset="0"/>
                <a:ea typeface="Cambria" pitchFamily="34" charset="-122"/>
                <a:cs typeface="Cambria" pitchFamily="34" charset="-120"/>
              </a:rPr>
              <a:t>477</a:t>
            </a:r>
            <a:endParaRPr lang="en-US" sz="6600" dirty="0"/>
          </a:p>
        </p:txBody>
      </p:sp>
      <p:sp>
        <p:nvSpPr>
          <p:cNvPr id="10" name="Text 7"/>
          <p:cNvSpPr txBox="1"/>
          <p:nvPr/>
        </p:nvSpPr>
        <p:spPr>
          <a:xfrm>
            <a:off x="3390824" y="3200400"/>
            <a:ext cx="2567864" cy="457200"/>
          </a:xfrm>
          <a:prstGeom prst="rect">
            <a:avLst/>
          </a:prstGeom>
          <a:noFill/>
          <a:ln/>
        </p:spPr>
        <p:txBody>
          <a:bodyPr wrap="square" lIns="0" tIns="0" rIns="0" bIns="0" rtlCol="0" anchor="t"/>
          <a:lstStyle/>
          <a:p>
            <a:pPr algn="ctr" indent="0" marL="0">
              <a:buNone/>
            </a:pPr>
            <a:r>
              <a:rPr lang="en-US" sz="2200" b="1" dirty="0">
                <a:solidFill>
                  <a:schemeClr val="tx2"/>
                </a:solidFill>
              </a:rPr>
              <a:t>rules</a:t>
            </a:r>
            <a:endParaRPr lang="en-US" sz="2200" dirty="0"/>
          </a:p>
        </p:txBody>
      </p:sp>
      <p:sp>
        <p:nvSpPr>
          <p:cNvPr id="11" name="Text 8"/>
          <p:cNvSpPr txBox="1"/>
          <p:nvPr/>
        </p:nvSpPr>
        <p:spPr>
          <a:xfrm>
            <a:off x="3619424" y="3703320"/>
            <a:ext cx="2110664" cy="822960"/>
          </a:xfrm>
          <a:prstGeom prst="rect">
            <a:avLst/>
          </a:prstGeom>
          <a:noFill/>
          <a:ln/>
        </p:spPr>
        <p:txBody>
          <a:bodyPr wrap="square" lIns="0" tIns="0" rIns="0" bIns="0" rtlCol="0" anchor="t"/>
          <a:lstStyle/>
          <a:p>
            <a:pPr algn="ctr" indent="0" marL="0">
              <a:buNone/>
            </a:pPr>
            <a:r>
              <a:rPr lang="en-US" sz="1500" dirty="0">
                <a:solidFill>
                  <a:schemeClr val="accent5"/>
                </a:solidFill>
              </a:rPr>
              <a:t>each with examples and a counter-example</a:t>
            </a:r>
            <a:endParaRPr lang="en-US" sz="1500" dirty="0"/>
          </a:p>
        </p:txBody>
      </p:sp>
      <p:sp>
        <p:nvSpPr>
          <p:cNvPr id="12" name="stat test files"/>
          <p:cNvSpPr/>
          <p:nvPr/>
        </p:nvSpPr>
        <p:spPr>
          <a:xfrm>
            <a:off x="6233008" y="1737360"/>
            <a:ext cx="2567864" cy="3017520"/>
          </a:xfrm>
          <a:prstGeom prst="roundRect">
            <a:avLst>
              <a:gd name="adj" fmla="val 2849"/>
            </a:avLst>
          </a:prstGeom>
          <a:solidFill>
            <a:schemeClr val="bg2"/>
          </a:solidFill>
          <a:ln/>
        </p:spPr>
      </p:sp>
      <p:sp>
        <p:nvSpPr>
          <p:cNvPr id="13" name="Text 10"/>
          <p:cNvSpPr txBox="1"/>
          <p:nvPr/>
        </p:nvSpPr>
        <p:spPr>
          <a:xfrm>
            <a:off x="6233008" y="1965960"/>
            <a:ext cx="2567864" cy="118872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561</a:t>
            </a:r>
            <a:endParaRPr lang="en-US" sz="6600" dirty="0"/>
          </a:p>
        </p:txBody>
      </p:sp>
      <p:sp>
        <p:nvSpPr>
          <p:cNvPr id="14" name="Text 11"/>
          <p:cNvSpPr txBox="1"/>
          <p:nvPr/>
        </p:nvSpPr>
        <p:spPr>
          <a:xfrm>
            <a:off x="6233008" y="3200400"/>
            <a:ext cx="2567864" cy="457200"/>
          </a:xfrm>
          <a:prstGeom prst="rect">
            <a:avLst/>
          </a:prstGeom>
          <a:noFill/>
          <a:ln/>
        </p:spPr>
        <p:txBody>
          <a:bodyPr wrap="square" lIns="0" tIns="0" rIns="0" bIns="0" rtlCol="0" anchor="t"/>
          <a:lstStyle/>
          <a:p>
            <a:pPr algn="ctr" indent="0" marL="0">
              <a:buNone/>
            </a:pPr>
            <a:r>
              <a:rPr lang="en-US" sz="2200" b="1" dirty="0">
                <a:solidFill>
                  <a:schemeClr val="tx2"/>
                </a:solidFill>
              </a:rPr>
              <a:t>test files</a:t>
            </a:r>
            <a:endParaRPr lang="en-US" sz="2200" dirty="0"/>
          </a:p>
        </p:txBody>
      </p:sp>
      <p:sp>
        <p:nvSpPr>
          <p:cNvPr id="15" name="Text 12"/>
          <p:cNvSpPr txBox="1"/>
          <p:nvPr/>
        </p:nvSpPr>
        <p:spPr>
          <a:xfrm>
            <a:off x="6461608" y="3703320"/>
            <a:ext cx="2110664" cy="822960"/>
          </a:xfrm>
          <a:prstGeom prst="rect">
            <a:avLst/>
          </a:prstGeom>
          <a:noFill/>
          <a:ln/>
        </p:spPr>
        <p:txBody>
          <a:bodyPr wrap="square" lIns="0" tIns="0" rIns="0" bIns="0" rtlCol="0" anchor="t"/>
          <a:lstStyle/>
          <a:p>
            <a:pPr algn="ctr" indent="0" marL="0">
              <a:buNone/>
            </a:pPr>
            <a:r>
              <a:rPr lang="en-US" sz="1500" dirty="0">
                <a:solidFill>
                  <a:schemeClr val="accent5"/>
                </a:solidFill>
              </a:rPr>
              <a:t>each named after the rule it proves</a:t>
            </a:r>
            <a:endParaRPr lang="en-US" sz="1500" dirty="0"/>
          </a:p>
        </p:txBody>
      </p:sp>
      <p:sp>
        <p:nvSpPr>
          <p:cNvPr id="16" name="stat exercises"/>
          <p:cNvSpPr/>
          <p:nvPr/>
        </p:nvSpPr>
        <p:spPr>
          <a:xfrm>
            <a:off x="9075191" y="1737360"/>
            <a:ext cx="2567864" cy="3017520"/>
          </a:xfrm>
          <a:prstGeom prst="roundRect">
            <a:avLst>
              <a:gd name="adj" fmla="val 2849"/>
            </a:avLst>
          </a:prstGeom>
          <a:solidFill>
            <a:schemeClr val="bg2"/>
          </a:solidFill>
          <a:ln/>
        </p:spPr>
      </p:sp>
      <p:sp>
        <p:nvSpPr>
          <p:cNvPr id="17" name="Text 14"/>
          <p:cNvSpPr txBox="1"/>
          <p:nvPr/>
        </p:nvSpPr>
        <p:spPr>
          <a:xfrm>
            <a:off x="9075191" y="1965960"/>
            <a:ext cx="2567864" cy="118872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27</a:t>
            </a:r>
            <a:endParaRPr lang="en-US" sz="6600" dirty="0"/>
          </a:p>
        </p:txBody>
      </p:sp>
      <p:sp>
        <p:nvSpPr>
          <p:cNvPr id="18" name="Text 15"/>
          <p:cNvSpPr txBox="1"/>
          <p:nvPr/>
        </p:nvSpPr>
        <p:spPr>
          <a:xfrm>
            <a:off x="9075191" y="3200400"/>
            <a:ext cx="2567864" cy="457200"/>
          </a:xfrm>
          <a:prstGeom prst="rect">
            <a:avLst/>
          </a:prstGeom>
          <a:noFill/>
          <a:ln/>
        </p:spPr>
        <p:txBody>
          <a:bodyPr wrap="square" lIns="0" tIns="0" rIns="0" bIns="0" rtlCol="0" anchor="t"/>
          <a:lstStyle/>
          <a:p>
            <a:pPr algn="ctr" indent="0" marL="0">
              <a:buNone/>
            </a:pPr>
            <a:r>
              <a:rPr lang="en-US" sz="2200" b="1" dirty="0">
                <a:solidFill>
                  <a:schemeClr val="tx2"/>
                </a:solidFill>
              </a:rPr>
              <a:t>exercises</a:t>
            </a:r>
            <a:endParaRPr lang="en-US" sz="2200" dirty="0"/>
          </a:p>
        </p:txBody>
      </p:sp>
      <p:sp>
        <p:nvSpPr>
          <p:cNvPr id="19" name="Text 16"/>
          <p:cNvSpPr txBox="1"/>
          <p:nvPr/>
        </p:nvSpPr>
        <p:spPr>
          <a:xfrm>
            <a:off x="9303791" y="3703320"/>
            <a:ext cx="2110664" cy="822960"/>
          </a:xfrm>
          <a:prstGeom prst="rect">
            <a:avLst/>
          </a:prstGeom>
          <a:noFill/>
          <a:ln/>
        </p:spPr>
        <p:txBody>
          <a:bodyPr wrap="square" lIns="0" tIns="0" rIns="0" bIns="0" rtlCol="0" anchor="t"/>
          <a:lstStyle/>
          <a:p>
            <a:pPr algn="ctr" indent="0" marL="0">
              <a:buNone/>
            </a:pPr>
            <a:r>
              <a:rPr lang="en-US" sz="1500" dirty="0">
                <a:solidFill>
                  <a:schemeClr val="accent5"/>
                </a:solidFill>
              </a:rPr>
              <a:t>in the playground, most of them offline</a:t>
            </a:r>
            <a:endParaRPr lang="en-US" sz="1500" dirty="0"/>
          </a:p>
        </p:txBody>
      </p:sp>
      <p:sp>
        <p:nvSpPr>
          <p:cNvPr id="20" name="Text 17"/>
          <p:cNvSpPr txBox="1"/>
          <p:nvPr/>
        </p:nvSpPr>
        <p:spPr>
          <a:xfrm>
            <a:off x="548640" y="5166360"/>
            <a:ext cx="11094415" cy="411480"/>
          </a:xfrm>
          <a:prstGeom prst="rect">
            <a:avLst/>
          </a:prstGeom>
          <a:noFill/>
          <a:ln/>
        </p:spPr>
        <p:txBody>
          <a:bodyPr wrap="square" lIns="0" tIns="0" rIns="0" bIns="0" rtlCol="0" anchor="t"/>
          <a:lstStyle/>
          <a:p>
            <a:pPr indent="0" marL="0">
              <a:buNone/>
            </a:pPr>
            <a:r>
              <a:rPr lang="en-US" sz="1800" i="1" dirty="0">
                <a:solidFill>
                  <a:schemeClr val="accent1"/>
                </a:solidFill>
              </a:rPr>
              <a:t>Each rule names the test that proves it. Each test is claimed by a rule. The build checks both.</a:t>
            </a:r>
            <a:endParaRPr lang="en-US" sz="1800" dirty="0"/>
          </a:p>
        </p:txBody>
      </p:sp>
      <p:sp>
        <p:nvSpPr>
          <p:cNvPr id="21" name="Text 18"/>
          <p:cNvSpPr txBox="1"/>
          <p:nvPr/>
        </p:nvSpPr>
        <p:spPr>
          <a:xfrm>
            <a:off x="548640" y="566928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Counted from specs/, tests/ and playground/ on 2026-10-15</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828800" cy="128016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1</a:t>
            </a:r>
            <a:endParaRPr lang="en-US" sz="9600" dirty="0"/>
          </a:p>
        </p:txBody>
      </p:sp>
      <p:sp>
        <p:nvSpPr>
          <p:cNvPr id="3" name="Text 0"/>
          <p:cNvSpPr/>
          <p:nvPr>
            <p:ph idx="101" type="title" hasCustomPrompt="1"/>
          </p:nvPr>
        </p:nvSpPr>
        <p:spPr>
          <a:xfrm>
            <a:off x="548640" y="3200400"/>
            <a:ext cx="11094415"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How it is built</a:t>
            </a:r>
            <a:endParaRPr lang="en-US" sz="4400" dirty="0"/>
          </a:p>
        </p:txBody>
      </p:sp>
      <p:sp>
        <p:nvSpPr>
          <p:cNvPr id="4" name="Text 0"/>
          <p:cNvSpPr/>
          <p:nvPr>
            <p:ph idx="102" type="body" hasCustomPrompt="1"/>
          </p:nvPr>
        </p:nvSpPr>
        <p:spPr>
          <a:xfrm>
            <a:off x="548640" y="4206240"/>
            <a:ext cx="9601200" cy="914400"/>
          </a:xfrm>
          <a:prstGeom prst="rect">
            <a:avLst/>
          </a:prstGeom>
          <a:noFill/>
          <a:ln/>
        </p:spPr>
        <p:txBody>
          <a:bodyPr wrap="square" lIns="0" tIns="0" rIns="0" bIns="0" rtlCol="0" anchor="t"/>
          <a:lstStyle/>
          <a:p>
            <a:pPr indent="0" marL="0">
              <a:buNone/>
            </a:pPr>
            <a:r>
              <a:rPr lang="en-US" sz="2200" dirty="0">
                <a:solidFill>
                  <a:schemeClr val="accent6"/>
                </a:solidFill>
              </a:rPr>
              <a:t>Two loops for writing it, and two boundaries for keeping it honest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spec is the source of truth</a:t>
            </a:r>
            <a:endParaRPr lang="en-US" sz="3600" dirty="0"/>
          </a:p>
        </p:txBody>
      </p:sp>
      <p:sp>
        <p:nvSpPr>
          <p:cNvPr id="4" name="rule card"/>
          <p:cNvSpPr/>
          <p:nvPr/>
        </p:nvSpPr>
        <p:spPr>
          <a:xfrm>
            <a:off x="548640" y="1554480"/>
            <a:ext cx="5669280" cy="3429000"/>
          </a:xfrm>
          <a:prstGeom prst="roundRect">
            <a:avLst>
              <a:gd name="adj" fmla="val 2133"/>
            </a:avLst>
          </a:prstGeom>
          <a:solidFill>
            <a:schemeClr val="tx2"/>
          </a:solidFill>
          <a:ln/>
        </p:spPr>
      </p:sp>
      <p:sp>
        <p:nvSpPr>
          <p:cNvPr id="5" name="Text 2"/>
          <p:cNvSpPr txBox="1"/>
          <p:nvPr/>
        </p:nvSpPr>
        <p:spPr>
          <a:xfrm>
            <a:off x="822960" y="1737360"/>
            <a:ext cx="5120640" cy="274320"/>
          </a:xfrm>
          <a:prstGeom prst="rect">
            <a:avLst/>
          </a:prstGeom>
          <a:noFill/>
          <a:ln/>
        </p:spPr>
        <p:txBody>
          <a:bodyPr wrap="square" lIns="0" tIns="0" rIns="0" bIns="0" rtlCol="0" anchor="t"/>
          <a:lstStyle/>
          <a:p>
            <a:pPr indent="0" marL="0">
              <a:buNone/>
            </a:pPr>
            <a:r>
              <a:rPr lang="en-US" sz="1200" dirty="0">
                <a:solidFill>
                  <a:schemeClr val="accent6"/>
                </a:solidFill>
                <a:latin typeface="Consolas" pitchFamily="34" charset="0"/>
                <a:ea typeface="Consolas" pitchFamily="34" charset="-122"/>
                <a:cs typeface="Consolas" pitchFamily="34" charset="-120"/>
              </a:rPr>
              <a:t>specs/004-step-resolution.md</a:t>
            </a:r>
            <a:endParaRPr lang="en-US" sz="1200" dirty="0"/>
          </a:p>
        </p:txBody>
      </p:sp>
      <p:sp>
        <p:nvSpPr>
          <p:cNvPr id="6" name="Text 3"/>
          <p:cNvSpPr txBox="1"/>
          <p:nvPr/>
        </p:nvSpPr>
        <p:spPr>
          <a:xfrm>
            <a:off x="822960" y="2103120"/>
            <a:ext cx="5120640" cy="914400"/>
          </a:xfrm>
          <a:prstGeom prst="rect">
            <a:avLst/>
          </a:prstGeom>
          <a:noFill/>
          <a:ln/>
        </p:spPr>
        <p:txBody>
          <a:bodyPr wrap="square" lIns="0" tIns="0" rIns="0" bIns="0" rtlCol="0" anchor="t"/>
          <a:lstStyle/>
          <a:p>
            <a:pPr indent="0" marL="0">
              <a:buNone/>
            </a:pPr>
            <a:r>
              <a:rPr lang="en-US" sz="1700" b="1" dirty="0">
                <a:solidFill>
                  <a:schemeClr val="bg1"/>
                </a:solidFill>
              </a:rPr>
              <a:t>R4.34 — a command looking for a past run passes over one whose failures.json it cannot read, and names it</a:t>
            </a:r>
            <a:endParaRPr lang="en-US" sz="1700" dirty="0"/>
          </a:p>
        </p:txBody>
      </p:sp>
      <p:sp>
        <p:nvSpPr>
          <p:cNvPr id="7" name="Text 4"/>
          <p:cNvSpPr txBox="1"/>
          <p:nvPr/>
        </p:nvSpPr>
        <p:spPr>
          <a:xfrm>
            <a:off x="822960" y="3154680"/>
            <a:ext cx="5120640" cy="365760"/>
          </a:xfrm>
          <a:prstGeom prst="rect">
            <a:avLst/>
          </a:prstGeom>
          <a:noFill/>
          <a:ln/>
        </p:spPr>
        <p:txBody>
          <a:bodyPr wrap="square" lIns="0" tIns="0" rIns="0" bIns="0" rtlCol="0" anchor="t"/>
          <a:lstStyle/>
          <a:p>
            <a:pPr indent="0" marL="0">
              <a:buNone/>
            </a:pPr>
            <a:r>
              <a:rPr lang="en-US" sz="1500" b="1" dirty="0">
                <a:solidFill>
                  <a:srgbClr val="D99A3D"/>
                </a:solidFill>
              </a:rPr>
              <a:t>Kind  </a:t>
            </a:r>
            <a:pPr indent="0" marL="0">
              <a:buNone/>
            </a:pPr>
            <a:r>
              <a:rPr lang="en-US" sz="1500" dirty="0">
                <a:solidFill>
                  <a:srgbClr val="FFFFFF"/>
                </a:solidFill>
              </a:rPr>
              <a:t>deterministic</a:t>
            </a:r>
            <a:endParaRPr lang="en-US" sz="1500" dirty="0"/>
          </a:p>
        </p:txBody>
      </p:sp>
      <p:sp>
        <p:nvSpPr>
          <p:cNvPr id="8" name="Text 5"/>
          <p:cNvSpPr txBox="1"/>
          <p:nvPr/>
        </p:nvSpPr>
        <p:spPr>
          <a:xfrm>
            <a:off x="822960" y="3566160"/>
            <a:ext cx="5120640" cy="365760"/>
          </a:xfrm>
          <a:prstGeom prst="rect">
            <a:avLst/>
          </a:prstGeom>
          <a:noFill/>
          <a:ln/>
        </p:spPr>
        <p:txBody>
          <a:bodyPr wrap="square" lIns="0" tIns="0" rIns="0" bIns="0" rtlCol="0" anchor="t"/>
          <a:lstStyle/>
          <a:p>
            <a:pPr indent="0" marL="0">
              <a:buNone/>
            </a:pPr>
            <a:r>
              <a:rPr lang="en-US" sz="1500" b="1" dirty="0">
                <a:solidFill>
                  <a:srgbClr val="D99A3D"/>
                </a:solidFill>
              </a:rPr>
              <a:t>Layer  </a:t>
            </a:r>
            <a:pPr indent="0" marL="0">
              <a:buNone/>
            </a:pPr>
            <a:r>
              <a:rPr lang="en-US" sz="1500" dirty="0">
                <a:solidFill>
                  <a:srgbClr val="FFFFFF"/>
                </a:solidFill>
              </a:rPr>
              <a:t>application, domain, cli</a:t>
            </a:r>
            <a:endParaRPr lang="en-US" sz="1500" dirty="0"/>
          </a:p>
        </p:txBody>
      </p:sp>
      <p:sp>
        <p:nvSpPr>
          <p:cNvPr id="9" name="Text 6"/>
          <p:cNvSpPr txBox="1"/>
          <p:nvPr/>
        </p:nvSpPr>
        <p:spPr>
          <a:xfrm>
            <a:off x="822960" y="3977640"/>
            <a:ext cx="5120640" cy="365760"/>
          </a:xfrm>
          <a:prstGeom prst="rect">
            <a:avLst/>
          </a:prstGeom>
          <a:noFill/>
          <a:ln/>
        </p:spPr>
        <p:txBody>
          <a:bodyPr wrap="square" lIns="0" tIns="0" rIns="0" bIns="0" rtlCol="0" anchor="t"/>
          <a:lstStyle/>
          <a:p>
            <a:pPr indent="0" marL="0">
              <a:buNone/>
            </a:pPr>
            <a:r>
              <a:rPr lang="en-US" sz="1500" b="1" dirty="0">
                <a:solidFill>
                  <a:srgbClr val="D99A3D"/>
                </a:solidFill>
              </a:rPr>
              <a:t>Proved by  </a:t>
            </a:r>
            <a:pPr indent="0" marL="0">
              <a:buNone/>
            </a:pPr>
            <a:r>
              <a:rPr lang="en-US" sz="1500" dirty="0">
                <a:solidFill>
                  <a:srgbClr val="FFFFFF"/>
                </a:solidFill>
              </a:rPr>
              <a:t>tests/acceptance/test_R004_34__…</a:t>
            </a:r>
            <a:endParaRPr lang="en-US" sz="1500" dirty="0"/>
          </a:p>
        </p:txBody>
      </p:sp>
      <p:sp>
        <p:nvSpPr>
          <p:cNvPr id="10" name="Text 7"/>
          <p:cNvSpPr txBox="1"/>
          <p:nvPr/>
        </p:nvSpPr>
        <p:spPr>
          <a:xfrm>
            <a:off x="822960" y="4389120"/>
            <a:ext cx="5120640" cy="365760"/>
          </a:xfrm>
          <a:prstGeom prst="rect">
            <a:avLst/>
          </a:prstGeom>
          <a:noFill/>
          <a:ln/>
        </p:spPr>
        <p:txBody>
          <a:bodyPr wrap="square" lIns="0" tIns="0" rIns="0" bIns="0" rtlCol="0" anchor="t"/>
          <a:lstStyle/>
          <a:p>
            <a:pPr indent="0" marL="0">
              <a:buNone/>
            </a:pPr>
            <a:r>
              <a:rPr lang="en-US" sz="1500" b="1" dirty="0">
                <a:solidFill>
                  <a:srgbClr val="D99A3D"/>
                </a:solidFill>
              </a:rPr>
              <a:t>Status  </a:t>
            </a:r>
            <a:pPr indent="0" marL="0">
              <a:buNone/>
            </a:pPr>
            <a:r>
              <a:rPr lang="en-US" sz="1500" dirty="0">
                <a:solidFill>
                  <a:srgbClr val="FFFFFF"/>
                </a:solidFill>
              </a:rPr>
              <a:t>MET</a:t>
            </a:r>
            <a:endParaRPr lang="en-US" sz="1500" dirty="0"/>
          </a:p>
        </p:txBody>
      </p:sp>
      <p:sp>
        <p:nvSpPr>
          <p:cNvPr id="11" name="Shape 8"/>
          <p:cNvSpPr/>
          <p:nvPr/>
        </p:nvSpPr>
        <p:spPr>
          <a:xfrm>
            <a:off x="6309360" y="3246120"/>
            <a:ext cx="640080" cy="0"/>
          </a:xfrm>
          <a:prstGeom prst="line">
            <a:avLst/>
          </a:prstGeom>
          <a:noFill/>
          <a:ln w="25400">
            <a:solidFill>
              <a:schemeClr val="accent5"/>
            </a:solidFill>
            <a:prstDash val="solid"/>
            <a:tailEnd type="triangle"/>
          </a:ln>
        </p:spPr>
      </p:sp>
      <p:sp>
        <p:nvSpPr>
          <p:cNvPr id="12" name="test card"/>
          <p:cNvSpPr/>
          <p:nvPr/>
        </p:nvSpPr>
        <p:spPr>
          <a:xfrm>
            <a:off x="7040880" y="1554480"/>
            <a:ext cx="4572000" cy="1554480"/>
          </a:xfrm>
          <a:prstGeom prst="roundRect">
            <a:avLst>
              <a:gd name="adj" fmla="val 4706"/>
            </a:avLst>
          </a:prstGeom>
          <a:solidFill>
            <a:schemeClr val="bg2"/>
          </a:solidFill>
          <a:ln/>
        </p:spPr>
      </p:sp>
      <p:sp>
        <p:nvSpPr>
          <p:cNvPr id="13" name="test badge"/>
          <p:cNvSpPr/>
          <p:nvPr/>
        </p:nvSpPr>
        <p:spPr>
          <a:xfrm>
            <a:off x="7269480" y="1783080"/>
            <a:ext cx="640080" cy="640080"/>
          </a:xfrm>
          <a:prstGeom prst="ellipse">
            <a:avLst/>
          </a:prstGeom>
          <a:solidFill>
            <a:schemeClr val="accent1"/>
          </a:solidFill>
          <a:ln/>
        </p:spPr>
      </p:sp>
      <p:pic>
        <p:nvPicPr>
          <p:cNvPr id="14" name="test icon" descr="preencoded.png">    </p:cNvPr>
          <p:cNvPicPr>
            <a:picLocks noChangeAspect="1"/>
          </p:cNvPicPr>
          <p:nvPr/>
        </p:nvPicPr>
        <p:blipFill>
          <a:blip r:embed="rId1"/>
          <a:stretch>
            <a:fillRect/>
          </a:stretch>
        </p:blipFill>
        <p:spPr>
          <a:xfrm>
            <a:off x="7429500" y="1943100"/>
            <a:ext cx="320040" cy="320040"/>
          </a:xfrm>
          <a:prstGeom prst="rect">
            <a:avLst/>
          </a:prstGeom>
        </p:spPr>
      </p:pic>
      <p:sp>
        <p:nvSpPr>
          <p:cNvPr id="15" name="Text 11"/>
          <p:cNvSpPr txBox="1"/>
          <p:nvPr/>
        </p:nvSpPr>
        <p:spPr>
          <a:xfrm>
            <a:off x="8092440" y="1783080"/>
            <a:ext cx="3383280" cy="365760"/>
          </a:xfrm>
          <a:prstGeom prst="rect">
            <a:avLst/>
          </a:prstGeom>
          <a:noFill/>
          <a:ln/>
        </p:spPr>
        <p:txBody>
          <a:bodyPr wrap="square" lIns="0" tIns="0" rIns="0" bIns="0" rtlCol="0" anchor="t"/>
          <a:lstStyle/>
          <a:p>
            <a:pPr indent="0" marL="0">
              <a:buNone/>
            </a:pPr>
            <a:r>
              <a:rPr lang="en-US" sz="1800" b="1" dirty="0">
                <a:solidFill>
                  <a:schemeClr val="tx2"/>
                </a:solidFill>
              </a:rPr>
              <a:t>The test</a:t>
            </a:r>
            <a:endParaRPr lang="en-US" sz="1800" dirty="0"/>
          </a:p>
        </p:txBody>
      </p:sp>
      <p:sp>
        <p:nvSpPr>
          <p:cNvPr id="16" name="Text 12"/>
          <p:cNvSpPr txBox="1"/>
          <p:nvPr/>
        </p:nvSpPr>
        <p:spPr>
          <a:xfrm>
            <a:off x="8092440" y="2194560"/>
            <a:ext cx="3383280" cy="822960"/>
          </a:xfrm>
          <a:prstGeom prst="rect">
            <a:avLst/>
          </a:prstGeom>
          <a:noFill/>
          <a:ln/>
        </p:spPr>
        <p:txBody>
          <a:bodyPr wrap="square" lIns="0" tIns="0" rIns="0" bIns="0" rtlCol="0" anchor="t"/>
          <a:lstStyle/>
          <a:p>
            <a:pPr indent="0" marL="0">
              <a:buNone/>
            </a:pPr>
            <a:r>
              <a:rPr lang="en-US" sz="1300" dirty="0">
                <a:solidFill>
                  <a:schemeClr val="tx1"/>
                </a:solidFill>
                <a:latin typeface="Consolas" pitchFamily="34" charset="0"/>
                <a:ea typeface="Consolas" pitchFamily="34" charset="-122"/>
                <a:cs typeface="Consolas" pitchFamily="34" charset="-120"/>
              </a:rPr>
              <a:t>test_R004_34__an_unreadable_</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failures_file_is_passed_over_</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and_named.py</a:t>
            </a:r>
            <a:endParaRPr lang="en-US" sz="1300" dirty="0"/>
          </a:p>
        </p:txBody>
      </p:sp>
      <p:sp>
        <p:nvSpPr>
          <p:cNvPr id="17" name="code card"/>
          <p:cNvSpPr/>
          <p:nvPr/>
        </p:nvSpPr>
        <p:spPr>
          <a:xfrm>
            <a:off x="7040880" y="3429000"/>
            <a:ext cx="4572000" cy="1554480"/>
          </a:xfrm>
          <a:prstGeom prst="roundRect">
            <a:avLst>
              <a:gd name="adj" fmla="val 4706"/>
            </a:avLst>
          </a:prstGeom>
          <a:solidFill>
            <a:schemeClr val="bg2"/>
          </a:solidFill>
          <a:ln/>
        </p:spPr>
      </p:sp>
      <p:sp>
        <p:nvSpPr>
          <p:cNvPr id="18" name="code badge"/>
          <p:cNvSpPr/>
          <p:nvPr/>
        </p:nvSpPr>
        <p:spPr>
          <a:xfrm>
            <a:off x="7269480" y="3657600"/>
            <a:ext cx="640080" cy="640080"/>
          </a:xfrm>
          <a:prstGeom prst="ellipse">
            <a:avLst/>
          </a:prstGeom>
          <a:solidFill>
            <a:schemeClr val="accent1"/>
          </a:solidFill>
          <a:ln/>
        </p:spPr>
      </p:sp>
      <p:pic>
        <p:nvPicPr>
          <p:cNvPr id="19" name="code icon" descr="preencoded.png">    </p:cNvPr>
          <p:cNvPicPr>
            <a:picLocks noChangeAspect="1"/>
          </p:cNvPicPr>
          <p:nvPr/>
        </p:nvPicPr>
        <p:blipFill>
          <a:blip r:embed="rId2"/>
          <a:stretch>
            <a:fillRect/>
          </a:stretch>
        </p:blipFill>
        <p:spPr>
          <a:xfrm>
            <a:off x="7429500" y="3817620"/>
            <a:ext cx="320040" cy="320040"/>
          </a:xfrm>
          <a:prstGeom prst="rect">
            <a:avLst/>
          </a:prstGeom>
        </p:spPr>
      </p:pic>
      <p:sp>
        <p:nvSpPr>
          <p:cNvPr id="20" name="Text 15"/>
          <p:cNvSpPr txBox="1"/>
          <p:nvPr/>
        </p:nvSpPr>
        <p:spPr>
          <a:xfrm>
            <a:off x="8092440" y="3657600"/>
            <a:ext cx="3383280" cy="365760"/>
          </a:xfrm>
          <a:prstGeom prst="rect">
            <a:avLst/>
          </a:prstGeom>
          <a:noFill/>
          <a:ln/>
        </p:spPr>
        <p:txBody>
          <a:bodyPr wrap="square" lIns="0" tIns="0" rIns="0" bIns="0" rtlCol="0" anchor="t"/>
          <a:lstStyle/>
          <a:p>
            <a:pPr indent="0" marL="0">
              <a:buNone/>
            </a:pPr>
            <a:r>
              <a:rPr lang="en-US" sz="1800" b="1" dirty="0">
                <a:solidFill>
                  <a:schemeClr val="tx2"/>
                </a:solidFill>
              </a:rPr>
              <a:t>The code</a:t>
            </a:r>
            <a:endParaRPr lang="en-US" sz="1800" dirty="0"/>
          </a:p>
        </p:txBody>
      </p:sp>
      <p:sp>
        <p:nvSpPr>
          <p:cNvPr id="21" name="Text 16"/>
          <p:cNvSpPr txBox="1"/>
          <p:nvPr/>
        </p:nvSpPr>
        <p:spPr>
          <a:xfrm>
            <a:off x="8092440" y="4069080"/>
            <a:ext cx="3383280" cy="822960"/>
          </a:xfrm>
          <a:prstGeom prst="rect">
            <a:avLst/>
          </a:prstGeom>
          <a:noFill/>
          <a:ln/>
        </p:spPr>
        <p:txBody>
          <a:bodyPr wrap="square" lIns="0" tIns="0" rIns="0" bIns="0" rtlCol="0" anchor="t"/>
          <a:lstStyle/>
          <a:p>
            <a:pPr indent="0" marL="0">
              <a:buNone/>
            </a:pPr>
            <a:r>
              <a:rPr lang="en-US" sz="1500" dirty="0">
                <a:solidFill>
                  <a:schemeClr val="tx1"/>
                </a:solidFill>
              </a:rPr>
              <a:t>Follows the spec. Behaviour no rule claims is not built.</a:t>
            </a:r>
            <a:endParaRPr lang="en-US" sz="1500" dirty="0"/>
          </a:p>
        </p:txBody>
      </p:sp>
      <p:sp>
        <p:nvSpPr>
          <p:cNvPr id="22" name="Shape 17"/>
          <p:cNvSpPr/>
          <p:nvPr/>
        </p:nvSpPr>
        <p:spPr>
          <a:xfrm>
            <a:off x="9326880" y="3108960"/>
            <a:ext cx="0" cy="320040"/>
          </a:xfrm>
          <a:prstGeom prst="line">
            <a:avLst/>
          </a:prstGeom>
          <a:noFill/>
          <a:ln w="25400">
            <a:solidFill>
              <a:schemeClr val="accent5"/>
            </a:solidFill>
            <a:prstDash val="solid"/>
            <a:tailEnd type="triangle"/>
          </a:ln>
        </p:spPr>
      </p:sp>
      <p:sp>
        <p:nvSpPr>
          <p:cNvPr id="23" name="Rule ids never move badge"/>
          <p:cNvSpPr/>
          <p:nvPr/>
        </p:nvSpPr>
        <p:spPr>
          <a:xfrm>
            <a:off x="548640" y="5303520"/>
            <a:ext cx="548640" cy="548640"/>
          </a:xfrm>
          <a:prstGeom prst="ellipse">
            <a:avLst/>
          </a:prstGeom>
          <a:solidFill>
            <a:schemeClr val="accent2"/>
          </a:solidFill>
          <a:ln/>
        </p:spPr>
      </p:sp>
      <p:pic>
        <p:nvPicPr>
          <p:cNvPr id="24" name="Rule ids never move icon" descr="preencoded.png">    </p:cNvPr>
          <p:cNvPicPr>
            <a:picLocks noChangeAspect="1"/>
          </p:cNvPicPr>
          <p:nvPr/>
        </p:nvPicPr>
        <p:blipFill>
          <a:blip r:embed="rId3"/>
          <a:stretch>
            <a:fillRect/>
          </a:stretch>
        </p:blipFill>
        <p:spPr>
          <a:xfrm>
            <a:off x="685800" y="5440680"/>
            <a:ext cx="274320" cy="274320"/>
          </a:xfrm>
          <a:prstGeom prst="rect">
            <a:avLst/>
          </a:prstGeom>
        </p:spPr>
      </p:pic>
      <p:sp>
        <p:nvSpPr>
          <p:cNvPr id="25" name="Text 19"/>
          <p:cNvSpPr txBox="1"/>
          <p:nvPr/>
        </p:nvSpPr>
        <p:spPr>
          <a:xfrm>
            <a:off x="1280160" y="5257800"/>
            <a:ext cx="4663440" cy="320040"/>
          </a:xfrm>
          <a:prstGeom prst="rect">
            <a:avLst/>
          </a:prstGeom>
          <a:noFill/>
          <a:ln/>
        </p:spPr>
        <p:txBody>
          <a:bodyPr wrap="square" lIns="0" tIns="0" rIns="0" bIns="0" rtlCol="0" anchor="t"/>
          <a:lstStyle/>
          <a:p>
            <a:pPr indent="0" marL="0">
              <a:buNone/>
            </a:pPr>
            <a:r>
              <a:rPr lang="en-US" sz="1700" b="1" dirty="0">
                <a:solidFill>
                  <a:schemeClr val="tx2"/>
                </a:solidFill>
              </a:rPr>
              <a:t>Rule ids never move</a:t>
            </a:r>
            <a:endParaRPr lang="en-US" sz="1700" dirty="0"/>
          </a:p>
        </p:txBody>
      </p:sp>
      <p:sp>
        <p:nvSpPr>
          <p:cNvPr id="26" name="Text 20"/>
          <p:cNvSpPr txBox="1"/>
          <p:nvPr/>
        </p:nvSpPr>
        <p:spPr>
          <a:xfrm>
            <a:off x="1280160" y="5577840"/>
            <a:ext cx="4663440" cy="548640"/>
          </a:xfrm>
          <a:prstGeom prst="rect">
            <a:avLst/>
          </a:prstGeom>
          <a:noFill/>
          <a:ln/>
        </p:spPr>
        <p:txBody>
          <a:bodyPr wrap="square" lIns="0" tIns="0" rIns="0" bIns="0" rtlCol="0" anchor="t"/>
          <a:lstStyle/>
          <a:p>
            <a:pPr indent="0" marL="0">
              <a:buNone/>
            </a:pPr>
            <a:r>
              <a:rPr lang="en-US" sz="1400" dirty="0">
                <a:solidFill>
                  <a:schemeClr val="accent5"/>
                </a:solidFill>
              </a:rPr>
              <a:t>A rule that stops being true is superseded, and names its replacement</a:t>
            </a:r>
            <a:endParaRPr lang="en-US" sz="1400" dirty="0"/>
          </a:p>
        </p:txBody>
      </p:sp>
      <p:sp>
        <p:nvSpPr>
          <p:cNvPr id="27" name="Silence is not an option badge"/>
          <p:cNvSpPr/>
          <p:nvPr/>
        </p:nvSpPr>
        <p:spPr>
          <a:xfrm>
            <a:off x="6172200" y="5303520"/>
            <a:ext cx="548640" cy="548640"/>
          </a:xfrm>
          <a:prstGeom prst="ellipse">
            <a:avLst/>
          </a:prstGeom>
          <a:solidFill>
            <a:schemeClr val="accent2"/>
          </a:solidFill>
          <a:ln/>
        </p:spPr>
      </p:sp>
      <p:pic>
        <p:nvPicPr>
          <p:cNvPr id="28" name="Silence is not an option icon" descr="preencoded.png">    </p:cNvPr>
          <p:cNvPicPr>
            <a:picLocks noChangeAspect="1"/>
          </p:cNvPicPr>
          <p:nvPr/>
        </p:nvPicPr>
        <p:blipFill>
          <a:blip r:embed="rId4"/>
          <a:stretch>
            <a:fillRect/>
          </a:stretch>
        </p:blipFill>
        <p:spPr>
          <a:xfrm>
            <a:off x="6309360" y="5440680"/>
            <a:ext cx="274320" cy="274320"/>
          </a:xfrm>
          <a:prstGeom prst="rect">
            <a:avLst/>
          </a:prstGeom>
        </p:spPr>
      </p:pic>
      <p:sp>
        <p:nvSpPr>
          <p:cNvPr id="29" name="Text 22"/>
          <p:cNvSpPr txBox="1"/>
          <p:nvPr/>
        </p:nvSpPr>
        <p:spPr>
          <a:xfrm>
            <a:off x="6903720" y="5257800"/>
            <a:ext cx="4663440" cy="320040"/>
          </a:xfrm>
          <a:prstGeom prst="rect">
            <a:avLst/>
          </a:prstGeom>
          <a:noFill/>
          <a:ln/>
        </p:spPr>
        <p:txBody>
          <a:bodyPr wrap="square" lIns="0" tIns="0" rIns="0" bIns="0" rtlCol="0" anchor="t"/>
          <a:lstStyle/>
          <a:p>
            <a:pPr indent="0" marL="0">
              <a:buNone/>
            </a:pPr>
            <a:r>
              <a:rPr lang="en-US" sz="1700" b="1" dirty="0">
                <a:solidFill>
                  <a:schemeClr val="tx2"/>
                </a:solidFill>
              </a:rPr>
              <a:t>Silence is not an option</a:t>
            </a:r>
            <a:endParaRPr lang="en-US" sz="1700" dirty="0"/>
          </a:p>
        </p:txBody>
      </p:sp>
      <p:sp>
        <p:nvSpPr>
          <p:cNvPr id="30" name="Text 23"/>
          <p:cNvSpPr txBox="1"/>
          <p:nvPr/>
        </p:nvSpPr>
        <p:spPr>
          <a:xfrm>
            <a:off x="6903720" y="5577840"/>
            <a:ext cx="4663440" cy="548640"/>
          </a:xfrm>
          <a:prstGeom prst="rect">
            <a:avLst/>
          </a:prstGeom>
          <a:noFill/>
          <a:ln/>
        </p:spPr>
        <p:txBody>
          <a:bodyPr wrap="square" lIns="0" tIns="0" rIns="0" bIns="0" rtlCol="0" anchor="t"/>
          <a:lstStyle/>
          <a:p>
            <a:pPr indent="0" marL="0">
              <a:buNone/>
            </a:pPr>
            <a:r>
              <a:rPr lang="en-US" sz="1400" dirty="0">
                <a:solidFill>
                  <a:schemeClr val="accent5"/>
                </a:solidFill>
              </a:rPr>
              <a:t>A rule not built yet says NOT MET, and needs no test until it is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Two loops, one slice at a time</a:t>
            </a:r>
            <a:endParaRPr lang="en-US" sz="3600" dirty="0"/>
          </a:p>
        </p:txBody>
      </p:sp>
      <p:sp>
        <p:nvSpPr>
          <p:cNvPr id="4" name="discover"/>
          <p:cNvSpPr/>
          <p:nvPr/>
        </p:nvSpPr>
        <p:spPr>
          <a:xfrm>
            <a:off x="548640" y="2331720"/>
            <a:ext cx="2103120" cy="1645920"/>
          </a:xfrm>
          <a:prstGeom prst="roundRect">
            <a:avLst>
              <a:gd name="adj" fmla="val 4444"/>
            </a:avLst>
          </a:prstGeom>
          <a:solidFill>
            <a:schemeClr val="bg2"/>
          </a:solidFill>
          <a:ln/>
        </p:spPr>
      </p:sp>
      <p:sp>
        <p:nvSpPr>
          <p:cNvPr id="5" name="Text 2"/>
          <p:cNvSpPr txBox="1"/>
          <p:nvPr/>
        </p:nvSpPr>
        <p:spPr>
          <a:xfrm>
            <a:off x="548640" y="2514600"/>
            <a:ext cx="2103120"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nsolas" pitchFamily="34" charset="0"/>
                <a:ea typeface="Consolas" pitchFamily="34" charset="-122"/>
                <a:cs typeface="Consolas" pitchFamily="34" charset="-120"/>
              </a:rPr>
              <a:t>/discover</a:t>
            </a:r>
            <a:endParaRPr lang="en-US" sz="2000" dirty="0"/>
          </a:p>
        </p:txBody>
      </p:sp>
      <p:sp>
        <p:nvSpPr>
          <p:cNvPr id="6" name="Text 3"/>
          <p:cNvSpPr txBox="1"/>
          <p:nvPr/>
        </p:nvSpPr>
        <p:spPr>
          <a:xfrm>
            <a:off x="685800" y="3017520"/>
            <a:ext cx="1828800" cy="731520"/>
          </a:xfrm>
          <a:prstGeom prst="rect">
            <a:avLst/>
          </a:prstGeom>
          <a:noFill/>
          <a:ln/>
        </p:spPr>
        <p:txBody>
          <a:bodyPr wrap="square" lIns="0" tIns="0" rIns="0" bIns="0" rtlCol="0" anchor="t"/>
          <a:lstStyle/>
          <a:p>
            <a:pPr algn="ctr" indent="0" marL="0">
              <a:buNone/>
            </a:pPr>
            <a:r>
              <a:rPr lang="en-US" sz="1500" dirty="0">
                <a:solidFill>
                  <a:schemeClr val="tx1"/>
                </a:solidFill>
              </a:rPr>
              <a:t>a request becomes rules</a:t>
            </a:r>
            <a:endParaRPr lang="en-US" sz="1500" dirty="0"/>
          </a:p>
        </p:txBody>
      </p:sp>
      <p:sp>
        <p:nvSpPr>
          <p:cNvPr id="7" name="Shape 4"/>
          <p:cNvSpPr/>
          <p:nvPr/>
        </p:nvSpPr>
        <p:spPr>
          <a:xfrm>
            <a:off x="2697480" y="3154680"/>
            <a:ext cx="457200" cy="0"/>
          </a:xfrm>
          <a:prstGeom prst="line">
            <a:avLst/>
          </a:prstGeom>
          <a:noFill/>
          <a:ln w="25400">
            <a:solidFill>
              <a:schemeClr val="accent5"/>
            </a:solidFill>
            <a:prstDash val="solid"/>
            <a:tailEnd type="triangle"/>
          </a:ln>
        </p:spPr>
      </p:sp>
      <p:sp>
        <p:nvSpPr>
          <p:cNvPr id="8" name="outer loop"/>
          <p:cNvSpPr/>
          <p:nvPr/>
        </p:nvSpPr>
        <p:spPr>
          <a:xfrm>
            <a:off x="3200400" y="1828800"/>
            <a:ext cx="6217920" cy="2651760"/>
          </a:xfrm>
          <a:prstGeom prst="roundRect">
            <a:avLst>
              <a:gd name="adj" fmla="val 2759"/>
            </a:avLst>
          </a:prstGeom>
          <a:solidFill>
            <a:schemeClr val="bg1"/>
          </a:solidFill>
          <a:ln w="15875">
            <a:solidFill>
              <a:srgbClr val="1F6F78"/>
            </a:solidFill>
            <a:prstDash val="solid"/>
          </a:ln>
        </p:spPr>
      </p:sp>
      <p:sp>
        <p:nvSpPr>
          <p:cNvPr id="9" name="Text 6"/>
          <p:cNvSpPr txBox="1"/>
          <p:nvPr/>
        </p:nvSpPr>
        <p:spPr>
          <a:xfrm>
            <a:off x="3474720" y="2057400"/>
            <a:ext cx="5669280" cy="411480"/>
          </a:xfrm>
          <a:prstGeom prst="rect">
            <a:avLst/>
          </a:prstGeom>
          <a:noFill/>
          <a:ln/>
        </p:spPr>
        <p:txBody>
          <a:bodyPr wrap="square" lIns="0" tIns="0" rIns="0" bIns="0" rtlCol="0" anchor="t"/>
          <a:lstStyle/>
          <a:p>
            <a:pPr indent="0" marL="0">
              <a:buNone/>
            </a:pPr>
            <a:r>
              <a:rPr lang="en-US" sz="1600" b="1" dirty="0">
                <a:solidFill>
                  <a:srgbClr val="1F6F78"/>
                </a:solidFill>
                <a:latin typeface="Consolas" pitchFamily="34" charset="0"/>
                <a:ea typeface="Consolas" pitchFamily="34" charset="-122"/>
                <a:cs typeface="Consolas" pitchFamily="34" charset="-120"/>
              </a:rPr>
              <a:t>/accept</a:t>
            </a:r>
            <a:pPr indent="0" marL="0">
              <a:buNone/>
            </a:pPr>
            <a:r>
              <a:rPr lang="en-US" sz="1600" dirty="0">
                <a:solidFill>
                  <a:srgbClr val="1B2430"/>
                </a:solidFill>
              </a:rPr>
              <a:t>   outer loop · one acceptance test, red until it is done</a:t>
            </a:r>
            <a:endParaRPr lang="en-US" sz="1600" dirty="0"/>
          </a:p>
        </p:txBody>
      </p:sp>
      <p:sp>
        <p:nvSpPr>
          <p:cNvPr id="10" name="Shape 7"/>
          <p:cNvSpPr/>
          <p:nvPr/>
        </p:nvSpPr>
        <p:spPr>
          <a:xfrm>
            <a:off x="3611880" y="2788920"/>
            <a:ext cx="1188720" cy="685800"/>
          </a:xfrm>
          <a:prstGeom prst="roundRect">
            <a:avLst>
              <a:gd name="adj" fmla="val 8000"/>
            </a:avLst>
          </a:prstGeom>
          <a:solidFill>
            <a:schemeClr val="accent1"/>
          </a:solidFill>
          <a:ln/>
        </p:spPr>
      </p:sp>
      <p:sp>
        <p:nvSpPr>
          <p:cNvPr id="11" name="Text 8"/>
          <p:cNvSpPr txBox="1"/>
          <p:nvPr/>
        </p:nvSpPr>
        <p:spPr>
          <a:xfrm>
            <a:off x="3611880" y="2788920"/>
            <a:ext cx="11887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onsolas" pitchFamily="34" charset="0"/>
                <a:ea typeface="Consolas" pitchFamily="34" charset="-122"/>
                <a:cs typeface="Consolas" pitchFamily="34" charset="-120"/>
              </a:rPr>
              <a:t>/tdd</a:t>
            </a:r>
            <a:endParaRPr lang="en-US" sz="1800" dirty="0"/>
          </a:p>
        </p:txBody>
      </p:sp>
      <p:sp>
        <p:nvSpPr>
          <p:cNvPr id="12" name="Shape 9"/>
          <p:cNvSpPr/>
          <p:nvPr/>
        </p:nvSpPr>
        <p:spPr>
          <a:xfrm>
            <a:off x="4828032" y="3127248"/>
            <a:ext cx="219456" cy="0"/>
          </a:xfrm>
          <a:prstGeom prst="line">
            <a:avLst/>
          </a:prstGeom>
          <a:noFill/>
          <a:ln w="25400">
            <a:solidFill>
              <a:schemeClr val="accent5"/>
            </a:solidFill>
            <a:prstDash val="solid"/>
            <a:tailEnd type="triangle"/>
          </a:ln>
        </p:spPr>
      </p:sp>
      <p:sp>
        <p:nvSpPr>
          <p:cNvPr id="13" name="Shape 10"/>
          <p:cNvSpPr/>
          <p:nvPr/>
        </p:nvSpPr>
        <p:spPr>
          <a:xfrm>
            <a:off x="5074920" y="2788920"/>
            <a:ext cx="1188720" cy="685800"/>
          </a:xfrm>
          <a:prstGeom prst="roundRect">
            <a:avLst>
              <a:gd name="adj" fmla="val 8000"/>
            </a:avLst>
          </a:prstGeom>
          <a:solidFill>
            <a:schemeClr val="accent1"/>
          </a:solidFill>
          <a:ln/>
        </p:spPr>
      </p:sp>
      <p:sp>
        <p:nvSpPr>
          <p:cNvPr id="14" name="Text 11"/>
          <p:cNvSpPr txBox="1"/>
          <p:nvPr/>
        </p:nvSpPr>
        <p:spPr>
          <a:xfrm>
            <a:off x="5074920" y="2788920"/>
            <a:ext cx="11887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onsolas" pitchFamily="34" charset="0"/>
                <a:ea typeface="Consolas" pitchFamily="34" charset="-122"/>
                <a:cs typeface="Consolas" pitchFamily="34" charset="-120"/>
              </a:rPr>
              <a:t>/tdd</a:t>
            </a:r>
            <a:endParaRPr lang="en-US" sz="1800" dirty="0"/>
          </a:p>
        </p:txBody>
      </p:sp>
      <p:sp>
        <p:nvSpPr>
          <p:cNvPr id="15" name="Shape 12"/>
          <p:cNvSpPr/>
          <p:nvPr/>
        </p:nvSpPr>
        <p:spPr>
          <a:xfrm>
            <a:off x="6291072" y="3127248"/>
            <a:ext cx="219456" cy="0"/>
          </a:xfrm>
          <a:prstGeom prst="line">
            <a:avLst/>
          </a:prstGeom>
          <a:noFill/>
          <a:ln w="25400">
            <a:solidFill>
              <a:schemeClr val="accent5"/>
            </a:solidFill>
            <a:prstDash val="solid"/>
            <a:tailEnd type="triangle"/>
          </a:ln>
        </p:spPr>
      </p:sp>
      <p:sp>
        <p:nvSpPr>
          <p:cNvPr id="16" name="Shape 13"/>
          <p:cNvSpPr/>
          <p:nvPr/>
        </p:nvSpPr>
        <p:spPr>
          <a:xfrm>
            <a:off x="6537960" y="2788920"/>
            <a:ext cx="1188720" cy="685800"/>
          </a:xfrm>
          <a:prstGeom prst="roundRect">
            <a:avLst>
              <a:gd name="adj" fmla="val 8000"/>
            </a:avLst>
          </a:prstGeom>
          <a:solidFill>
            <a:schemeClr val="accent1"/>
          </a:solidFill>
          <a:ln/>
        </p:spPr>
      </p:sp>
      <p:sp>
        <p:nvSpPr>
          <p:cNvPr id="17" name="Text 14"/>
          <p:cNvSpPr txBox="1"/>
          <p:nvPr/>
        </p:nvSpPr>
        <p:spPr>
          <a:xfrm>
            <a:off x="6537960" y="2788920"/>
            <a:ext cx="11887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onsolas" pitchFamily="34" charset="0"/>
                <a:ea typeface="Consolas" pitchFamily="34" charset="-122"/>
                <a:cs typeface="Consolas" pitchFamily="34" charset="-120"/>
              </a:rPr>
              <a:t>/tdd</a:t>
            </a:r>
            <a:endParaRPr lang="en-US" sz="1800" dirty="0"/>
          </a:p>
        </p:txBody>
      </p:sp>
      <p:sp>
        <p:nvSpPr>
          <p:cNvPr id="18" name="Shape 15"/>
          <p:cNvSpPr/>
          <p:nvPr/>
        </p:nvSpPr>
        <p:spPr>
          <a:xfrm>
            <a:off x="7754112" y="3127248"/>
            <a:ext cx="219456" cy="0"/>
          </a:xfrm>
          <a:prstGeom prst="line">
            <a:avLst/>
          </a:prstGeom>
          <a:noFill/>
          <a:ln w="25400">
            <a:solidFill>
              <a:schemeClr val="accent5"/>
            </a:solidFill>
            <a:prstDash val="solid"/>
            <a:tailEnd type="triangle"/>
          </a:ln>
        </p:spPr>
      </p:sp>
      <p:sp>
        <p:nvSpPr>
          <p:cNvPr id="19" name="Shape 16"/>
          <p:cNvSpPr/>
          <p:nvPr/>
        </p:nvSpPr>
        <p:spPr>
          <a:xfrm>
            <a:off x="8001000" y="2788920"/>
            <a:ext cx="1188720" cy="685800"/>
          </a:xfrm>
          <a:prstGeom prst="roundRect">
            <a:avLst>
              <a:gd name="adj" fmla="val 8000"/>
            </a:avLst>
          </a:prstGeom>
          <a:solidFill>
            <a:schemeClr val="accent1"/>
          </a:solidFill>
          <a:ln/>
        </p:spPr>
      </p:sp>
      <p:sp>
        <p:nvSpPr>
          <p:cNvPr id="20" name="Text 17"/>
          <p:cNvSpPr txBox="1"/>
          <p:nvPr/>
        </p:nvSpPr>
        <p:spPr>
          <a:xfrm>
            <a:off x="8001000" y="2788920"/>
            <a:ext cx="1188720" cy="685800"/>
          </a:xfrm>
          <a:prstGeom prst="rect">
            <a:avLst/>
          </a:prstGeom>
          <a:noFill/>
          <a:ln/>
        </p:spPr>
        <p:txBody>
          <a:bodyPr wrap="square" lIns="0" tIns="0" rIns="0" bIns="0" rtlCol="0" anchor="ctr"/>
          <a:lstStyle/>
          <a:p>
            <a:pPr algn="ctr" indent="0" marL="0">
              <a:buNone/>
            </a:pPr>
            <a:r>
              <a:rPr lang="en-US" sz="1800" b="1" dirty="0">
                <a:solidFill>
                  <a:schemeClr val="bg1"/>
                </a:solidFill>
                <a:latin typeface="Consolas" pitchFamily="34" charset="0"/>
                <a:ea typeface="Consolas" pitchFamily="34" charset="-122"/>
                <a:cs typeface="Consolas" pitchFamily="34" charset="-120"/>
              </a:rPr>
              <a:t>/tdd</a:t>
            </a:r>
            <a:endParaRPr lang="en-US" sz="1800" dirty="0"/>
          </a:p>
        </p:txBody>
      </p:sp>
      <p:sp>
        <p:nvSpPr>
          <p:cNvPr id="21" name="Text 18"/>
          <p:cNvSpPr txBox="1"/>
          <p:nvPr/>
        </p:nvSpPr>
        <p:spPr>
          <a:xfrm>
            <a:off x="3474720" y="3749040"/>
            <a:ext cx="5669280" cy="457200"/>
          </a:xfrm>
          <a:prstGeom prst="rect">
            <a:avLst/>
          </a:prstGeom>
          <a:noFill/>
          <a:ln/>
        </p:spPr>
        <p:txBody>
          <a:bodyPr wrap="square" lIns="0" tIns="0" rIns="0" bIns="0" rtlCol="0" anchor="t"/>
          <a:lstStyle/>
          <a:p>
            <a:pPr indent="0" marL="0">
              <a:buNone/>
            </a:pPr>
            <a:r>
              <a:rPr lang="en-US" sz="1500" dirty="0">
                <a:solidFill>
                  <a:schemeClr val="accent5"/>
                </a:solidFill>
              </a:rPr>
              <a:t>inner loop · one unit test, red to green, the suite green after every cycle</a:t>
            </a:r>
            <a:endParaRPr lang="en-US" sz="1500" dirty="0"/>
          </a:p>
        </p:txBody>
      </p:sp>
      <p:sp>
        <p:nvSpPr>
          <p:cNvPr id="22" name="Shape 19"/>
          <p:cNvSpPr/>
          <p:nvPr/>
        </p:nvSpPr>
        <p:spPr>
          <a:xfrm>
            <a:off x="9464040" y="3154680"/>
            <a:ext cx="457200" cy="0"/>
          </a:xfrm>
          <a:prstGeom prst="line">
            <a:avLst/>
          </a:prstGeom>
          <a:noFill/>
          <a:ln w="25400">
            <a:solidFill>
              <a:schemeClr val="accent5"/>
            </a:solidFill>
            <a:prstDash val="solid"/>
            <a:tailEnd type="triangle"/>
          </a:ln>
        </p:spPr>
      </p:sp>
      <p:sp>
        <p:nvSpPr>
          <p:cNvPr id="23" name="verify"/>
          <p:cNvSpPr/>
          <p:nvPr/>
        </p:nvSpPr>
        <p:spPr>
          <a:xfrm>
            <a:off x="9966960" y="2331720"/>
            <a:ext cx="1676095" cy="1645920"/>
          </a:xfrm>
          <a:prstGeom prst="roundRect">
            <a:avLst>
              <a:gd name="adj" fmla="val 4444"/>
            </a:avLst>
          </a:prstGeom>
          <a:solidFill>
            <a:schemeClr val="bg2"/>
          </a:solidFill>
          <a:ln/>
        </p:spPr>
      </p:sp>
      <p:sp>
        <p:nvSpPr>
          <p:cNvPr id="24" name="Text 21"/>
          <p:cNvSpPr txBox="1"/>
          <p:nvPr/>
        </p:nvSpPr>
        <p:spPr>
          <a:xfrm>
            <a:off x="9966960" y="2514600"/>
            <a:ext cx="1676095" cy="411480"/>
          </a:xfrm>
          <a:prstGeom prst="rect">
            <a:avLst/>
          </a:prstGeom>
          <a:noFill/>
          <a:ln/>
        </p:spPr>
        <p:txBody>
          <a:bodyPr wrap="square" lIns="0" tIns="0" rIns="0" bIns="0" rtlCol="0" anchor="t"/>
          <a:lstStyle/>
          <a:p>
            <a:pPr algn="ctr" indent="0" marL="0">
              <a:buNone/>
            </a:pPr>
            <a:r>
              <a:rPr lang="en-US" sz="2000" b="1" dirty="0">
                <a:solidFill>
                  <a:schemeClr val="accent1"/>
                </a:solidFill>
                <a:latin typeface="Consolas" pitchFamily="34" charset="0"/>
                <a:ea typeface="Consolas" pitchFamily="34" charset="-122"/>
                <a:cs typeface="Consolas" pitchFamily="34" charset="-120"/>
              </a:rPr>
              <a:t>/verify</a:t>
            </a:r>
            <a:endParaRPr lang="en-US" sz="2000" dirty="0"/>
          </a:p>
        </p:txBody>
      </p:sp>
      <p:sp>
        <p:nvSpPr>
          <p:cNvPr id="25" name="Text 22"/>
          <p:cNvSpPr txBox="1"/>
          <p:nvPr/>
        </p:nvSpPr>
        <p:spPr>
          <a:xfrm>
            <a:off x="10104120" y="3017520"/>
            <a:ext cx="1401775" cy="731520"/>
          </a:xfrm>
          <a:prstGeom prst="rect">
            <a:avLst/>
          </a:prstGeom>
          <a:noFill/>
          <a:ln/>
        </p:spPr>
        <p:txBody>
          <a:bodyPr wrap="square" lIns="0" tIns="0" rIns="0" bIns="0" rtlCol="0" anchor="t"/>
          <a:lstStyle/>
          <a:p>
            <a:pPr algn="ctr" indent="0" marL="0">
              <a:buNone/>
            </a:pPr>
            <a:r>
              <a:rPr lang="en-US" sz="1500" dirty="0">
                <a:solidFill>
                  <a:schemeClr val="tx1"/>
                </a:solidFill>
              </a:rPr>
              <a:t>is each rule really proved?</a:t>
            </a:r>
            <a:endParaRPr lang="en-US" sz="1500" dirty="0"/>
          </a:p>
        </p:txBody>
      </p:sp>
      <p:sp>
        <p:nvSpPr>
          <p:cNvPr id="26" name="loop note 0 badge"/>
          <p:cNvSpPr/>
          <p:nvPr/>
        </p:nvSpPr>
        <p:spPr>
          <a:xfrm>
            <a:off x="548640" y="5074920"/>
            <a:ext cx="548640" cy="548640"/>
          </a:xfrm>
          <a:prstGeom prst="ellipse">
            <a:avLst/>
          </a:prstGeom>
          <a:solidFill>
            <a:schemeClr val="accent1"/>
          </a:solidFill>
          <a:ln/>
        </p:spPr>
      </p:sp>
      <p:pic>
        <p:nvPicPr>
          <p:cNvPr id="27" name="loop note 0 icon" descr="preencoded.png">    </p:cNvPr>
          <p:cNvPicPr>
            <a:picLocks noChangeAspect="1"/>
          </p:cNvPicPr>
          <p:nvPr/>
        </p:nvPicPr>
        <p:blipFill>
          <a:blip r:embed="rId1"/>
          <a:stretch>
            <a:fillRect/>
          </a:stretch>
        </p:blipFill>
        <p:spPr>
          <a:xfrm>
            <a:off x="685800" y="5212080"/>
            <a:ext cx="274320" cy="274320"/>
          </a:xfrm>
          <a:prstGeom prst="rect">
            <a:avLst/>
          </a:prstGeom>
        </p:spPr>
      </p:pic>
      <p:sp>
        <p:nvSpPr>
          <p:cNvPr id="28" name="Text 24"/>
          <p:cNvSpPr txBox="1"/>
          <p:nvPr/>
        </p:nvSpPr>
        <p:spPr>
          <a:xfrm>
            <a:off x="1280160" y="5074920"/>
            <a:ext cx="2834640" cy="685800"/>
          </a:xfrm>
          <a:prstGeom prst="rect">
            <a:avLst/>
          </a:prstGeom>
          <a:noFill/>
          <a:ln/>
        </p:spPr>
        <p:txBody>
          <a:bodyPr wrap="square" lIns="0" tIns="0" rIns="0" bIns="0" rtlCol="0" anchor="ctr"/>
          <a:lstStyle/>
          <a:p>
            <a:pPr indent="0" marL="0">
              <a:buNone/>
            </a:pPr>
            <a:r>
              <a:rPr lang="en-US" sz="1500" dirty="0">
                <a:solidFill>
                  <a:schemeClr val="tx1"/>
                </a:solidFill>
              </a:rPr>
              <a:t>Exactly one outer loop is open at a time</a:t>
            </a:r>
            <a:endParaRPr lang="en-US" sz="1500" dirty="0"/>
          </a:p>
        </p:txBody>
      </p:sp>
      <p:sp>
        <p:nvSpPr>
          <p:cNvPr id="29" name="loop note 1 badge"/>
          <p:cNvSpPr/>
          <p:nvPr/>
        </p:nvSpPr>
        <p:spPr>
          <a:xfrm>
            <a:off x="4297680" y="5074920"/>
            <a:ext cx="548640" cy="548640"/>
          </a:xfrm>
          <a:prstGeom prst="ellipse">
            <a:avLst/>
          </a:prstGeom>
          <a:solidFill>
            <a:schemeClr val="accent1"/>
          </a:solidFill>
          <a:ln/>
        </p:spPr>
      </p:sp>
      <p:pic>
        <p:nvPicPr>
          <p:cNvPr id="30" name="loop note 1 icon" descr="preencoded.png">    </p:cNvPr>
          <p:cNvPicPr>
            <a:picLocks noChangeAspect="1"/>
          </p:cNvPicPr>
          <p:nvPr/>
        </p:nvPicPr>
        <p:blipFill>
          <a:blip r:embed="rId2"/>
          <a:stretch>
            <a:fillRect/>
          </a:stretch>
        </p:blipFill>
        <p:spPr>
          <a:xfrm>
            <a:off x="4434840" y="5212080"/>
            <a:ext cx="274320" cy="274320"/>
          </a:xfrm>
          <a:prstGeom prst="rect">
            <a:avLst/>
          </a:prstGeom>
        </p:spPr>
      </p:pic>
      <p:sp>
        <p:nvSpPr>
          <p:cNvPr id="31" name="Text 26"/>
          <p:cNvSpPr txBox="1"/>
          <p:nvPr/>
        </p:nvSpPr>
        <p:spPr>
          <a:xfrm>
            <a:off x="5029200" y="5074920"/>
            <a:ext cx="2834640" cy="685800"/>
          </a:xfrm>
          <a:prstGeom prst="rect">
            <a:avLst/>
          </a:prstGeom>
          <a:noFill/>
          <a:ln/>
        </p:spPr>
        <p:txBody>
          <a:bodyPr wrap="square" lIns="0" tIns="0" rIns="0" bIns="0" rtlCol="0" anchor="ctr"/>
          <a:lstStyle/>
          <a:p>
            <a:pPr indent="0" marL="0">
              <a:buNone/>
            </a:pPr>
            <a:r>
              <a:rPr lang="en-US" sz="1500" dirty="0">
                <a:solidFill>
                  <a:schemeClr val="tx1"/>
                </a:solidFill>
              </a:rPr>
              <a:t>The default suite runs offline, in seconds, at zero cost</a:t>
            </a:r>
            <a:endParaRPr lang="en-US" sz="1500" dirty="0"/>
          </a:p>
        </p:txBody>
      </p:sp>
      <p:sp>
        <p:nvSpPr>
          <p:cNvPr id="32" name="loop note 2 badge"/>
          <p:cNvSpPr/>
          <p:nvPr/>
        </p:nvSpPr>
        <p:spPr>
          <a:xfrm>
            <a:off x="8046720" y="5074920"/>
            <a:ext cx="548640" cy="548640"/>
          </a:xfrm>
          <a:prstGeom prst="ellipse">
            <a:avLst/>
          </a:prstGeom>
          <a:solidFill>
            <a:schemeClr val="accent1"/>
          </a:solidFill>
          <a:ln/>
        </p:spPr>
      </p:sp>
      <p:pic>
        <p:nvPicPr>
          <p:cNvPr id="33" name="loop note 2 icon" descr="preencoded.png">    </p:cNvPr>
          <p:cNvPicPr>
            <a:picLocks noChangeAspect="1"/>
          </p:cNvPicPr>
          <p:nvPr/>
        </p:nvPicPr>
        <p:blipFill>
          <a:blip r:embed="rId3"/>
          <a:stretch>
            <a:fillRect/>
          </a:stretch>
        </p:blipFill>
        <p:spPr>
          <a:xfrm>
            <a:off x="8183880" y="5212080"/>
            <a:ext cx="274320" cy="274320"/>
          </a:xfrm>
          <a:prstGeom prst="rect">
            <a:avLst/>
          </a:prstGeom>
        </p:spPr>
      </p:pic>
      <p:sp>
        <p:nvSpPr>
          <p:cNvPr id="34" name="Text 28"/>
          <p:cNvSpPr txBox="1"/>
          <p:nvPr/>
        </p:nvSpPr>
        <p:spPr>
          <a:xfrm>
            <a:off x="8778240" y="5074920"/>
            <a:ext cx="2834640" cy="685800"/>
          </a:xfrm>
          <a:prstGeom prst="rect">
            <a:avLst/>
          </a:prstGeom>
          <a:noFill/>
          <a:ln/>
        </p:spPr>
        <p:txBody>
          <a:bodyPr wrap="square" lIns="0" tIns="0" rIns="0" bIns="0" rtlCol="0" anchor="ctr"/>
          <a:lstStyle/>
          <a:p>
            <a:pPr indent="0" marL="0">
              <a:buNone/>
            </a:pPr>
            <a:r>
              <a:rPr lang="en-US" sz="1500" dirty="0">
                <a:solidFill>
                  <a:schemeClr val="tx1"/>
                </a:solidFill>
              </a:rPr>
              <a:t>No live model call in it: a fake model counts every call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Boundary 1 · the hash boundary</a:t>
            </a:r>
            <a:endParaRPr lang="en-US" sz="3600" dirty="0"/>
          </a:p>
        </p:txBody>
      </p:sp>
      <p:sp>
        <p:nvSpPr>
          <p:cNvPr id="4" name="left of the line"/>
          <p:cNvSpPr/>
          <p:nvPr/>
        </p:nvSpPr>
        <p:spPr>
          <a:xfrm>
            <a:off x="548640" y="1508760"/>
            <a:ext cx="5074920" cy="2514600"/>
          </a:xfrm>
          <a:prstGeom prst="roundRect">
            <a:avLst>
              <a:gd name="adj" fmla="val 2909"/>
            </a:avLst>
          </a:prstGeom>
          <a:solidFill>
            <a:schemeClr val="bg2"/>
          </a:solidFill>
          <a:ln/>
        </p:spPr>
      </p:sp>
      <p:sp>
        <p:nvSpPr>
          <p:cNvPr id="5" name="Text 2"/>
          <p:cNvSpPr txBox="1"/>
          <p:nvPr/>
        </p:nvSpPr>
        <p:spPr>
          <a:xfrm>
            <a:off x="822960" y="1737360"/>
            <a:ext cx="4572000" cy="320040"/>
          </a:xfrm>
          <a:prstGeom prst="rect">
            <a:avLst/>
          </a:prstGeom>
          <a:noFill/>
          <a:ln/>
        </p:spPr>
        <p:txBody>
          <a:bodyPr wrap="square" lIns="0" tIns="0" rIns="0" bIns="0" rtlCol="0" anchor="t"/>
          <a:lstStyle/>
          <a:p>
            <a:pPr indent="0" marL="0">
              <a:buNone/>
            </a:pPr>
            <a:r>
              <a:rPr lang="en-US" sz="1300" b="1" spc="100" kern="0" dirty="0">
                <a:solidFill>
                  <a:schemeClr val="accent3"/>
                </a:solidFill>
              </a:rPr>
              <a:t>MUTABLE · REMOTE · NOT REPEATABLE</a:t>
            </a:r>
            <a:endParaRPr lang="en-US" sz="1300" dirty="0"/>
          </a:p>
        </p:txBody>
      </p:sp>
      <p:sp>
        <p:nvSpPr>
          <p:cNvPr id="6" name="Shape 3"/>
          <p:cNvSpPr/>
          <p:nvPr/>
        </p:nvSpPr>
        <p:spPr>
          <a:xfrm>
            <a:off x="960120" y="2423160"/>
            <a:ext cx="1737360" cy="731520"/>
          </a:xfrm>
          <a:prstGeom prst="roundRect">
            <a:avLst>
              <a:gd name="adj" fmla="val 7500"/>
            </a:avLst>
          </a:prstGeom>
          <a:solidFill>
            <a:schemeClr val="accent5"/>
          </a:solidFill>
          <a:ln/>
        </p:spPr>
      </p:sp>
      <p:sp>
        <p:nvSpPr>
          <p:cNvPr id="7" name="Text 4"/>
          <p:cNvSpPr txBox="1"/>
          <p:nvPr/>
        </p:nvSpPr>
        <p:spPr>
          <a:xfrm>
            <a:off x="960120" y="2423160"/>
            <a:ext cx="1737360" cy="731520"/>
          </a:xfrm>
          <a:prstGeom prst="rect">
            <a:avLst/>
          </a:prstGeom>
          <a:noFill/>
          <a:ln/>
        </p:spPr>
        <p:txBody>
          <a:bodyPr wrap="square" lIns="0" tIns="0" rIns="0" bIns="0" rtlCol="0" anchor="ctr"/>
          <a:lstStyle/>
          <a:p>
            <a:pPr algn="ctr" indent="0" marL="0">
              <a:buNone/>
            </a:pPr>
            <a:r>
              <a:rPr lang="en-US" sz="2000" b="1" dirty="0">
                <a:solidFill>
                  <a:schemeClr val="bg1"/>
                </a:solidFill>
              </a:rPr>
              <a:t>sync</a:t>
            </a:r>
            <a:endParaRPr lang="en-US" sz="2000" dirty="0"/>
          </a:p>
        </p:txBody>
      </p:sp>
      <p:sp>
        <p:nvSpPr>
          <p:cNvPr id="8" name="Shape 5"/>
          <p:cNvSpPr/>
          <p:nvPr/>
        </p:nvSpPr>
        <p:spPr>
          <a:xfrm>
            <a:off x="2743200" y="2788920"/>
            <a:ext cx="548640" cy="0"/>
          </a:xfrm>
          <a:prstGeom prst="line">
            <a:avLst/>
          </a:prstGeom>
          <a:noFill/>
          <a:ln w="25400">
            <a:solidFill>
              <a:schemeClr val="accent5"/>
            </a:solidFill>
            <a:prstDash val="solid"/>
            <a:tailEnd type="triangle"/>
          </a:ln>
        </p:spPr>
      </p:sp>
      <p:sp>
        <p:nvSpPr>
          <p:cNvPr id="9" name="Shape 6"/>
          <p:cNvSpPr/>
          <p:nvPr/>
        </p:nvSpPr>
        <p:spPr>
          <a:xfrm>
            <a:off x="3337560" y="2423160"/>
            <a:ext cx="1737360" cy="731520"/>
          </a:xfrm>
          <a:prstGeom prst="roundRect">
            <a:avLst>
              <a:gd name="adj" fmla="val 7500"/>
            </a:avLst>
          </a:prstGeom>
          <a:solidFill>
            <a:schemeClr val="accent2"/>
          </a:solidFill>
          <a:ln/>
        </p:spPr>
      </p:sp>
      <p:sp>
        <p:nvSpPr>
          <p:cNvPr id="10" name="Text 7"/>
          <p:cNvSpPr txBox="1"/>
          <p:nvPr/>
        </p:nvSpPr>
        <p:spPr>
          <a:xfrm>
            <a:off x="3337560" y="2423160"/>
            <a:ext cx="1737360" cy="731520"/>
          </a:xfrm>
          <a:prstGeom prst="rect">
            <a:avLst/>
          </a:prstGeom>
          <a:noFill/>
          <a:ln/>
        </p:spPr>
        <p:txBody>
          <a:bodyPr wrap="square" lIns="0" tIns="0" rIns="0" bIns="0" rtlCol="0" anchor="ctr"/>
          <a:lstStyle/>
          <a:p>
            <a:pPr algn="ctr" indent="0" marL="0">
              <a:buNone/>
            </a:pPr>
            <a:r>
              <a:rPr lang="en-US" sz="2000" b="1" dirty="0">
                <a:solidFill>
                  <a:schemeClr val="tx2"/>
                </a:solidFill>
              </a:rPr>
              <a:t>store</a:t>
            </a:r>
            <a:endParaRPr lang="en-US" sz="2000" dirty="0"/>
          </a:p>
        </p:txBody>
      </p:sp>
      <p:sp>
        <p:nvSpPr>
          <p:cNvPr id="11" name="Text 8"/>
          <p:cNvSpPr txBox="1"/>
          <p:nvPr/>
        </p:nvSpPr>
        <p:spPr>
          <a:xfrm>
            <a:off x="822960" y="3383280"/>
            <a:ext cx="4572000" cy="365760"/>
          </a:xfrm>
          <a:prstGeom prst="rect">
            <a:avLst/>
          </a:prstGeom>
          <a:noFill/>
          <a:ln/>
        </p:spPr>
        <p:txBody>
          <a:bodyPr wrap="square" lIns="0" tIns="0" rIns="0" bIns="0" rtlCol="0" anchor="t"/>
          <a:lstStyle/>
          <a:p>
            <a:pPr indent="0" marL="0">
              <a:buNone/>
            </a:pPr>
            <a:r>
              <a:rPr lang="en-US" sz="1500" dirty="0">
                <a:solidFill>
                  <a:schemeClr val="accent5"/>
                </a:solidFill>
              </a:rPr>
              <a:t>a Jira issue changes, a page is edited</a:t>
            </a:r>
            <a:endParaRPr lang="en-US" sz="1500" dirty="0"/>
          </a:p>
        </p:txBody>
      </p:sp>
      <p:sp>
        <p:nvSpPr>
          <p:cNvPr id="12" name="the hash boundary"/>
          <p:cNvSpPr/>
          <p:nvPr/>
        </p:nvSpPr>
        <p:spPr>
          <a:xfrm>
            <a:off x="5897880" y="1417320"/>
            <a:ext cx="0" cy="2697480"/>
          </a:xfrm>
          <a:prstGeom prst="line">
            <a:avLst/>
          </a:prstGeom>
          <a:noFill/>
          <a:ln w="50800">
            <a:solidFill>
              <a:srgbClr val="12343B"/>
            </a:solidFill>
            <a:prstDash val="dash"/>
          </a:ln>
        </p:spPr>
      </p:sp>
      <p:sp>
        <p:nvSpPr>
          <p:cNvPr id="13" name="right of the line"/>
          <p:cNvSpPr/>
          <p:nvPr/>
        </p:nvSpPr>
        <p:spPr>
          <a:xfrm>
            <a:off x="6172200" y="1508760"/>
            <a:ext cx="5470855" cy="2514600"/>
          </a:xfrm>
          <a:prstGeom prst="roundRect">
            <a:avLst>
              <a:gd name="adj" fmla="val 2909"/>
            </a:avLst>
          </a:prstGeom>
          <a:solidFill>
            <a:schemeClr val="bg2"/>
          </a:solidFill>
          <a:ln/>
        </p:spPr>
      </p:sp>
      <p:sp>
        <p:nvSpPr>
          <p:cNvPr id="14" name="Text 11"/>
          <p:cNvSpPr txBox="1"/>
          <p:nvPr/>
        </p:nvSpPr>
        <p:spPr>
          <a:xfrm>
            <a:off x="6446520" y="1737360"/>
            <a:ext cx="4922215" cy="320040"/>
          </a:xfrm>
          <a:prstGeom prst="rect">
            <a:avLst/>
          </a:prstGeom>
          <a:noFill/>
          <a:ln/>
        </p:spPr>
        <p:txBody>
          <a:bodyPr wrap="square" lIns="0" tIns="0" rIns="0" bIns="0" rtlCol="0" anchor="t"/>
          <a:lstStyle/>
          <a:p>
            <a:pPr indent="0" marL="0">
              <a:buNone/>
            </a:pPr>
            <a:r>
              <a:rPr lang="en-US" sz="1300" b="1" spc="100" kern="0" dirty="0">
                <a:solidFill>
                  <a:schemeClr val="accent4"/>
                </a:solidFill>
              </a:rPr>
              <a:t>LOCAL · FROZEN · IDENTICAL ON EVERY RUN</a:t>
            </a:r>
            <a:endParaRPr lang="en-US" sz="1300" dirty="0"/>
          </a:p>
        </p:txBody>
      </p:sp>
      <p:sp>
        <p:nvSpPr>
          <p:cNvPr id="15" name="Shape 12"/>
          <p:cNvSpPr/>
          <p:nvPr/>
        </p:nvSpPr>
        <p:spPr>
          <a:xfrm>
            <a:off x="6492240" y="2423160"/>
            <a:ext cx="1371600" cy="731520"/>
          </a:xfrm>
          <a:prstGeom prst="roundRect">
            <a:avLst>
              <a:gd name="adj" fmla="val 7500"/>
            </a:avLst>
          </a:prstGeom>
          <a:solidFill>
            <a:schemeClr val="accent1"/>
          </a:solidFill>
          <a:ln/>
        </p:spPr>
      </p:sp>
      <p:sp>
        <p:nvSpPr>
          <p:cNvPr id="16" name="Text 13"/>
          <p:cNvSpPr txBox="1"/>
          <p:nvPr/>
        </p:nvSpPr>
        <p:spPr>
          <a:xfrm>
            <a:off x="6492240" y="2423160"/>
            <a:ext cx="1371600" cy="731520"/>
          </a:xfrm>
          <a:prstGeom prst="rect">
            <a:avLst/>
          </a:prstGeom>
          <a:noFill/>
          <a:ln/>
        </p:spPr>
        <p:txBody>
          <a:bodyPr wrap="square" lIns="0" tIns="0" rIns="0" bIns="0" rtlCol="0" anchor="ctr"/>
          <a:lstStyle/>
          <a:p>
            <a:pPr algn="ctr" indent="0" marL="0">
              <a:buNone/>
            </a:pPr>
            <a:r>
              <a:rPr lang="en-US" sz="2000" b="1" dirty="0">
                <a:solidFill>
                  <a:schemeClr val="bg1"/>
                </a:solidFill>
              </a:rPr>
              <a:t>convert</a:t>
            </a:r>
            <a:endParaRPr lang="en-US" sz="2000" dirty="0"/>
          </a:p>
        </p:txBody>
      </p:sp>
      <p:sp>
        <p:nvSpPr>
          <p:cNvPr id="17" name="Shape 14"/>
          <p:cNvSpPr/>
          <p:nvPr/>
        </p:nvSpPr>
        <p:spPr>
          <a:xfrm>
            <a:off x="7891272" y="2788920"/>
            <a:ext cx="265176" cy="0"/>
          </a:xfrm>
          <a:prstGeom prst="line">
            <a:avLst/>
          </a:prstGeom>
          <a:noFill/>
          <a:ln w="25400">
            <a:solidFill>
              <a:schemeClr val="accent5"/>
            </a:solidFill>
            <a:prstDash val="solid"/>
            <a:tailEnd type="triangle"/>
          </a:ln>
        </p:spPr>
      </p:sp>
      <p:sp>
        <p:nvSpPr>
          <p:cNvPr id="18" name="Shape 15"/>
          <p:cNvSpPr/>
          <p:nvPr/>
        </p:nvSpPr>
        <p:spPr>
          <a:xfrm>
            <a:off x="8183880" y="2423160"/>
            <a:ext cx="1371600" cy="731520"/>
          </a:xfrm>
          <a:prstGeom prst="roundRect">
            <a:avLst>
              <a:gd name="adj" fmla="val 7500"/>
            </a:avLst>
          </a:prstGeom>
          <a:solidFill>
            <a:schemeClr val="accent1"/>
          </a:solidFill>
          <a:ln/>
        </p:spPr>
      </p:sp>
      <p:sp>
        <p:nvSpPr>
          <p:cNvPr id="19" name="Text 16"/>
          <p:cNvSpPr txBox="1"/>
          <p:nvPr/>
        </p:nvSpPr>
        <p:spPr>
          <a:xfrm>
            <a:off x="8183880" y="2423160"/>
            <a:ext cx="1371600" cy="731520"/>
          </a:xfrm>
          <a:prstGeom prst="rect">
            <a:avLst/>
          </a:prstGeom>
          <a:noFill/>
          <a:ln/>
        </p:spPr>
        <p:txBody>
          <a:bodyPr wrap="square" lIns="0" tIns="0" rIns="0" bIns="0" rtlCol="0" anchor="ctr"/>
          <a:lstStyle/>
          <a:p>
            <a:pPr algn="ctr" indent="0" marL="0">
              <a:buNone/>
            </a:pPr>
            <a:r>
              <a:rPr lang="en-US" sz="2000" b="1" dirty="0">
                <a:solidFill>
                  <a:schemeClr val="bg1"/>
                </a:solidFill>
              </a:rPr>
              <a:t>stages</a:t>
            </a:r>
            <a:endParaRPr lang="en-US" sz="2000" dirty="0"/>
          </a:p>
        </p:txBody>
      </p:sp>
      <p:sp>
        <p:nvSpPr>
          <p:cNvPr id="20" name="Shape 17"/>
          <p:cNvSpPr/>
          <p:nvPr/>
        </p:nvSpPr>
        <p:spPr>
          <a:xfrm>
            <a:off x="9582912" y="2788920"/>
            <a:ext cx="265176" cy="0"/>
          </a:xfrm>
          <a:prstGeom prst="line">
            <a:avLst/>
          </a:prstGeom>
          <a:noFill/>
          <a:ln w="25400">
            <a:solidFill>
              <a:schemeClr val="accent5"/>
            </a:solidFill>
            <a:prstDash val="solid"/>
            <a:tailEnd type="triangle"/>
          </a:ln>
        </p:spPr>
      </p:sp>
      <p:sp>
        <p:nvSpPr>
          <p:cNvPr id="21" name="Shape 18"/>
          <p:cNvSpPr/>
          <p:nvPr/>
        </p:nvSpPr>
        <p:spPr>
          <a:xfrm>
            <a:off x="9875520" y="2423160"/>
            <a:ext cx="1371600" cy="731520"/>
          </a:xfrm>
          <a:prstGeom prst="roundRect">
            <a:avLst>
              <a:gd name="adj" fmla="val 7500"/>
            </a:avLst>
          </a:prstGeom>
          <a:solidFill>
            <a:schemeClr val="accent1"/>
          </a:solidFill>
          <a:ln/>
        </p:spPr>
      </p:sp>
      <p:sp>
        <p:nvSpPr>
          <p:cNvPr id="22" name="Text 19"/>
          <p:cNvSpPr txBox="1"/>
          <p:nvPr/>
        </p:nvSpPr>
        <p:spPr>
          <a:xfrm>
            <a:off x="9875520" y="2423160"/>
            <a:ext cx="1371600" cy="731520"/>
          </a:xfrm>
          <a:prstGeom prst="rect">
            <a:avLst/>
          </a:prstGeom>
          <a:noFill/>
          <a:ln/>
        </p:spPr>
        <p:txBody>
          <a:bodyPr wrap="square" lIns="0" tIns="0" rIns="0" bIns="0" rtlCol="0" anchor="ctr"/>
          <a:lstStyle/>
          <a:p>
            <a:pPr algn="ctr" indent="0" marL="0">
              <a:buNone/>
            </a:pPr>
            <a:r>
              <a:rPr lang="en-US" sz="2000" b="1" dirty="0">
                <a:solidFill>
                  <a:schemeClr val="bg1"/>
                </a:solidFill>
              </a:rPr>
              <a:t>score</a:t>
            </a:r>
            <a:endParaRPr lang="en-US" sz="2000" dirty="0"/>
          </a:p>
        </p:txBody>
      </p:sp>
      <p:sp>
        <p:nvSpPr>
          <p:cNvPr id="23" name="Text 20"/>
          <p:cNvSpPr txBox="1"/>
          <p:nvPr/>
        </p:nvSpPr>
        <p:spPr>
          <a:xfrm>
            <a:off x="6446520" y="3383280"/>
            <a:ext cx="4922215" cy="365760"/>
          </a:xfrm>
          <a:prstGeom prst="rect">
            <a:avLst/>
          </a:prstGeom>
          <a:noFill/>
          <a:ln/>
        </p:spPr>
        <p:txBody>
          <a:bodyPr wrap="square" lIns="0" tIns="0" rIns="0" bIns="0" rtlCol="0" anchor="t"/>
          <a:lstStyle/>
          <a:p>
            <a:pPr indent="0" marL="0">
              <a:buNone/>
            </a:pPr>
            <a:r>
              <a:rPr lang="en-US" sz="1500" dirty="0">
                <a:solidFill>
                  <a:schemeClr val="accent5"/>
                </a:solidFill>
              </a:rPr>
              <a:t>a function of content hashes, byte for byte</a:t>
            </a:r>
            <a:endParaRPr lang="en-US" sz="1500" dirty="0"/>
          </a:p>
        </p:txBody>
      </p:sp>
      <p:sp>
        <p:nvSpPr>
          <p:cNvPr id="24" name="Text 21"/>
          <p:cNvSpPr txBox="1"/>
          <p:nvPr/>
        </p:nvSpPr>
        <p:spPr>
          <a:xfrm>
            <a:off x="548640" y="4343400"/>
            <a:ext cx="11094415" cy="365760"/>
          </a:xfrm>
          <a:prstGeom prst="rect">
            <a:avLst/>
          </a:prstGeom>
          <a:noFill/>
          <a:ln/>
        </p:spPr>
        <p:txBody>
          <a:bodyPr wrap="square" lIns="0" tIns="0" rIns="0" bIns="0" rtlCol="0" anchor="t"/>
          <a:lstStyle/>
          <a:p>
            <a:pPr indent="0" marL="0">
              <a:buNone/>
            </a:pPr>
            <a:r>
              <a:rPr lang="en-US" sz="1900" b="1" dirty="0">
                <a:solidFill>
                  <a:schemeClr val="tx2"/>
                </a:solidFill>
              </a:rPr>
              <a:t>Only four packages may reach the network</a:t>
            </a:r>
            <a:endParaRPr lang="en-US" sz="1900" dirty="0"/>
          </a:p>
        </p:txBody>
      </p:sp>
      <p:sp>
        <p:nvSpPr>
          <p:cNvPr id="25" name="connectors badge"/>
          <p:cNvSpPr/>
          <p:nvPr/>
        </p:nvSpPr>
        <p:spPr>
          <a:xfrm>
            <a:off x="548640" y="4892040"/>
            <a:ext cx="640080" cy="640080"/>
          </a:xfrm>
          <a:prstGeom prst="ellipse">
            <a:avLst/>
          </a:prstGeom>
          <a:solidFill>
            <a:schemeClr val="accent1"/>
          </a:solidFill>
          <a:ln/>
        </p:spPr>
      </p:sp>
      <p:pic>
        <p:nvPicPr>
          <p:cNvPr id="26" name="connectors icon" descr="preencoded.png">    </p:cNvPr>
          <p:cNvPicPr>
            <a:picLocks noChangeAspect="1"/>
          </p:cNvPicPr>
          <p:nvPr/>
        </p:nvPicPr>
        <p:blipFill>
          <a:blip r:embed="rId1"/>
          <a:stretch>
            <a:fillRect/>
          </a:stretch>
        </p:blipFill>
        <p:spPr>
          <a:xfrm>
            <a:off x="708660" y="5052060"/>
            <a:ext cx="320040" cy="320040"/>
          </a:xfrm>
          <a:prstGeom prst="rect">
            <a:avLst/>
          </a:prstGeom>
        </p:spPr>
      </p:pic>
      <p:sp>
        <p:nvSpPr>
          <p:cNvPr id="27" name="Text 23"/>
          <p:cNvSpPr txBox="1"/>
          <p:nvPr/>
        </p:nvSpPr>
        <p:spPr>
          <a:xfrm>
            <a:off x="1325880" y="4873752"/>
            <a:ext cx="1790624"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connectors</a:t>
            </a:r>
            <a:endParaRPr lang="en-US" sz="1700" dirty="0"/>
          </a:p>
        </p:txBody>
      </p:sp>
      <p:sp>
        <p:nvSpPr>
          <p:cNvPr id="28" name="Text 24"/>
          <p:cNvSpPr txBox="1"/>
          <p:nvPr/>
        </p:nvSpPr>
        <p:spPr>
          <a:xfrm>
            <a:off x="1325880" y="5230368"/>
            <a:ext cx="1790624" cy="548640"/>
          </a:xfrm>
          <a:prstGeom prst="rect">
            <a:avLst/>
          </a:prstGeom>
          <a:noFill/>
          <a:ln/>
        </p:spPr>
        <p:txBody>
          <a:bodyPr wrap="square" lIns="0" tIns="0" rIns="0" bIns="0" rtlCol="0" anchor="t"/>
          <a:lstStyle/>
          <a:p>
            <a:pPr indent="0" marL="0">
              <a:buNone/>
            </a:pPr>
            <a:r>
              <a:rPr lang="en-US" sz="1400" dirty="0">
                <a:solidFill>
                  <a:schemeClr val="tx1"/>
                </a:solidFill>
              </a:rPr>
              <a:t>fetch source payloads</a:t>
            </a:r>
            <a:endParaRPr lang="en-US" sz="1400" dirty="0"/>
          </a:p>
        </p:txBody>
      </p:sp>
      <p:sp>
        <p:nvSpPr>
          <p:cNvPr id="29" name="models badge"/>
          <p:cNvSpPr/>
          <p:nvPr/>
        </p:nvSpPr>
        <p:spPr>
          <a:xfrm>
            <a:off x="3390824" y="4892040"/>
            <a:ext cx="640080" cy="640080"/>
          </a:xfrm>
          <a:prstGeom prst="ellipse">
            <a:avLst/>
          </a:prstGeom>
          <a:solidFill>
            <a:schemeClr val="accent1"/>
          </a:solidFill>
          <a:ln/>
        </p:spPr>
      </p:sp>
      <p:pic>
        <p:nvPicPr>
          <p:cNvPr id="30" name="models icon" descr="preencoded.png">    </p:cNvPr>
          <p:cNvPicPr>
            <a:picLocks noChangeAspect="1"/>
          </p:cNvPicPr>
          <p:nvPr/>
        </p:nvPicPr>
        <p:blipFill>
          <a:blip r:embed="rId2"/>
          <a:stretch>
            <a:fillRect/>
          </a:stretch>
        </p:blipFill>
        <p:spPr>
          <a:xfrm>
            <a:off x="3550844" y="5052060"/>
            <a:ext cx="320040" cy="320040"/>
          </a:xfrm>
          <a:prstGeom prst="rect">
            <a:avLst/>
          </a:prstGeom>
        </p:spPr>
      </p:pic>
      <p:sp>
        <p:nvSpPr>
          <p:cNvPr id="31" name="Text 26"/>
          <p:cNvSpPr txBox="1"/>
          <p:nvPr/>
        </p:nvSpPr>
        <p:spPr>
          <a:xfrm>
            <a:off x="4168064" y="4873752"/>
            <a:ext cx="1790624"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models</a:t>
            </a:r>
            <a:endParaRPr lang="en-US" sz="1700" dirty="0"/>
          </a:p>
        </p:txBody>
      </p:sp>
      <p:sp>
        <p:nvSpPr>
          <p:cNvPr id="32" name="Text 27"/>
          <p:cNvSpPr txBox="1"/>
          <p:nvPr/>
        </p:nvSpPr>
        <p:spPr>
          <a:xfrm>
            <a:off x="4168064" y="5230368"/>
            <a:ext cx="1790624" cy="548640"/>
          </a:xfrm>
          <a:prstGeom prst="rect">
            <a:avLst/>
          </a:prstGeom>
          <a:noFill/>
          <a:ln/>
        </p:spPr>
        <p:txBody>
          <a:bodyPr wrap="square" lIns="0" tIns="0" rIns="0" bIns="0" rtlCol="0" anchor="t"/>
          <a:lstStyle/>
          <a:p>
            <a:pPr indent="0" marL="0">
              <a:buNone/>
            </a:pPr>
            <a:r>
              <a:rPr lang="en-US" sz="1400" dirty="0">
                <a:solidFill>
                  <a:schemeClr val="tx1"/>
                </a:solidFill>
              </a:rPr>
              <a:t>ask for an answer or a vector</a:t>
            </a:r>
            <a:endParaRPr lang="en-US" sz="1400" dirty="0"/>
          </a:p>
        </p:txBody>
      </p:sp>
      <p:sp>
        <p:nvSpPr>
          <p:cNvPr id="33" name="tracking badge"/>
          <p:cNvSpPr/>
          <p:nvPr/>
        </p:nvSpPr>
        <p:spPr>
          <a:xfrm>
            <a:off x="6233008" y="4892040"/>
            <a:ext cx="640080" cy="640080"/>
          </a:xfrm>
          <a:prstGeom prst="ellipse">
            <a:avLst/>
          </a:prstGeom>
          <a:solidFill>
            <a:schemeClr val="accent1"/>
          </a:solidFill>
          <a:ln/>
        </p:spPr>
      </p:sp>
      <p:pic>
        <p:nvPicPr>
          <p:cNvPr id="34" name="tracking icon" descr="preencoded.png">    </p:cNvPr>
          <p:cNvPicPr>
            <a:picLocks noChangeAspect="1"/>
          </p:cNvPicPr>
          <p:nvPr/>
        </p:nvPicPr>
        <p:blipFill>
          <a:blip r:embed="rId3"/>
          <a:stretch>
            <a:fillRect/>
          </a:stretch>
        </p:blipFill>
        <p:spPr>
          <a:xfrm>
            <a:off x="6393028" y="5052060"/>
            <a:ext cx="320040" cy="320040"/>
          </a:xfrm>
          <a:prstGeom prst="rect">
            <a:avLst/>
          </a:prstGeom>
        </p:spPr>
      </p:pic>
      <p:sp>
        <p:nvSpPr>
          <p:cNvPr id="35" name="Text 29"/>
          <p:cNvSpPr txBox="1"/>
          <p:nvPr/>
        </p:nvSpPr>
        <p:spPr>
          <a:xfrm>
            <a:off x="7010248" y="4873752"/>
            <a:ext cx="1790624"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tracking</a:t>
            </a:r>
            <a:endParaRPr lang="en-US" sz="1700" dirty="0"/>
          </a:p>
        </p:txBody>
      </p:sp>
      <p:sp>
        <p:nvSpPr>
          <p:cNvPr id="36" name="Text 30"/>
          <p:cNvSpPr txBox="1"/>
          <p:nvPr/>
        </p:nvSpPr>
        <p:spPr>
          <a:xfrm>
            <a:off x="7010248" y="5230368"/>
            <a:ext cx="1790624" cy="548640"/>
          </a:xfrm>
          <a:prstGeom prst="rect">
            <a:avLst/>
          </a:prstGeom>
          <a:noFill/>
          <a:ln/>
        </p:spPr>
        <p:txBody>
          <a:bodyPr wrap="square" lIns="0" tIns="0" rIns="0" bIns="0" rtlCol="0" anchor="t"/>
          <a:lstStyle/>
          <a:p>
            <a:pPr indent="0" marL="0">
              <a:buNone/>
            </a:pPr>
            <a:r>
              <a:rPr lang="en-US" sz="1400" dirty="0">
                <a:solidFill>
                  <a:schemeClr val="tx1"/>
                </a:solidFill>
              </a:rPr>
              <a:t>send records to MLflow</a:t>
            </a:r>
            <a:endParaRPr lang="en-US" sz="1400" dirty="0"/>
          </a:p>
        </p:txBody>
      </p:sp>
      <p:sp>
        <p:nvSpPr>
          <p:cNvPr id="37" name="index badge"/>
          <p:cNvSpPr/>
          <p:nvPr/>
        </p:nvSpPr>
        <p:spPr>
          <a:xfrm>
            <a:off x="9075191" y="4892040"/>
            <a:ext cx="640080" cy="640080"/>
          </a:xfrm>
          <a:prstGeom prst="ellipse">
            <a:avLst/>
          </a:prstGeom>
          <a:solidFill>
            <a:schemeClr val="accent1"/>
          </a:solidFill>
          <a:ln/>
        </p:spPr>
      </p:sp>
      <p:pic>
        <p:nvPicPr>
          <p:cNvPr id="38" name="index icon" descr="preencoded.png">    </p:cNvPr>
          <p:cNvPicPr>
            <a:picLocks noChangeAspect="1"/>
          </p:cNvPicPr>
          <p:nvPr/>
        </p:nvPicPr>
        <p:blipFill>
          <a:blip r:embed="rId4"/>
          <a:stretch>
            <a:fillRect/>
          </a:stretch>
        </p:blipFill>
        <p:spPr>
          <a:xfrm>
            <a:off x="9235211" y="5052060"/>
            <a:ext cx="320040" cy="320040"/>
          </a:xfrm>
          <a:prstGeom prst="rect">
            <a:avLst/>
          </a:prstGeom>
        </p:spPr>
      </p:pic>
      <p:sp>
        <p:nvSpPr>
          <p:cNvPr id="39" name="Text 32"/>
          <p:cNvSpPr txBox="1"/>
          <p:nvPr/>
        </p:nvSpPr>
        <p:spPr>
          <a:xfrm>
            <a:off x="9852431" y="4873752"/>
            <a:ext cx="1790624" cy="347472"/>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index</a:t>
            </a:r>
            <a:endParaRPr lang="en-US" sz="1700" dirty="0"/>
          </a:p>
        </p:txBody>
      </p:sp>
      <p:sp>
        <p:nvSpPr>
          <p:cNvPr id="40" name="Text 33"/>
          <p:cNvSpPr txBox="1"/>
          <p:nvPr/>
        </p:nvSpPr>
        <p:spPr>
          <a:xfrm>
            <a:off x="9852431" y="5230368"/>
            <a:ext cx="1790624" cy="548640"/>
          </a:xfrm>
          <a:prstGeom prst="rect">
            <a:avLst/>
          </a:prstGeom>
          <a:noFill/>
          <a:ln/>
        </p:spPr>
        <p:txBody>
          <a:bodyPr wrap="square" lIns="0" tIns="0" rIns="0" bIns="0" rtlCol="0" anchor="t"/>
          <a:lstStyle/>
          <a:p>
            <a:pPr indent="0" marL="0">
              <a:buNone/>
            </a:pPr>
            <a:r>
              <a:rPr lang="en-US" sz="1400" dirty="0">
                <a:solidFill>
                  <a:schemeClr val="tx1"/>
                </a:solidFill>
              </a:rPr>
              <a:t>write and search the index</a:t>
            </a:r>
            <a:endParaRPr lang="en-US" sz="1400" dirty="0"/>
          </a:p>
        </p:txBody>
      </p:sp>
      <p:sp>
        <p:nvSpPr>
          <p:cNvPr id="41" name="Text 34"/>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Checked by an ast walk over every module, a lazy import inside a function included (R0.19)</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Boundary 2 · the purity boundary</a:t>
            </a:r>
            <a:endParaRPr lang="en-US" sz="3600" dirty="0"/>
          </a:p>
        </p:txBody>
      </p:sp>
      <p:sp>
        <p:nvSpPr>
          <p:cNvPr id="4" name="Shape 1"/>
          <p:cNvSpPr/>
          <p:nvPr/>
        </p:nvSpPr>
        <p:spPr>
          <a:xfrm>
            <a:off x="548640" y="1508760"/>
            <a:ext cx="6035040" cy="685800"/>
          </a:xfrm>
          <a:prstGeom prst="roundRect">
            <a:avLst>
              <a:gd name="adj" fmla="val 8000"/>
            </a:avLst>
          </a:prstGeom>
          <a:solidFill>
            <a:schemeClr val="accent5"/>
          </a:solidFill>
          <a:ln/>
        </p:spPr>
      </p:sp>
      <p:sp>
        <p:nvSpPr>
          <p:cNvPr id="5" name="Text 2"/>
          <p:cNvSpPr txBox="1"/>
          <p:nvPr/>
        </p:nvSpPr>
        <p:spPr>
          <a:xfrm>
            <a:off x="548640" y="1508760"/>
            <a:ext cx="6035040" cy="685800"/>
          </a:xfrm>
          <a:prstGeom prst="rect">
            <a:avLst/>
          </a:prstGeom>
          <a:noFill/>
          <a:ln/>
        </p:spPr>
        <p:txBody>
          <a:bodyPr wrap="square" lIns="0" tIns="0" rIns="0" bIns="0" rtlCol="0" anchor="ctr"/>
          <a:lstStyle/>
          <a:p>
            <a:pPr algn="ctr" indent="0" marL="0">
              <a:buNone/>
            </a:pPr>
            <a:r>
              <a:rPr lang="en-US" sz="1600" b="1" dirty="0">
                <a:solidFill>
                  <a:schemeClr val="bg1"/>
                </a:solidFill>
              </a:rPr>
              <a:t>cli · flags, output, exit codes</a:t>
            </a:r>
            <a:endParaRPr lang="en-US" sz="1600" dirty="0"/>
          </a:p>
        </p:txBody>
      </p:sp>
      <p:sp>
        <p:nvSpPr>
          <p:cNvPr id="6" name="config"/>
          <p:cNvSpPr/>
          <p:nvPr/>
        </p:nvSpPr>
        <p:spPr>
          <a:xfrm>
            <a:off x="548640" y="2514600"/>
            <a:ext cx="1889760" cy="1143000"/>
          </a:xfrm>
          <a:prstGeom prst="roundRect">
            <a:avLst>
              <a:gd name="adj" fmla="val 6400"/>
            </a:avLst>
          </a:prstGeom>
          <a:solidFill>
            <a:schemeClr val="bg2"/>
          </a:solidFill>
          <a:ln/>
        </p:spPr>
      </p:sp>
      <p:sp>
        <p:nvSpPr>
          <p:cNvPr id="7" name="Text 4"/>
          <p:cNvSpPr txBox="1"/>
          <p:nvPr/>
        </p:nvSpPr>
        <p:spPr>
          <a:xfrm>
            <a:off x="548640" y="2606040"/>
            <a:ext cx="18897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onsolas" pitchFamily="34" charset="0"/>
                <a:ea typeface="Consolas" pitchFamily="34" charset="-122"/>
                <a:cs typeface="Consolas" pitchFamily="34" charset="-120"/>
              </a:rPr>
              <a:t>config</a:t>
            </a:r>
            <a:endParaRPr lang="en-US" sz="1600" dirty="0"/>
          </a:p>
        </p:txBody>
      </p:sp>
      <p:sp>
        <p:nvSpPr>
          <p:cNvPr id="8" name="Text 5"/>
          <p:cNvSpPr txBox="1"/>
          <p:nvPr/>
        </p:nvSpPr>
        <p:spPr>
          <a:xfrm>
            <a:off x="640080" y="2971800"/>
            <a:ext cx="1706880" cy="640080"/>
          </a:xfrm>
          <a:prstGeom prst="rect">
            <a:avLst/>
          </a:prstGeom>
          <a:noFill/>
          <a:ln/>
        </p:spPr>
        <p:txBody>
          <a:bodyPr wrap="square" lIns="0" tIns="0" rIns="0" bIns="0" rtlCol="0" anchor="t"/>
          <a:lstStyle/>
          <a:p>
            <a:pPr algn="ctr" indent="0" marL="0">
              <a:buNone/>
            </a:pPr>
            <a:r>
              <a:rPr lang="en-US" sz="1400" dirty="0">
                <a:solidFill>
                  <a:schemeClr val="tx1"/>
                </a:solidFill>
              </a:rPr>
              <a:t>the only reader of the environment</a:t>
            </a:r>
            <a:endParaRPr lang="en-US" sz="1400" dirty="0"/>
          </a:p>
        </p:txBody>
      </p:sp>
      <p:sp>
        <p:nvSpPr>
          <p:cNvPr id="9" name="Shape 6"/>
          <p:cNvSpPr/>
          <p:nvPr/>
        </p:nvSpPr>
        <p:spPr>
          <a:xfrm>
            <a:off x="1493520" y="2212848"/>
            <a:ext cx="0" cy="283464"/>
          </a:xfrm>
          <a:prstGeom prst="line">
            <a:avLst/>
          </a:prstGeom>
          <a:noFill/>
          <a:ln w="25400">
            <a:solidFill>
              <a:schemeClr val="accent5"/>
            </a:solidFill>
            <a:prstDash val="solid"/>
            <a:tailEnd type="triangle"/>
          </a:ln>
        </p:spPr>
      </p:sp>
      <p:sp>
        <p:nvSpPr>
          <p:cNvPr id="10" name="Shape 7"/>
          <p:cNvSpPr/>
          <p:nvPr/>
        </p:nvSpPr>
        <p:spPr>
          <a:xfrm>
            <a:off x="1493520" y="3675888"/>
            <a:ext cx="0" cy="283464"/>
          </a:xfrm>
          <a:prstGeom prst="line">
            <a:avLst/>
          </a:prstGeom>
          <a:noFill/>
          <a:ln w="25400">
            <a:solidFill>
              <a:schemeClr val="accent5"/>
            </a:solidFill>
            <a:prstDash val="solid"/>
            <a:tailEnd type="triangle"/>
          </a:ln>
        </p:spPr>
      </p:sp>
      <p:sp>
        <p:nvSpPr>
          <p:cNvPr id="11" name="application"/>
          <p:cNvSpPr/>
          <p:nvPr/>
        </p:nvSpPr>
        <p:spPr>
          <a:xfrm>
            <a:off x="2621280" y="2514600"/>
            <a:ext cx="1889760" cy="1143000"/>
          </a:xfrm>
          <a:prstGeom prst="roundRect">
            <a:avLst>
              <a:gd name="adj" fmla="val 6400"/>
            </a:avLst>
          </a:prstGeom>
          <a:solidFill>
            <a:schemeClr val="bg2"/>
          </a:solidFill>
          <a:ln/>
        </p:spPr>
      </p:sp>
      <p:sp>
        <p:nvSpPr>
          <p:cNvPr id="12" name="Text 9"/>
          <p:cNvSpPr txBox="1"/>
          <p:nvPr/>
        </p:nvSpPr>
        <p:spPr>
          <a:xfrm>
            <a:off x="2621280" y="2606040"/>
            <a:ext cx="18897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onsolas" pitchFamily="34" charset="0"/>
                <a:ea typeface="Consolas" pitchFamily="34" charset="-122"/>
                <a:cs typeface="Consolas" pitchFamily="34" charset="-120"/>
              </a:rPr>
              <a:t>application</a:t>
            </a:r>
            <a:endParaRPr lang="en-US" sz="1600" dirty="0"/>
          </a:p>
        </p:txBody>
      </p:sp>
      <p:sp>
        <p:nvSpPr>
          <p:cNvPr id="13" name="Text 10"/>
          <p:cNvSpPr txBox="1"/>
          <p:nvPr/>
        </p:nvSpPr>
        <p:spPr>
          <a:xfrm>
            <a:off x="2712720" y="2971800"/>
            <a:ext cx="1706880" cy="640080"/>
          </a:xfrm>
          <a:prstGeom prst="rect">
            <a:avLst/>
          </a:prstGeom>
          <a:noFill/>
          <a:ln/>
        </p:spPr>
        <p:txBody>
          <a:bodyPr wrap="square" lIns="0" tIns="0" rIns="0" bIns="0" rtlCol="0" anchor="t"/>
          <a:lstStyle/>
          <a:p>
            <a:pPr algn="ctr" indent="0" marL="0">
              <a:buNone/>
            </a:pPr>
            <a:r>
              <a:rPr lang="en-US" sz="1400" dirty="0">
                <a:solidFill>
                  <a:schemeClr val="tx1"/>
                </a:solidFill>
              </a:rPr>
              <a:t>use cases, handed their ports</a:t>
            </a:r>
            <a:endParaRPr lang="en-US" sz="1400" dirty="0"/>
          </a:p>
        </p:txBody>
      </p:sp>
      <p:sp>
        <p:nvSpPr>
          <p:cNvPr id="14" name="Shape 11"/>
          <p:cNvSpPr/>
          <p:nvPr/>
        </p:nvSpPr>
        <p:spPr>
          <a:xfrm>
            <a:off x="3566160" y="2212848"/>
            <a:ext cx="0" cy="283464"/>
          </a:xfrm>
          <a:prstGeom prst="line">
            <a:avLst/>
          </a:prstGeom>
          <a:noFill/>
          <a:ln w="25400">
            <a:solidFill>
              <a:schemeClr val="accent5"/>
            </a:solidFill>
            <a:prstDash val="solid"/>
            <a:tailEnd type="triangle"/>
          </a:ln>
        </p:spPr>
      </p:sp>
      <p:sp>
        <p:nvSpPr>
          <p:cNvPr id="15" name="Shape 12"/>
          <p:cNvSpPr/>
          <p:nvPr/>
        </p:nvSpPr>
        <p:spPr>
          <a:xfrm>
            <a:off x="3566160" y="3675888"/>
            <a:ext cx="0" cy="283464"/>
          </a:xfrm>
          <a:prstGeom prst="line">
            <a:avLst/>
          </a:prstGeom>
          <a:noFill/>
          <a:ln w="25400">
            <a:solidFill>
              <a:schemeClr val="accent5"/>
            </a:solidFill>
            <a:prstDash val="solid"/>
            <a:tailEnd type="triangle"/>
          </a:ln>
        </p:spPr>
      </p:sp>
      <p:sp>
        <p:nvSpPr>
          <p:cNvPr id="16" name="infrastructure"/>
          <p:cNvSpPr/>
          <p:nvPr/>
        </p:nvSpPr>
        <p:spPr>
          <a:xfrm>
            <a:off x="4693920" y="2514600"/>
            <a:ext cx="1889760" cy="1143000"/>
          </a:xfrm>
          <a:prstGeom prst="roundRect">
            <a:avLst>
              <a:gd name="adj" fmla="val 6400"/>
            </a:avLst>
          </a:prstGeom>
          <a:solidFill>
            <a:schemeClr val="bg2"/>
          </a:solidFill>
          <a:ln/>
        </p:spPr>
      </p:sp>
      <p:sp>
        <p:nvSpPr>
          <p:cNvPr id="17" name="Text 14"/>
          <p:cNvSpPr txBox="1"/>
          <p:nvPr/>
        </p:nvSpPr>
        <p:spPr>
          <a:xfrm>
            <a:off x="4693920" y="2606040"/>
            <a:ext cx="18897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onsolas" pitchFamily="34" charset="0"/>
                <a:ea typeface="Consolas" pitchFamily="34" charset="-122"/>
                <a:cs typeface="Consolas" pitchFamily="34" charset="-120"/>
              </a:rPr>
              <a:t>infrastructure</a:t>
            </a:r>
            <a:endParaRPr lang="en-US" sz="1600" dirty="0"/>
          </a:p>
        </p:txBody>
      </p:sp>
      <p:sp>
        <p:nvSpPr>
          <p:cNvPr id="18" name="Text 15"/>
          <p:cNvSpPr txBox="1"/>
          <p:nvPr/>
        </p:nvSpPr>
        <p:spPr>
          <a:xfrm>
            <a:off x="4785360" y="2971800"/>
            <a:ext cx="1706880" cy="640080"/>
          </a:xfrm>
          <a:prstGeom prst="rect">
            <a:avLst/>
          </a:prstGeom>
          <a:noFill/>
          <a:ln/>
        </p:spPr>
        <p:txBody>
          <a:bodyPr wrap="square" lIns="0" tIns="0" rIns="0" bIns="0" rtlCol="0" anchor="t"/>
          <a:lstStyle/>
          <a:p>
            <a:pPr algn="ctr" indent="0" marL="0">
              <a:buNone/>
            </a:pPr>
            <a:r>
              <a:rPr lang="en-US" sz="1400" dirty="0">
                <a:solidFill>
                  <a:schemeClr val="tx1"/>
                </a:solidFill>
              </a:rPr>
              <a:t>wiring: connectors, stores, clients</a:t>
            </a:r>
            <a:endParaRPr lang="en-US" sz="1400" dirty="0"/>
          </a:p>
        </p:txBody>
      </p:sp>
      <p:sp>
        <p:nvSpPr>
          <p:cNvPr id="19" name="Shape 16"/>
          <p:cNvSpPr/>
          <p:nvPr/>
        </p:nvSpPr>
        <p:spPr>
          <a:xfrm>
            <a:off x="5638800" y="2212848"/>
            <a:ext cx="0" cy="283464"/>
          </a:xfrm>
          <a:prstGeom prst="line">
            <a:avLst/>
          </a:prstGeom>
          <a:noFill/>
          <a:ln w="25400">
            <a:solidFill>
              <a:schemeClr val="accent5"/>
            </a:solidFill>
            <a:prstDash val="solid"/>
            <a:tailEnd type="triangle"/>
          </a:ln>
        </p:spPr>
      </p:sp>
      <p:sp>
        <p:nvSpPr>
          <p:cNvPr id="20" name="Shape 17"/>
          <p:cNvSpPr/>
          <p:nvPr/>
        </p:nvSpPr>
        <p:spPr>
          <a:xfrm>
            <a:off x="5638800" y="3675888"/>
            <a:ext cx="0" cy="283464"/>
          </a:xfrm>
          <a:prstGeom prst="line">
            <a:avLst/>
          </a:prstGeom>
          <a:noFill/>
          <a:ln w="25400">
            <a:solidFill>
              <a:schemeClr val="accent5"/>
            </a:solidFill>
            <a:prstDash val="solid"/>
            <a:tailEnd type="triangle"/>
          </a:ln>
        </p:spPr>
      </p:sp>
      <p:sp>
        <p:nvSpPr>
          <p:cNvPr id="21" name="domain"/>
          <p:cNvSpPr/>
          <p:nvPr/>
        </p:nvSpPr>
        <p:spPr>
          <a:xfrm>
            <a:off x="548640" y="3977640"/>
            <a:ext cx="6035040" cy="1737360"/>
          </a:xfrm>
          <a:prstGeom prst="roundRect">
            <a:avLst>
              <a:gd name="adj" fmla="val 4211"/>
            </a:avLst>
          </a:prstGeom>
          <a:solidFill>
            <a:schemeClr val="tx2"/>
          </a:solidFill>
          <a:ln/>
        </p:spPr>
      </p:sp>
      <p:sp>
        <p:nvSpPr>
          <p:cNvPr id="22" name="Text 19"/>
          <p:cNvSpPr txBox="1"/>
          <p:nvPr/>
        </p:nvSpPr>
        <p:spPr>
          <a:xfrm>
            <a:off x="868680" y="4160520"/>
            <a:ext cx="2743200" cy="457200"/>
          </a:xfrm>
          <a:prstGeom prst="rect">
            <a:avLst/>
          </a:prstGeom>
          <a:noFill/>
          <a:ln/>
        </p:spPr>
        <p:txBody>
          <a:bodyPr wrap="square" lIns="0" tIns="0" rIns="0" bIns="0" rtlCol="0" anchor="t"/>
          <a:lstStyle/>
          <a:p>
            <a:pPr indent="0" marL="0">
              <a:buNone/>
            </a:pPr>
            <a:r>
              <a:rPr lang="en-US" sz="2400" b="1" dirty="0">
                <a:solidFill>
                  <a:schemeClr val="accent2"/>
                </a:solidFill>
                <a:latin typeface="Consolas" pitchFamily="34" charset="0"/>
                <a:ea typeface="Consolas" pitchFamily="34" charset="-122"/>
                <a:cs typeface="Consolas" pitchFamily="34" charset="-120"/>
              </a:rPr>
              <a:t>domain</a:t>
            </a:r>
            <a:endParaRPr lang="en-US" sz="2400" dirty="0"/>
          </a:p>
        </p:txBody>
      </p:sp>
      <p:sp>
        <p:nvSpPr>
          <p:cNvPr id="23" name="Text 20"/>
          <p:cNvSpPr txBox="1"/>
          <p:nvPr/>
        </p:nvSpPr>
        <p:spPr>
          <a:xfrm>
            <a:off x="868680" y="4663440"/>
            <a:ext cx="5394960" cy="822960"/>
          </a:xfrm>
          <a:prstGeom prst="rect">
            <a:avLst/>
          </a:prstGeom>
          <a:noFill/>
          <a:ln/>
        </p:spPr>
        <p:txBody>
          <a:bodyPr wrap="square" lIns="0" tIns="0" rIns="0" bIns="0" rtlCol="0" anchor="t"/>
          <a:lstStyle/>
          <a:p>
            <a:pPr indent="0" marL="0">
              <a:buNone/>
            </a:pPr>
            <a:r>
              <a:rPr lang="en-US" sz="1600" dirty="0">
                <a:solidFill>
                  <a:schemeClr val="bg1"/>
                </a:solidFill>
              </a:rPr>
              <a:t>The standard library and pydantic, nothing else. No IO, no network, no clock, no environment.</a:t>
            </a:r>
            <a:endParaRPr lang="en-US" sz="1600" dirty="0"/>
          </a:p>
        </p:txBody>
      </p:sp>
      <p:sp>
        <p:nvSpPr>
          <p:cNvPr id="24" name="where test badge"/>
          <p:cNvSpPr/>
          <p:nvPr/>
        </p:nvSpPr>
        <p:spPr>
          <a:xfrm>
            <a:off x="7040880" y="1508760"/>
            <a:ext cx="731520" cy="731520"/>
          </a:xfrm>
          <a:prstGeom prst="ellipse">
            <a:avLst/>
          </a:prstGeom>
          <a:solidFill>
            <a:schemeClr val="accent2"/>
          </a:solidFill>
          <a:ln/>
        </p:spPr>
      </p:sp>
      <p:pic>
        <p:nvPicPr>
          <p:cNvPr id="25" name="where test icon" descr="preencoded.png">    </p:cNvPr>
          <p:cNvPicPr>
            <a:picLocks noChangeAspect="1"/>
          </p:cNvPicPr>
          <p:nvPr/>
        </p:nvPicPr>
        <p:blipFill>
          <a:blip r:embed="rId1"/>
          <a:stretch>
            <a:fillRect/>
          </a:stretch>
        </p:blipFill>
        <p:spPr>
          <a:xfrm>
            <a:off x="7223760" y="1691640"/>
            <a:ext cx="365760" cy="365760"/>
          </a:xfrm>
          <a:prstGeom prst="rect">
            <a:avLst/>
          </a:prstGeom>
        </p:spPr>
      </p:pic>
      <p:sp>
        <p:nvSpPr>
          <p:cNvPr id="26" name="Text 22"/>
          <p:cNvSpPr txBox="1"/>
          <p:nvPr/>
        </p:nvSpPr>
        <p:spPr>
          <a:xfrm>
            <a:off x="7955280" y="1463040"/>
            <a:ext cx="3687775" cy="868680"/>
          </a:xfrm>
          <a:prstGeom prst="rect">
            <a:avLst/>
          </a:prstGeom>
          <a:noFill/>
          <a:ln/>
        </p:spPr>
        <p:txBody>
          <a:bodyPr wrap="square" lIns="0" tIns="0" rIns="0" bIns="0" rtlCol="0" anchor="ctr"/>
          <a:lstStyle/>
          <a:p>
            <a:pPr indent="0" marL="0">
              <a:buNone/>
            </a:pPr>
            <a:r>
              <a:rPr lang="en-US" sz="2000" b="1" i="1" dirty="0">
                <a:solidFill>
                  <a:schemeClr val="tx2"/>
                </a:solidFill>
              </a:rPr>
              <a:t>Could it be asserted with a plain dict and no fixtures?</a:t>
            </a:r>
            <a:endParaRPr lang="en-US" sz="2000" dirty="0"/>
          </a:p>
        </p:txBody>
      </p:sp>
      <p:sp>
        <p:nvSpPr>
          <p:cNvPr id="27" name="Text 23"/>
          <p:cNvSpPr txBox="1"/>
          <p:nvPr/>
        </p:nvSpPr>
        <p:spPr>
          <a:xfrm>
            <a:off x="7955280" y="2331720"/>
            <a:ext cx="3687775" cy="365760"/>
          </a:xfrm>
          <a:prstGeom prst="rect">
            <a:avLst/>
          </a:prstGeom>
          <a:noFill/>
          <a:ln/>
        </p:spPr>
        <p:txBody>
          <a:bodyPr wrap="square" lIns="0" tIns="0" rIns="0" bIns="0" rtlCol="0" anchor="t"/>
          <a:lstStyle/>
          <a:p>
            <a:pPr indent="0" marL="0">
              <a:buNone/>
            </a:pPr>
            <a:r>
              <a:rPr lang="en-US" sz="1600" dirty="0">
                <a:solidFill>
                  <a:schemeClr val="accent1"/>
                </a:solidFill>
              </a:rPr>
              <a:t>Then it is a decision, and it goes in domain.</a:t>
            </a:r>
            <a:endParaRPr lang="en-US" sz="1600" dirty="0"/>
          </a:p>
        </p:txBody>
      </p:sp>
      <p:sp>
        <p:nvSpPr>
          <p:cNvPr id="28" name="row 0"/>
          <p:cNvSpPr/>
          <p:nvPr/>
        </p:nvSpPr>
        <p:spPr>
          <a:xfrm>
            <a:off x="7040880" y="3017520"/>
            <a:ext cx="4602175" cy="457200"/>
          </a:xfrm>
          <a:prstGeom prst="roundRect">
            <a:avLst>
              <a:gd name="adj" fmla="val 16000"/>
            </a:avLst>
          </a:prstGeom>
          <a:solidFill>
            <a:schemeClr val="bg2"/>
          </a:solidFill>
          <a:ln/>
        </p:spPr>
      </p:sp>
      <p:sp>
        <p:nvSpPr>
          <p:cNvPr id="29" name="Text 25"/>
          <p:cNvSpPr txBox="1"/>
          <p:nvPr/>
        </p:nvSpPr>
        <p:spPr>
          <a:xfrm>
            <a:off x="7223760" y="3017520"/>
            <a:ext cx="2681935" cy="457200"/>
          </a:xfrm>
          <a:prstGeom prst="rect">
            <a:avLst/>
          </a:prstGeom>
          <a:noFill/>
          <a:ln/>
        </p:spPr>
        <p:txBody>
          <a:bodyPr wrap="square" lIns="0" tIns="0" rIns="0" bIns="0" rtlCol="0" anchor="ctr"/>
          <a:lstStyle/>
          <a:p>
            <a:pPr indent="0" marL="0">
              <a:buNone/>
            </a:pPr>
            <a:r>
              <a:rPr lang="en-US" sz="1400" dirty="0">
                <a:solidFill>
                  <a:schemeClr val="tx1"/>
                </a:solidFill>
              </a:rPr>
              <a:t>skip the fetch if the version matches</a:t>
            </a:r>
            <a:endParaRPr lang="en-US" sz="1400" dirty="0"/>
          </a:p>
        </p:txBody>
      </p:sp>
      <p:sp>
        <p:nvSpPr>
          <p:cNvPr id="30" name="Text 26"/>
          <p:cNvSpPr txBox="1"/>
          <p:nvPr/>
        </p:nvSpPr>
        <p:spPr>
          <a:xfrm>
            <a:off x="9951415" y="3017520"/>
            <a:ext cx="1554480" cy="457200"/>
          </a:xfrm>
          <a:prstGeom prst="rect">
            <a:avLst/>
          </a:prstGeom>
          <a:noFill/>
          <a:ln/>
        </p:spPr>
        <p:txBody>
          <a:bodyPr wrap="square" lIns="0" tIns="0" rIns="0" bIns="0" rtlCol="0" anchor="ctr"/>
          <a:lstStyle/>
          <a:p>
            <a:pPr algn="r" indent="0" marL="0">
              <a:buNone/>
            </a:pPr>
            <a:r>
              <a:rPr lang="en-US" sz="1400" b="1" dirty="0">
                <a:solidFill>
                  <a:schemeClr val="accent1"/>
                </a:solidFill>
                <a:latin typeface="Consolas" pitchFamily="34" charset="0"/>
                <a:ea typeface="Consolas" pitchFamily="34" charset="-122"/>
                <a:cs typeface="Consolas" pitchFamily="34" charset="-120"/>
              </a:rPr>
              <a:t>domain</a:t>
            </a:r>
            <a:endParaRPr lang="en-US" sz="1400" dirty="0"/>
          </a:p>
        </p:txBody>
      </p:sp>
      <p:sp>
        <p:nvSpPr>
          <p:cNvPr id="31" name="row 1"/>
          <p:cNvSpPr/>
          <p:nvPr/>
        </p:nvSpPr>
        <p:spPr>
          <a:xfrm>
            <a:off x="7040880" y="3566160"/>
            <a:ext cx="4602175" cy="457200"/>
          </a:xfrm>
          <a:prstGeom prst="roundRect">
            <a:avLst>
              <a:gd name="adj" fmla="val 16000"/>
            </a:avLst>
          </a:prstGeom>
          <a:solidFill>
            <a:schemeClr val="bg2"/>
          </a:solidFill>
          <a:ln/>
        </p:spPr>
      </p:sp>
      <p:sp>
        <p:nvSpPr>
          <p:cNvPr id="32" name="Text 28"/>
          <p:cNvSpPr txBox="1"/>
          <p:nvPr/>
        </p:nvSpPr>
        <p:spPr>
          <a:xfrm>
            <a:off x="7223760" y="3566160"/>
            <a:ext cx="2681935" cy="457200"/>
          </a:xfrm>
          <a:prstGeom prst="rect">
            <a:avLst/>
          </a:prstGeom>
          <a:noFill/>
          <a:ln/>
        </p:spPr>
        <p:txBody>
          <a:bodyPr wrap="square" lIns="0" tIns="0" rIns="0" bIns="0" rtlCol="0" anchor="ctr"/>
          <a:lstStyle/>
          <a:p>
            <a:pPr indent="0" marL="0">
              <a:buNone/>
            </a:pPr>
            <a:r>
              <a:rPr lang="en-US" sz="1400" dirty="0">
                <a:solidFill>
                  <a:schemeClr val="tx1"/>
                </a:solidFill>
              </a:rPr>
              <a:t>reject a floating model alias</a:t>
            </a:r>
            <a:endParaRPr lang="en-US" sz="1400" dirty="0"/>
          </a:p>
        </p:txBody>
      </p:sp>
      <p:sp>
        <p:nvSpPr>
          <p:cNvPr id="33" name="Text 29"/>
          <p:cNvSpPr txBox="1"/>
          <p:nvPr/>
        </p:nvSpPr>
        <p:spPr>
          <a:xfrm>
            <a:off x="9951415" y="3566160"/>
            <a:ext cx="1554480" cy="457200"/>
          </a:xfrm>
          <a:prstGeom prst="rect">
            <a:avLst/>
          </a:prstGeom>
          <a:noFill/>
          <a:ln/>
        </p:spPr>
        <p:txBody>
          <a:bodyPr wrap="square" lIns="0" tIns="0" rIns="0" bIns="0" rtlCol="0" anchor="ctr"/>
          <a:lstStyle/>
          <a:p>
            <a:pPr algn="r" indent="0" marL="0">
              <a:buNone/>
            </a:pPr>
            <a:r>
              <a:rPr lang="en-US" sz="1400" b="1" dirty="0">
                <a:solidFill>
                  <a:schemeClr val="accent1"/>
                </a:solidFill>
                <a:latin typeface="Consolas" pitchFamily="34" charset="0"/>
                <a:ea typeface="Consolas" pitchFamily="34" charset="-122"/>
                <a:cs typeface="Consolas" pitchFamily="34" charset="-120"/>
              </a:rPr>
              <a:t>domain</a:t>
            </a:r>
            <a:endParaRPr lang="en-US" sz="1400" dirty="0"/>
          </a:p>
        </p:txBody>
      </p:sp>
      <p:sp>
        <p:nvSpPr>
          <p:cNvPr id="34" name="row 2"/>
          <p:cNvSpPr/>
          <p:nvPr/>
        </p:nvSpPr>
        <p:spPr>
          <a:xfrm>
            <a:off x="7040880" y="4114800"/>
            <a:ext cx="4602175" cy="457200"/>
          </a:xfrm>
          <a:prstGeom prst="roundRect">
            <a:avLst>
              <a:gd name="adj" fmla="val 16000"/>
            </a:avLst>
          </a:prstGeom>
          <a:solidFill>
            <a:schemeClr val="bg1"/>
          </a:solidFill>
          <a:ln/>
        </p:spPr>
      </p:sp>
      <p:sp>
        <p:nvSpPr>
          <p:cNvPr id="35" name="Text 31"/>
          <p:cNvSpPr txBox="1"/>
          <p:nvPr/>
        </p:nvSpPr>
        <p:spPr>
          <a:xfrm>
            <a:off x="7223760" y="4114800"/>
            <a:ext cx="2681935" cy="457200"/>
          </a:xfrm>
          <a:prstGeom prst="rect">
            <a:avLst/>
          </a:prstGeom>
          <a:noFill/>
          <a:ln/>
        </p:spPr>
        <p:txBody>
          <a:bodyPr wrap="square" lIns="0" tIns="0" rIns="0" bIns="0" rtlCol="0" anchor="ctr"/>
          <a:lstStyle/>
          <a:p>
            <a:pPr indent="0" marL="0">
              <a:buNone/>
            </a:pPr>
            <a:r>
              <a:rPr lang="en-US" sz="1400" dirty="0">
                <a:solidFill>
                  <a:schemeClr val="tx1"/>
                </a:solidFill>
              </a:rPr>
              <a:t>issue the HTTP GET</a:t>
            </a:r>
            <a:endParaRPr lang="en-US" sz="1400" dirty="0"/>
          </a:p>
        </p:txBody>
      </p:sp>
      <p:sp>
        <p:nvSpPr>
          <p:cNvPr id="36" name="Text 32"/>
          <p:cNvSpPr txBox="1"/>
          <p:nvPr/>
        </p:nvSpPr>
        <p:spPr>
          <a:xfrm>
            <a:off x="9951415" y="4114800"/>
            <a:ext cx="1554480" cy="457200"/>
          </a:xfrm>
          <a:prstGeom prst="rect">
            <a:avLst/>
          </a:prstGeom>
          <a:noFill/>
          <a:ln/>
        </p:spPr>
        <p:txBody>
          <a:bodyPr wrap="square" lIns="0" tIns="0" rIns="0" bIns="0" rtlCol="0" anchor="ctr"/>
          <a:lstStyle/>
          <a:p>
            <a:pPr algn="r" indent="0" marL="0">
              <a:buNone/>
            </a:pPr>
            <a:r>
              <a:rPr lang="en-US" sz="1400" b="1" dirty="0">
                <a:solidFill>
                  <a:schemeClr val="accent5"/>
                </a:solidFill>
                <a:latin typeface="Consolas" pitchFamily="34" charset="0"/>
                <a:ea typeface="Consolas" pitchFamily="34" charset="-122"/>
                <a:cs typeface="Consolas" pitchFamily="34" charset="-120"/>
              </a:rPr>
              <a:t>infrastructure</a:t>
            </a:r>
            <a:endParaRPr lang="en-US" sz="1400" dirty="0"/>
          </a:p>
        </p:txBody>
      </p:sp>
      <p:sp>
        <p:nvSpPr>
          <p:cNvPr id="37" name="row 3"/>
          <p:cNvSpPr/>
          <p:nvPr/>
        </p:nvSpPr>
        <p:spPr>
          <a:xfrm>
            <a:off x="7040880" y="4663440"/>
            <a:ext cx="4602175" cy="457200"/>
          </a:xfrm>
          <a:prstGeom prst="roundRect">
            <a:avLst>
              <a:gd name="adj" fmla="val 16000"/>
            </a:avLst>
          </a:prstGeom>
          <a:solidFill>
            <a:schemeClr val="bg1"/>
          </a:solidFill>
          <a:ln/>
        </p:spPr>
      </p:sp>
      <p:sp>
        <p:nvSpPr>
          <p:cNvPr id="38" name="Text 34"/>
          <p:cNvSpPr txBox="1"/>
          <p:nvPr/>
        </p:nvSpPr>
        <p:spPr>
          <a:xfrm>
            <a:off x="7223760" y="4663440"/>
            <a:ext cx="2681935" cy="457200"/>
          </a:xfrm>
          <a:prstGeom prst="rect">
            <a:avLst/>
          </a:prstGeom>
          <a:noFill/>
          <a:ln/>
        </p:spPr>
        <p:txBody>
          <a:bodyPr wrap="square" lIns="0" tIns="0" rIns="0" bIns="0" rtlCol="0" anchor="ctr"/>
          <a:lstStyle/>
          <a:p>
            <a:pPr indent="0" marL="0">
              <a:buNone/>
            </a:pPr>
            <a:r>
              <a:rPr lang="en-US" sz="1400" dirty="0">
                <a:solidFill>
                  <a:schemeClr val="tx1"/>
                </a:solidFill>
              </a:rPr>
              <a:t>read JIRA_TOKEN from the environment</a:t>
            </a:r>
            <a:endParaRPr lang="en-US" sz="1400" dirty="0"/>
          </a:p>
        </p:txBody>
      </p:sp>
      <p:sp>
        <p:nvSpPr>
          <p:cNvPr id="39" name="Text 35"/>
          <p:cNvSpPr txBox="1"/>
          <p:nvPr/>
        </p:nvSpPr>
        <p:spPr>
          <a:xfrm>
            <a:off x="9951415" y="4663440"/>
            <a:ext cx="1554480" cy="457200"/>
          </a:xfrm>
          <a:prstGeom prst="rect">
            <a:avLst/>
          </a:prstGeom>
          <a:noFill/>
          <a:ln/>
        </p:spPr>
        <p:txBody>
          <a:bodyPr wrap="square" lIns="0" tIns="0" rIns="0" bIns="0" rtlCol="0" anchor="ctr"/>
          <a:lstStyle/>
          <a:p>
            <a:pPr algn="r" indent="0" marL="0">
              <a:buNone/>
            </a:pPr>
            <a:r>
              <a:rPr lang="en-US" sz="1400" b="1" dirty="0">
                <a:solidFill>
                  <a:schemeClr val="accent5"/>
                </a:solidFill>
                <a:latin typeface="Consolas" pitchFamily="34" charset="0"/>
                <a:ea typeface="Consolas" pitchFamily="34" charset="-122"/>
                <a:cs typeface="Consolas" pitchFamily="34" charset="-120"/>
              </a:rPr>
              <a:t>config</a:t>
            </a:r>
            <a:endParaRPr lang="en-US" sz="1400" dirty="0"/>
          </a:p>
        </p:txBody>
      </p:sp>
      <p:sp>
        <p:nvSpPr>
          <p:cNvPr id="40" name="row 4"/>
          <p:cNvSpPr/>
          <p:nvPr/>
        </p:nvSpPr>
        <p:spPr>
          <a:xfrm>
            <a:off x="7040880" y="5212080"/>
            <a:ext cx="4602175" cy="457200"/>
          </a:xfrm>
          <a:prstGeom prst="roundRect">
            <a:avLst>
              <a:gd name="adj" fmla="val 16000"/>
            </a:avLst>
          </a:prstGeom>
          <a:solidFill>
            <a:schemeClr val="bg1"/>
          </a:solidFill>
          <a:ln/>
        </p:spPr>
      </p:sp>
      <p:sp>
        <p:nvSpPr>
          <p:cNvPr id="41" name="Text 37"/>
          <p:cNvSpPr txBox="1"/>
          <p:nvPr/>
        </p:nvSpPr>
        <p:spPr>
          <a:xfrm>
            <a:off x="7223760" y="5212080"/>
            <a:ext cx="2681935" cy="457200"/>
          </a:xfrm>
          <a:prstGeom prst="rect">
            <a:avLst/>
          </a:prstGeom>
          <a:noFill/>
          <a:ln/>
        </p:spPr>
        <p:txBody>
          <a:bodyPr wrap="square" lIns="0" tIns="0" rIns="0" bIns="0" rtlCol="0" anchor="ctr"/>
          <a:lstStyle/>
          <a:p>
            <a:pPr indent="0" marL="0">
              <a:buNone/>
            </a:pPr>
            <a:r>
              <a:rPr lang="en-US" sz="1400" dirty="0">
                <a:solidFill>
                  <a:schemeClr val="tx1"/>
                </a:solidFill>
              </a:rPr>
              <a:t>print the plan table and exit 1</a:t>
            </a:r>
            <a:endParaRPr lang="en-US" sz="1400" dirty="0"/>
          </a:p>
        </p:txBody>
      </p:sp>
      <p:sp>
        <p:nvSpPr>
          <p:cNvPr id="42" name="Text 38"/>
          <p:cNvSpPr txBox="1"/>
          <p:nvPr/>
        </p:nvSpPr>
        <p:spPr>
          <a:xfrm>
            <a:off x="9951415" y="5212080"/>
            <a:ext cx="1554480" cy="457200"/>
          </a:xfrm>
          <a:prstGeom prst="rect">
            <a:avLst/>
          </a:prstGeom>
          <a:noFill/>
          <a:ln/>
        </p:spPr>
        <p:txBody>
          <a:bodyPr wrap="square" lIns="0" tIns="0" rIns="0" bIns="0" rtlCol="0" anchor="ctr"/>
          <a:lstStyle/>
          <a:p>
            <a:pPr algn="r" indent="0" marL="0">
              <a:buNone/>
            </a:pPr>
            <a:r>
              <a:rPr lang="en-US" sz="1400" b="1" dirty="0">
                <a:solidFill>
                  <a:schemeClr val="accent5"/>
                </a:solidFill>
                <a:latin typeface="Consolas" pitchFamily="34" charset="0"/>
                <a:ea typeface="Consolas" pitchFamily="34" charset="-122"/>
                <a:cs typeface="Consolas" pitchFamily="34" charset="-120"/>
              </a:rPr>
              <a:t>cli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Reproducible by construction</a:t>
            </a:r>
            <a:endParaRPr lang="en-US" sz="3600" dirty="0"/>
          </a:p>
        </p:txBody>
      </p:sp>
      <p:sp>
        <p:nvSpPr>
          <p:cNvPr id="4" name="Shape 1"/>
          <p:cNvSpPr/>
          <p:nvPr/>
        </p:nvSpPr>
        <p:spPr>
          <a:xfrm>
            <a:off x="548640" y="1554480"/>
            <a:ext cx="2743200" cy="502920"/>
          </a:xfrm>
          <a:prstGeom prst="roundRect">
            <a:avLst>
              <a:gd name="adj" fmla="val 10909"/>
            </a:avLst>
          </a:prstGeom>
          <a:solidFill>
            <a:schemeClr val="bg2"/>
          </a:solidFill>
          <a:ln/>
        </p:spPr>
      </p:sp>
      <p:sp>
        <p:nvSpPr>
          <p:cNvPr id="5" name="Text 2"/>
          <p:cNvSpPr txBox="1"/>
          <p:nvPr/>
        </p:nvSpPr>
        <p:spPr>
          <a:xfrm>
            <a:off x="548640" y="1554480"/>
            <a:ext cx="2743200" cy="502920"/>
          </a:xfrm>
          <a:prstGeom prst="rect">
            <a:avLst/>
          </a:prstGeom>
          <a:noFill/>
          <a:ln/>
        </p:spPr>
        <p:txBody>
          <a:bodyPr wrap="square" lIns="0" tIns="0" rIns="0" bIns="0" rtlCol="0" anchor="ctr"/>
          <a:lstStyle/>
          <a:p>
            <a:pPr algn="ctr" indent="0" marL="0">
              <a:buNone/>
            </a:pPr>
            <a:r>
              <a:rPr lang="en-US" sz="1500" dirty="0">
                <a:solidFill>
                  <a:schemeClr val="tx1"/>
                </a:solidFill>
              </a:rPr>
              <a:t>snapshot hash</a:t>
            </a:r>
            <a:endParaRPr lang="en-US" sz="1500" dirty="0"/>
          </a:p>
        </p:txBody>
      </p:sp>
      <p:sp>
        <p:nvSpPr>
          <p:cNvPr id="6" name="Shape 3"/>
          <p:cNvSpPr/>
          <p:nvPr/>
        </p:nvSpPr>
        <p:spPr>
          <a:xfrm>
            <a:off x="3337560" y="1801368"/>
            <a:ext cx="640080" cy="1307592"/>
          </a:xfrm>
          <a:prstGeom prst="line">
            <a:avLst/>
          </a:prstGeom>
          <a:noFill/>
          <a:ln w="25400">
            <a:solidFill>
              <a:schemeClr val="accent5"/>
            </a:solidFill>
            <a:prstDash val="solid"/>
            <a:tailEnd type="triangle"/>
          </a:ln>
        </p:spPr>
      </p:sp>
      <p:sp>
        <p:nvSpPr>
          <p:cNvPr id="7" name="Shape 4"/>
          <p:cNvSpPr/>
          <p:nvPr/>
        </p:nvSpPr>
        <p:spPr>
          <a:xfrm>
            <a:off x="548640" y="2212848"/>
            <a:ext cx="2743200" cy="502920"/>
          </a:xfrm>
          <a:prstGeom prst="roundRect">
            <a:avLst>
              <a:gd name="adj" fmla="val 10909"/>
            </a:avLst>
          </a:prstGeom>
          <a:solidFill>
            <a:schemeClr val="bg2"/>
          </a:solidFill>
          <a:ln/>
        </p:spPr>
      </p:sp>
      <p:sp>
        <p:nvSpPr>
          <p:cNvPr id="8" name="Text 5"/>
          <p:cNvSpPr txBox="1"/>
          <p:nvPr/>
        </p:nvSpPr>
        <p:spPr>
          <a:xfrm>
            <a:off x="548640" y="2212848"/>
            <a:ext cx="2743200" cy="502920"/>
          </a:xfrm>
          <a:prstGeom prst="rect">
            <a:avLst/>
          </a:prstGeom>
          <a:noFill/>
          <a:ln/>
        </p:spPr>
        <p:txBody>
          <a:bodyPr wrap="square" lIns="0" tIns="0" rIns="0" bIns="0" rtlCol="0" anchor="ctr"/>
          <a:lstStyle/>
          <a:p>
            <a:pPr algn="ctr" indent="0" marL="0">
              <a:buNone/>
            </a:pPr>
            <a:r>
              <a:rPr lang="en-US" sz="1500" dirty="0">
                <a:solidFill>
                  <a:schemeClr val="tx1"/>
                </a:solidFill>
              </a:rPr>
              <a:t>prompt hash</a:t>
            </a:r>
            <a:endParaRPr lang="en-US" sz="1500" dirty="0"/>
          </a:p>
        </p:txBody>
      </p:sp>
      <p:sp>
        <p:nvSpPr>
          <p:cNvPr id="9" name="Shape 6"/>
          <p:cNvSpPr/>
          <p:nvPr/>
        </p:nvSpPr>
        <p:spPr>
          <a:xfrm>
            <a:off x="3337560" y="2459736"/>
            <a:ext cx="640080" cy="649224"/>
          </a:xfrm>
          <a:prstGeom prst="line">
            <a:avLst/>
          </a:prstGeom>
          <a:noFill/>
          <a:ln w="25400">
            <a:solidFill>
              <a:schemeClr val="accent5"/>
            </a:solidFill>
            <a:prstDash val="solid"/>
            <a:tailEnd type="triangle"/>
          </a:ln>
        </p:spPr>
      </p:sp>
      <p:sp>
        <p:nvSpPr>
          <p:cNvPr id="10" name="Shape 7"/>
          <p:cNvSpPr/>
          <p:nvPr/>
        </p:nvSpPr>
        <p:spPr>
          <a:xfrm>
            <a:off x="548640" y="2871216"/>
            <a:ext cx="2743200" cy="502920"/>
          </a:xfrm>
          <a:prstGeom prst="roundRect">
            <a:avLst>
              <a:gd name="adj" fmla="val 10909"/>
            </a:avLst>
          </a:prstGeom>
          <a:solidFill>
            <a:schemeClr val="bg2"/>
          </a:solidFill>
          <a:ln/>
        </p:spPr>
      </p:sp>
      <p:sp>
        <p:nvSpPr>
          <p:cNvPr id="11" name="Text 8"/>
          <p:cNvSpPr txBox="1"/>
          <p:nvPr/>
        </p:nvSpPr>
        <p:spPr>
          <a:xfrm>
            <a:off x="548640" y="2871216"/>
            <a:ext cx="2743200" cy="502920"/>
          </a:xfrm>
          <a:prstGeom prst="rect">
            <a:avLst/>
          </a:prstGeom>
          <a:noFill/>
          <a:ln/>
        </p:spPr>
        <p:txBody>
          <a:bodyPr wrap="square" lIns="0" tIns="0" rIns="0" bIns="0" rtlCol="0" anchor="ctr"/>
          <a:lstStyle/>
          <a:p>
            <a:pPr algn="ctr" indent="0" marL="0">
              <a:buNone/>
            </a:pPr>
            <a:r>
              <a:rPr lang="en-US" sz="1500" dirty="0">
                <a:solidFill>
                  <a:schemeClr val="tx1"/>
                </a:solidFill>
              </a:rPr>
              <a:t>schema hash</a:t>
            </a:r>
            <a:endParaRPr lang="en-US" sz="1500" dirty="0"/>
          </a:p>
        </p:txBody>
      </p:sp>
      <p:sp>
        <p:nvSpPr>
          <p:cNvPr id="12" name="Shape 9"/>
          <p:cNvSpPr/>
          <p:nvPr/>
        </p:nvSpPr>
        <p:spPr>
          <a:xfrm flipV="1">
            <a:off x="3337560" y="3108960"/>
            <a:ext cx="640080" cy="9144"/>
          </a:xfrm>
          <a:prstGeom prst="line">
            <a:avLst/>
          </a:prstGeom>
          <a:noFill/>
          <a:ln w="25400">
            <a:solidFill>
              <a:schemeClr val="accent5"/>
            </a:solidFill>
            <a:prstDash val="solid"/>
            <a:tailEnd type="triangle"/>
          </a:ln>
        </p:spPr>
      </p:sp>
      <p:sp>
        <p:nvSpPr>
          <p:cNvPr id="13" name="Shape 10"/>
          <p:cNvSpPr/>
          <p:nvPr/>
        </p:nvSpPr>
        <p:spPr>
          <a:xfrm>
            <a:off x="548640" y="3529584"/>
            <a:ext cx="2743200" cy="502920"/>
          </a:xfrm>
          <a:prstGeom prst="roundRect">
            <a:avLst>
              <a:gd name="adj" fmla="val 10909"/>
            </a:avLst>
          </a:prstGeom>
          <a:solidFill>
            <a:schemeClr val="bg2"/>
          </a:solidFill>
          <a:ln/>
        </p:spPr>
      </p:sp>
      <p:sp>
        <p:nvSpPr>
          <p:cNvPr id="14" name="Text 11"/>
          <p:cNvSpPr txBox="1"/>
          <p:nvPr/>
        </p:nvSpPr>
        <p:spPr>
          <a:xfrm>
            <a:off x="548640" y="3529584"/>
            <a:ext cx="2743200" cy="502920"/>
          </a:xfrm>
          <a:prstGeom prst="rect">
            <a:avLst/>
          </a:prstGeom>
          <a:noFill/>
          <a:ln/>
        </p:spPr>
        <p:txBody>
          <a:bodyPr wrap="square" lIns="0" tIns="0" rIns="0" bIns="0" rtlCol="0" anchor="ctr"/>
          <a:lstStyle/>
          <a:p>
            <a:pPr algn="ctr" indent="0" marL="0">
              <a:buNone/>
            </a:pPr>
            <a:r>
              <a:rPr lang="en-US" sz="1500" dirty="0">
                <a:solidFill>
                  <a:schemeClr val="tx1"/>
                </a:solidFill>
              </a:rPr>
              <a:t>model id, pinned</a:t>
            </a:r>
            <a:endParaRPr lang="en-US" sz="1500" dirty="0"/>
          </a:p>
        </p:txBody>
      </p:sp>
      <p:sp>
        <p:nvSpPr>
          <p:cNvPr id="15" name="Shape 12"/>
          <p:cNvSpPr/>
          <p:nvPr/>
        </p:nvSpPr>
        <p:spPr>
          <a:xfrm flipV="1">
            <a:off x="3337560" y="3108960"/>
            <a:ext cx="640080" cy="667512"/>
          </a:xfrm>
          <a:prstGeom prst="line">
            <a:avLst/>
          </a:prstGeom>
          <a:noFill/>
          <a:ln w="25400">
            <a:solidFill>
              <a:schemeClr val="accent5"/>
            </a:solidFill>
            <a:prstDash val="solid"/>
            <a:tailEnd type="triangle"/>
          </a:ln>
        </p:spPr>
      </p:sp>
      <p:sp>
        <p:nvSpPr>
          <p:cNvPr id="16" name="Shape 13"/>
          <p:cNvSpPr/>
          <p:nvPr/>
        </p:nvSpPr>
        <p:spPr>
          <a:xfrm>
            <a:off x="548640" y="4187952"/>
            <a:ext cx="2743200" cy="502920"/>
          </a:xfrm>
          <a:prstGeom prst="roundRect">
            <a:avLst>
              <a:gd name="adj" fmla="val 10909"/>
            </a:avLst>
          </a:prstGeom>
          <a:solidFill>
            <a:schemeClr val="bg2"/>
          </a:solidFill>
          <a:ln/>
        </p:spPr>
      </p:sp>
      <p:sp>
        <p:nvSpPr>
          <p:cNvPr id="17" name="Text 14"/>
          <p:cNvSpPr txBox="1"/>
          <p:nvPr/>
        </p:nvSpPr>
        <p:spPr>
          <a:xfrm>
            <a:off x="548640" y="4187952"/>
            <a:ext cx="2743200" cy="502920"/>
          </a:xfrm>
          <a:prstGeom prst="rect">
            <a:avLst/>
          </a:prstGeom>
          <a:noFill/>
          <a:ln/>
        </p:spPr>
        <p:txBody>
          <a:bodyPr wrap="square" lIns="0" tIns="0" rIns="0" bIns="0" rtlCol="0" anchor="ctr"/>
          <a:lstStyle/>
          <a:p>
            <a:pPr algn="ctr" indent="0" marL="0">
              <a:buNone/>
            </a:pPr>
            <a:r>
              <a:rPr lang="en-US" sz="1500" dirty="0">
                <a:solidFill>
                  <a:schemeClr val="tx1"/>
                </a:solidFill>
              </a:rPr>
              <a:t>keys of earlier stages</a:t>
            </a:r>
            <a:endParaRPr lang="en-US" sz="1500" dirty="0"/>
          </a:p>
        </p:txBody>
      </p:sp>
      <p:sp>
        <p:nvSpPr>
          <p:cNvPr id="18" name="Shape 15"/>
          <p:cNvSpPr/>
          <p:nvPr/>
        </p:nvSpPr>
        <p:spPr>
          <a:xfrm flipV="1">
            <a:off x="3337560" y="3108960"/>
            <a:ext cx="640080" cy="1325880"/>
          </a:xfrm>
          <a:prstGeom prst="line">
            <a:avLst/>
          </a:prstGeom>
          <a:noFill/>
          <a:ln w="25400">
            <a:solidFill>
              <a:schemeClr val="accent5"/>
            </a:solidFill>
            <a:prstDash val="solid"/>
            <a:tailEnd type="triangle"/>
          </a:ln>
        </p:spPr>
      </p:sp>
      <p:sp>
        <p:nvSpPr>
          <p:cNvPr id="19" name="key"/>
          <p:cNvSpPr/>
          <p:nvPr/>
        </p:nvSpPr>
        <p:spPr>
          <a:xfrm>
            <a:off x="4023360" y="2514600"/>
            <a:ext cx="2011680" cy="1188720"/>
          </a:xfrm>
          <a:prstGeom prst="roundRect">
            <a:avLst>
              <a:gd name="adj" fmla="val 6154"/>
            </a:avLst>
          </a:prstGeom>
          <a:solidFill>
            <a:schemeClr val="accent2"/>
          </a:solidFill>
          <a:ln/>
        </p:spPr>
      </p:sp>
      <p:sp>
        <p:nvSpPr>
          <p:cNvPr id="20" name="key badge"/>
          <p:cNvSpPr/>
          <p:nvPr/>
        </p:nvSpPr>
        <p:spPr>
          <a:xfrm>
            <a:off x="4160520" y="2715768"/>
            <a:ext cx="777240" cy="777240"/>
          </a:xfrm>
          <a:prstGeom prst="ellipse">
            <a:avLst/>
          </a:prstGeom>
          <a:solidFill>
            <a:schemeClr val="tx2"/>
          </a:solidFill>
          <a:ln/>
        </p:spPr>
      </p:sp>
      <p:pic>
        <p:nvPicPr>
          <p:cNvPr id="21" name="key icon" descr="preencoded.png">    </p:cNvPr>
          <p:cNvPicPr>
            <a:picLocks noChangeAspect="1"/>
          </p:cNvPicPr>
          <p:nvPr/>
        </p:nvPicPr>
        <p:blipFill>
          <a:blip r:embed="rId1"/>
          <a:stretch>
            <a:fillRect/>
          </a:stretch>
        </p:blipFill>
        <p:spPr>
          <a:xfrm>
            <a:off x="4354830" y="2910078"/>
            <a:ext cx="388620" cy="388620"/>
          </a:xfrm>
          <a:prstGeom prst="rect">
            <a:avLst/>
          </a:prstGeom>
        </p:spPr>
      </p:pic>
      <p:sp>
        <p:nvSpPr>
          <p:cNvPr id="22" name="Text 18"/>
          <p:cNvSpPr txBox="1"/>
          <p:nvPr/>
        </p:nvSpPr>
        <p:spPr>
          <a:xfrm>
            <a:off x="4983480" y="2514600"/>
            <a:ext cx="1005840" cy="1188720"/>
          </a:xfrm>
          <a:prstGeom prst="rect">
            <a:avLst/>
          </a:prstGeom>
          <a:noFill/>
          <a:ln/>
        </p:spPr>
        <p:txBody>
          <a:bodyPr wrap="square" lIns="0" tIns="0" rIns="0" bIns="0" rtlCol="0" anchor="ctr"/>
          <a:lstStyle/>
          <a:p>
            <a:pPr indent="0" marL="0">
              <a:buNone/>
            </a:pPr>
            <a:r>
              <a:rPr lang="en-US" sz="1600" b="1" dirty="0">
                <a:solidFill>
                  <a:schemeClr val="tx2"/>
                </a:solidFill>
              </a:rPr>
              <a:t>cache key</a:t>
            </a:r>
            <a:endParaRPr lang="en-US" sz="1600" dirty="0"/>
          </a:p>
        </p:txBody>
      </p:sp>
      <p:sp>
        <p:nvSpPr>
          <p:cNvPr id="23" name="Shape 19"/>
          <p:cNvSpPr/>
          <p:nvPr/>
        </p:nvSpPr>
        <p:spPr>
          <a:xfrm>
            <a:off x="6080760" y="3108960"/>
            <a:ext cx="457200" cy="0"/>
          </a:xfrm>
          <a:prstGeom prst="line">
            <a:avLst/>
          </a:prstGeom>
          <a:noFill/>
          <a:ln w="25400">
            <a:solidFill>
              <a:schemeClr val="accent5"/>
            </a:solidFill>
            <a:prstDash val="solid"/>
            <a:tailEnd type="triangle"/>
          </a:ln>
        </p:spPr>
      </p:sp>
      <p:sp>
        <p:nvSpPr>
          <p:cNvPr id="24" name="answer"/>
          <p:cNvSpPr/>
          <p:nvPr/>
        </p:nvSpPr>
        <p:spPr>
          <a:xfrm>
            <a:off x="6583680" y="2514600"/>
            <a:ext cx="1828800" cy="1188720"/>
          </a:xfrm>
          <a:prstGeom prst="roundRect">
            <a:avLst>
              <a:gd name="adj" fmla="val 6154"/>
            </a:avLst>
          </a:prstGeom>
          <a:solidFill>
            <a:schemeClr val="tx2"/>
          </a:solidFill>
          <a:ln/>
        </p:spPr>
      </p:sp>
      <p:sp>
        <p:nvSpPr>
          <p:cNvPr id="25" name="Text 21"/>
          <p:cNvSpPr txBox="1"/>
          <p:nvPr/>
        </p:nvSpPr>
        <p:spPr>
          <a:xfrm>
            <a:off x="6675120" y="2514600"/>
            <a:ext cx="1645920" cy="1188720"/>
          </a:xfrm>
          <a:prstGeom prst="rect">
            <a:avLst/>
          </a:prstGeom>
          <a:noFill/>
          <a:ln/>
        </p:spPr>
        <p:txBody>
          <a:bodyPr wrap="square" lIns="0" tIns="0" rIns="0" bIns="0" rtlCol="0" anchor="ctr"/>
          <a:lstStyle/>
          <a:p>
            <a:pPr algn="ctr" indent="0" marL="0">
              <a:buNone/>
            </a:pPr>
            <a:r>
              <a:rPr lang="en-US" sz="1500" b="1" dirty="0">
                <a:solidFill>
                  <a:schemeClr val="bg1"/>
                </a:solidFill>
              </a:rPr>
              <a:t>cached answer + provenance</a:t>
            </a:r>
            <a:endParaRPr lang="en-US" sz="1500" dirty="0"/>
          </a:p>
        </p:txBody>
      </p:sp>
      <p:sp>
        <p:nvSpPr>
          <p:cNvPr id="26" name="Replay badge"/>
          <p:cNvSpPr/>
          <p:nvPr/>
        </p:nvSpPr>
        <p:spPr>
          <a:xfrm>
            <a:off x="8778240" y="1554480"/>
            <a:ext cx="594360" cy="594360"/>
          </a:xfrm>
          <a:prstGeom prst="ellipse">
            <a:avLst/>
          </a:prstGeom>
          <a:solidFill>
            <a:schemeClr val="accent1"/>
          </a:solidFill>
          <a:ln/>
        </p:spPr>
      </p:sp>
      <p:pic>
        <p:nvPicPr>
          <p:cNvPr id="27" name="Replay icon" descr="preencoded.png">    </p:cNvPr>
          <p:cNvPicPr>
            <a:picLocks noChangeAspect="1"/>
          </p:cNvPicPr>
          <p:nvPr/>
        </p:nvPicPr>
        <p:blipFill>
          <a:blip r:embed="rId2"/>
          <a:stretch>
            <a:fillRect/>
          </a:stretch>
        </p:blipFill>
        <p:spPr>
          <a:xfrm>
            <a:off x="8926830" y="1703070"/>
            <a:ext cx="297180" cy="297180"/>
          </a:xfrm>
          <a:prstGeom prst="rect">
            <a:avLst/>
          </a:prstGeom>
        </p:spPr>
      </p:pic>
      <p:sp>
        <p:nvSpPr>
          <p:cNvPr id="28" name="Text 23"/>
          <p:cNvSpPr txBox="1"/>
          <p:nvPr/>
        </p:nvSpPr>
        <p:spPr>
          <a:xfrm>
            <a:off x="9509760" y="1508760"/>
            <a:ext cx="2133295" cy="365760"/>
          </a:xfrm>
          <a:prstGeom prst="rect">
            <a:avLst/>
          </a:prstGeom>
          <a:noFill/>
          <a:ln/>
        </p:spPr>
        <p:txBody>
          <a:bodyPr wrap="square" lIns="0" tIns="0" rIns="0" bIns="0" rtlCol="0" anchor="t"/>
          <a:lstStyle/>
          <a:p>
            <a:pPr indent="0" marL="0">
              <a:buNone/>
            </a:pPr>
            <a:r>
              <a:rPr lang="en-US" sz="1600" b="1" dirty="0">
                <a:solidFill>
                  <a:schemeClr val="tx2"/>
                </a:solidFill>
              </a:rPr>
              <a:t>Replay</a:t>
            </a:r>
            <a:endParaRPr lang="en-US" sz="1600" dirty="0"/>
          </a:p>
        </p:txBody>
      </p:sp>
      <p:sp>
        <p:nvSpPr>
          <p:cNvPr id="29" name="Text 24"/>
          <p:cNvSpPr txBox="1"/>
          <p:nvPr/>
        </p:nvSpPr>
        <p:spPr>
          <a:xfrm>
            <a:off x="9509760" y="1874520"/>
            <a:ext cx="2133295" cy="640080"/>
          </a:xfrm>
          <a:prstGeom prst="rect">
            <a:avLst/>
          </a:prstGeom>
          <a:noFill/>
          <a:ln/>
        </p:spPr>
        <p:txBody>
          <a:bodyPr wrap="square" lIns="0" tIns="0" rIns="0" bIns="0" rtlCol="0" anchor="t"/>
          <a:lstStyle/>
          <a:p>
            <a:pPr indent="0" marL="0">
              <a:buNone/>
            </a:pPr>
            <a:r>
              <a:rPr lang="en-US" sz="1400" dirty="0">
                <a:solidFill>
                  <a:schemeClr val="tx1"/>
                </a:solidFill>
              </a:rPr>
              <a:t>A past run, exactly, with no model call</a:t>
            </a:r>
            <a:endParaRPr lang="en-US" sz="1400" dirty="0"/>
          </a:p>
        </p:txBody>
      </p:sp>
      <p:sp>
        <p:nvSpPr>
          <p:cNvPr id="30" name="Only what changed runs badge"/>
          <p:cNvSpPr/>
          <p:nvPr/>
        </p:nvSpPr>
        <p:spPr>
          <a:xfrm>
            <a:off x="8778240" y="2743200"/>
            <a:ext cx="594360" cy="594360"/>
          </a:xfrm>
          <a:prstGeom prst="ellipse">
            <a:avLst/>
          </a:prstGeom>
          <a:solidFill>
            <a:schemeClr val="accent1"/>
          </a:solidFill>
          <a:ln/>
        </p:spPr>
      </p:sp>
      <p:pic>
        <p:nvPicPr>
          <p:cNvPr id="31" name="Only what changed runs icon" descr="preencoded.png">    </p:cNvPr>
          <p:cNvPicPr>
            <a:picLocks noChangeAspect="1"/>
          </p:cNvPicPr>
          <p:nvPr/>
        </p:nvPicPr>
        <p:blipFill>
          <a:blip r:embed="rId3"/>
          <a:stretch>
            <a:fillRect/>
          </a:stretch>
        </p:blipFill>
        <p:spPr>
          <a:xfrm>
            <a:off x="8926830" y="2891790"/>
            <a:ext cx="297180" cy="297180"/>
          </a:xfrm>
          <a:prstGeom prst="rect">
            <a:avLst/>
          </a:prstGeom>
        </p:spPr>
      </p:pic>
      <p:sp>
        <p:nvSpPr>
          <p:cNvPr id="32" name="Text 26"/>
          <p:cNvSpPr txBox="1"/>
          <p:nvPr/>
        </p:nvSpPr>
        <p:spPr>
          <a:xfrm>
            <a:off x="9509760" y="2697480"/>
            <a:ext cx="2133295" cy="365760"/>
          </a:xfrm>
          <a:prstGeom prst="rect">
            <a:avLst/>
          </a:prstGeom>
          <a:noFill/>
          <a:ln/>
        </p:spPr>
        <p:txBody>
          <a:bodyPr wrap="square" lIns="0" tIns="0" rIns="0" bIns="0" rtlCol="0" anchor="t"/>
          <a:lstStyle/>
          <a:p>
            <a:pPr indent="0" marL="0">
              <a:buNone/>
            </a:pPr>
            <a:r>
              <a:rPr lang="en-US" sz="1600" b="1" dirty="0">
                <a:solidFill>
                  <a:schemeClr val="tx2"/>
                </a:solidFill>
              </a:rPr>
              <a:t>Only what changed runs</a:t>
            </a:r>
            <a:endParaRPr lang="en-US" sz="1600" dirty="0"/>
          </a:p>
        </p:txBody>
      </p:sp>
      <p:sp>
        <p:nvSpPr>
          <p:cNvPr id="33" name="Text 27"/>
          <p:cNvSpPr txBox="1"/>
          <p:nvPr/>
        </p:nvSpPr>
        <p:spPr>
          <a:xfrm>
            <a:off x="9509760" y="3063240"/>
            <a:ext cx="2133295" cy="640080"/>
          </a:xfrm>
          <a:prstGeom prst="rect">
            <a:avLst/>
          </a:prstGeom>
          <a:noFill/>
          <a:ln/>
        </p:spPr>
        <p:txBody>
          <a:bodyPr wrap="square" lIns="0" tIns="0" rIns="0" bIns="0" rtlCol="0" anchor="t"/>
          <a:lstStyle/>
          <a:p>
            <a:pPr indent="0" marL="0">
              <a:buNone/>
            </a:pPr>
            <a:r>
              <a:rPr lang="en-US" sz="1400" dirty="0">
                <a:solidFill>
                  <a:schemeClr val="tx1"/>
                </a:solidFill>
              </a:rPr>
              <a:t>A cache hit means nothing relevant to that answer changed</a:t>
            </a:r>
            <a:endParaRPr lang="en-US" sz="1400" dirty="0"/>
          </a:p>
        </p:txBody>
      </p:sp>
      <p:sp>
        <p:nvSpPr>
          <p:cNvPr id="34" name="Pinned models badge"/>
          <p:cNvSpPr/>
          <p:nvPr/>
        </p:nvSpPr>
        <p:spPr>
          <a:xfrm>
            <a:off x="8778240" y="3931920"/>
            <a:ext cx="594360" cy="594360"/>
          </a:xfrm>
          <a:prstGeom prst="ellipse">
            <a:avLst/>
          </a:prstGeom>
          <a:solidFill>
            <a:schemeClr val="accent1"/>
          </a:solidFill>
          <a:ln/>
        </p:spPr>
      </p:sp>
      <p:pic>
        <p:nvPicPr>
          <p:cNvPr id="35" name="Pinned models icon" descr="preencoded.png">    </p:cNvPr>
          <p:cNvPicPr>
            <a:picLocks noChangeAspect="1"/>
          </p:cNvPicPr>
          <p:nvPr/>
        </p:nvPicPr>
        <p:blipFill>
          <a:blip r:embed="rId4"/>
          <a:stretch>
            <a:fillRect/>
          </a:stretch>
        </p:blipFill>
        <p:spPr>
          <a:xfrm>
            <a:off x="8926830" y="4080510"/>
            <a:ext cx="297180" cy="297180"/>
          </a:xfrm>
          <a:prstGeom prst="rect">
            <a:avLst/>
          </a:prstGeom>
        </p:spPr>
      </p:pic>
      <p:sp>
        <p:nvSpPr>
          <p:cNvPr id="36" name="Text 29"/>
          <p:cNvSpPr txBox="1"/>
          <p:nvPr/>
        </p:nvSpPr>
        <p:spPr>
          <a:xfrm>
            <a:off x="9509760" y="3886200"/>
            <a:ext cx="2133295" cy="365760"/>
          </a:xfrm>
          <a:prstGeom prst="rect">
            <a:avLst/>
          </a:prstGeom>
          <a:noFill/>
          <a:ln/>
        </p:spPr>
        <p:txBody>
          <a:bodyPr wrap="square" lIns="0" tIns="0" rIns="0" bIns="0" rtlCol="0" anchor="t"/>
          <a:lstStyle/>
          <a:p>
            <a:pPr indent="0" marL="0">
              <a:buNone/>
            </a:pPr>
            <a:r>
              <a:rPr lang="en-US" sz="1600" b="1" dirty="0">
                <a:solidFill>
                  <a:schemeClr val="tx2"/>
                </a:solidFill>
              </a:rPr>
              <a:t>Pinned models</a:t>
            </a:r>
            <a:endParaRPr lang="en-US" sz="1600" dirty="0"/>
          </a:p>
        </p:txBody>
      </p:sp>
      <p:sp>
        <p:nvSpPr>
          <p:cNvPr id="37" name="Text 30"/>
          <p:cNvSpPr txBox="1"/>
          <p:nvPr/>
        </p:nvSpPr>
        <p:spPr>
          <a:xfrm>
            <a:off x="9509760" y="4251960"/>
            <a:ext cx="2133295" cy="640080"/>
          </a:xfrm>
          <a:prstGeom prst="rect">
            <a:avLst/>
          </a:prstGeom>
          <a:noFill/>
          <a:ln/>
        </p:spPr>
        <p:txBody>
          <a:bodyPr wrap="square" lIns="0" tIns="0" rIns="0" bIns="0" rtlCol="0" anchor="t"/>
          <a:lstStyle/>
          <a:p>
            <a:pPr indent="0" marL="0">
              <a:buNone/>
            </a:pPr>
            <a:r>
              <a:rPr lang="en-US" sz="1400" dirty="0">
                <a:solidFill>
                  <a:schemeClr val="tx1"/>
                </a:solidFill>
              </a:rPr>
              <a:t>An Ollama tag is pinned by its digest</a:t>
            </a:r>
            <a:endParaRPr lang="en-US" sz="1400" dirty="0"/>
          </a:p>
        </p:txBody>
      </p:sp>
      <p:sp>
        <p:nvSpPr>
          <p:cNvPr id="38" name="Text 31"/>
          <p:cNvSpPr txBox="1"/>
          <p:nvPr/>
        </p:nvSpPr>
        <p:spPr>
          <a:xfrm>
            <a:off x="548640" y="5394960"/>
            <a:ext cx="11094415" cy="411480"/>
          </a:xfrm>
          <a:prstGeom prst="rect">
            <a:avLst/>
          </a:prstGeom>
          <a:noFill/>
          <a:ln/>
        </p:spPr>
        <p:txBody>
          <a:bodyPr wrap="square" lIns="0" tIns="0" rIns="0" bIns="0" rtlCol="0" anchor="t"/>
          <a:lstStyle/>
          <a:p>
            <a:pPr indent="0" marL="0">
              <a:buNone/>
            </a:pPr>
            <a:r>
              <a:rPr lang="en-US" sz="1800" i="1" dirty="0">
                <a:solidFill>
                  <a:schemeClr val="accent1"/>
                </a:solidFill>
              </a:rPr>
              <a:t>A model is reached only on a cache miss: never during a plan, and never during a replay.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828800" cy="128016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2</a:t>
            </a:r>
            <a:endParaRPr lang="en-US" sz="9600" dirty="0"/>
          </a:p>
        </p:txBody>
      </p:sp>
      <p:sp>
        <p:nvSpPr>
          <p:cNvPr id="3" name="Text 0"/>
          <p:cNvSpPr/>
          <p:nvPr>
            <p:ph idx="101" type="title" hasCustomPrompt="1"/>
          </p:nvPr>
        </p:nvSpPr>
        <p:spPr>
          <a:xfrm>
            <a:off x="548640" y="3200400"/>
            <a:ext cx="11094415"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What it does today</a:t>
            </a:r>
            <a:endParaRPr lang="en-US" sz="4400" dirty="0"/>
          </a:p>
        </p:txBody>
      </p:sp>
      <p:sp>
        <p:nvSpPr>
          <p:cNvPr id="4" name="Text 0"/>
          <p:cNvSpPr/>
          <p:nvPr>
            <p:ph idx="102" type="body" hasCustomPrompt="1"/>
          </p:nvPr>
        </p:nvSpPr>
        <p:spPr>
          <a:xfrm>
            <a:off x="548640" y="4206240"/>
            <a:ext cx="9601200" cy="914400"/>
          </a:xfrm>
          <a:prstGeom prst="rect">
            <a:avLst/>
          </a:prstGeom>
          <a:noFill/>
          <a:ln/>
        </p:spPr>
        <p:txBody>
          <a:bodyPr wrap="square" lIns="0" tIns="0" rIns="0" bIns="0" rtlCol="0" anchor="t"/>
          <a:lstStyle/>
          <a:p>
            <a:pPr indent="0" marL="0">
              <a:buNone/>
            </a:pPr>
            <a:r>
              <a:rPr lang="en-US" sz="2200" dirty="0">
                <a:solidFill>
                  <a:schemeClr val="accent6"/>
                </a:solidFill>
              </a:rPr>
              <a:t>A document's way through dossier, from the source to a search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Sources and sync</a:t>
            </a:r>
            <a:endParaRPr lang="en-US" sz="3600" dirty="0"/>
          </a:p>
        </p:txBody>
      </p:sp>
      <p:sp>
        <p:nvSpPr>
          <p:cNvPr id="4" name="Folder"/>
          <p:cNvSpPr/>
          <p:nvPr/>
        </p:nvSpPr>
        <p:spPr>
          <a:xfrm>
            <a:off x="548640" y="1554480"/>
            <a:ext cx="2567864" cy="1965960"/>
          </a:xfrm>
          <a:prstGeom prst="roundRect">
            <a:avLst>
              <a:gd name="adj" fmla="val 3721"/>
            </a:avLst>
          </a:prstGeom>
          <a:solidFill>
            <a:schemeClr val="bg2"/>
          </a:solidFill>
          <a:ln/>
        </p:spPr>
      </p:sp>
      <p:sp>
        <p:nvSpPr>
          <p:cNvPr id="5" name="Folder badge"/>
          <p:cNvSpPr/>
          <p:nvPr/>
        </p:nvSpPr>
        <p:spPr>
          <a:xfrm>
            <a:off x="822960" y="1783080"/>
            <a:ext cx="685800" cy="685800"/>
          </a:xfrm>
          <a:prstGeom prst="ellipse">
            <a:avLst/>
          </a:prstGeom>
          <a:solidFill>
            <a:schemeClr val="accent1"/>
          </a:solidFill>
          <a:ln/>
        </p:spPr>
      </p:sp>
      <p:pic>
        <p:nvPicPr>
          <p:cNvPr id="6" name="Folder icon" descr="preencoded.png">    </p:cNvPr>
          <p:cNvPicPr>
            <a:picLocks noChangeAspect="1"/>
          </p:cNvPicPr>
          <p:nvPr/>
        </p:nvPicPr>
        <p:blipFill>
          <a:blip r:embed="rId1"/>
          <a:stretch>
            <a:fillRect/>
          </a:stretch>
        </p:blipFill>
        <p:spPr>
          <a:xfrm>
            <a:off x="994410" y="1954530"/>
            <a:ext cx="342900" cy="342900"/>
          </a:xfrm>
          <a:prstGeom prst="rect">
            <a:avLst/>
          </a:prstGeom>
        </p:spPr>
      </p:pic>
      <p:sp>
        <p:nvSpPr>
          <p:cNvPr id="7" name="Text 3"/>
          <p:cNvSpPr txBox="1"/>
          <p:nvPr/>
        </p:nvSpPr>
        <p:spPr>
          <a:xfrm>
            <a:off x="1645920" y="1828800"/>
            <a:ext cx="1379144" cy="594360"/>
          </a:xfrm>
          <a:prstGeom prst="rect">
            <a:avLst/>
          </a:prstGeom>
          <a:noFill/>
          <a:ln/>
        </p:spPr>
        <p:txBody>
          <a:bodyPr wrap="square" lIns="0" tIns="0" rIns="0" bIns="0" rtlCol="0" anchor="ctr"/>
          <a:lstStyle/>
          <a:p>
            <a:pPr indent="0" marL="0">
              <a:buNone/>
            </a:pPr>
            <a:r>
              <a:rPr lang="en-US" sz="2000" b="1" dirty="0">
                <a:solidFill>
                  <a:schemeClr val="tx2"/>
                </a:solidFill>
              </a:rPr>
              <a:t>Folder</a:t>
            </a:r>
            <a:endParaRPr lang="en-US" sz="2000" dirty="0"/>
          </a:p>
        </p:txBody>
      </p:sp>
      <p:sp>
        <p:nvSpPr>
          <p:cNvPr id="8" name="Text 4"/>
          <p:cNvSpPr txBox="1"/>
          <p:nvPr/>
        </p:nvSpPr>
        <p:spPr>
          <a:xfrm>
            <a:off x="822960" y="2651760"/>
            <a:ext cx="2019224" cy="777240"/>
          </a:xfrm>
          <a:prstGeom prst="rect">
            <a:avLst/>
          </a:prstGeom>
          <a:noFill/>
          <a:ln/>
        </p:spPr>
        <p:txBody>
          <a:bodyPr wrap="square" lIns="0" tIns="0" rIns="0" bIns="0" rtlCol="0" anchor="t"/>
          <a:lstStyle/>
          <a:p>
            <a:pPr indent="0" marL="0">
              <a:buNone/>
            </a:pPr>
            <a:r>
              <a:rPr lang="en-US" sz="1500" dirty="0">
                <a:solidFill>
                  <a:schemeClr val="tx1"/>
                </a:solidFill>
              </a:rPr>
              <a:t>Files on disk, by path</a:t>
            </a:r>
            <a:endParaRPr lang="en-US" sz="1500" dirty="0"/>
          </a:p>
        </p:txBody>
      </p:sp>
      <p:sp>
        <p:nvSpPr>
          <p:cNvPr id="9" name="Jira"/>
          <p:cNvSpPr/>
          <p:nvPr/>
        </p:nvSpPr>
        <p:spPr>
          <a:xfrm>
            <a:off x="3390824" y="1554480"/>
            <a:ext cx="2567864" cy="1965960"/>
          </a:xfrm>
          <a:prstGeom prst="roundRect">
            <a:avLst>
              <a:gd name="adj" fmla="val 3721"/>
            </a:avLst>
          </a:prstGeom>
          <a:solidFill>
            <a:schemeClr val="bg2"/>
          </a:solidFill>
          <a:ln/>
        </p:spPr>
      </p:sp>
      <p:sp>
        <p:nvSpPr>
          <p:cNvPr id="10" name="Jira badge"/>
          <p:cNvSpPr/>
          <p:nvPr/>
        </p:nvSpPr>
        <p:spPr>
          <a:xfrm>
            <a:off x="3665144" y="1783080"/>
            <a:ext cx="685800" cy="685800"/>
          </a:xfrm>
          <a:prstGeom prst="ellipse">
            <a:avLst/>
          </a:prstGeom>
          <a:solidFill>
            <a:schemeClr val="accent1"/>
          </a:solidFill>
          <a:ln/>
        </p:spPr>
      </p:sp>
      <p:pic>
        <p:nvPicPr>
          <p:cNvPr id="11" name="Jira icon" descr="preencoded.png">    </p:cNvPr>
          <p:cNvPicPr>
            <a:picLocks noChangeAspect="1"/>
          </p:cNvPicPr>
          <p:nvPr/>
        </p:nvPicPr>
        <p:blipFill>
          <a:blip r:embed="rId2"/>
          <a:stretch>
            <a:fillRect/>
          </a:stretch>
        </p:blipFill>
        <p:spPr>
          <a:xfrm>
            <a:off x="3836594" y="1954530"/>
            <a:ext cx="342900" cy="342900"/>
          </a:xfrm>
          <a:prstGeom prst="rect">
            <a:avLst/>
          </a:prstGeom>
        </p:spPr>
      </p:pic>
      <p:sp>
        <p:nvSpPr>
          <p:cNvPr id="12" name="Text 7"/>
          <p:cNvSpPr txBox="1"/>
          <p:nvPr/>
        </p:nvSpPr>
        <p:spPr>
          <a:xfrm>
            <a:off x="4488104" y="1828800"/>
            <a:ext cx="1379144" cy="594360"/>
          </a:xfrm>
          <a:prstGeom prst="rect">
            <a:avLst/>
          </a:prstGeom>
          <a:noFill/>
          <a:ln/>
        </p:spPr>
        <p:txBody>
          <a:bodyPr wrap="square" lIns="0" tIns="0" rIns="0" bIns="0" rtlCol="0" anchor="ctr"/>
          <a:lstStyle/>
          <a:p>
            <a:pPr indent="0" marL="0">
              <a:buNone/>
            </a:pPr>
            <a:r>
              <a:rPr lang="en-US" sz="2000" b="1" dirty="0">
                <a:solidFill>
                  <a:schemeClr val="tx2"/>
                </a:solidFill>
              </a:rPr>
              <a:t>Jira</a:t>
            </a:r>
            <a:endParaRPr lang="en-US" sz="2000" dirty="0"/>
          </a:p>
        </p:txBody>
      </p:sp>
      <p:sp>
        <p:nvSpPr>
          <p:cNvPr id="13" name="Text 8"/>
          <p:cNvSpPr txBox="1"/>
          <p:nvPr/>
        </p:nvSpPr>
        <p:spPr>
          <a:xfrm>
            <a:off x="3665144" y="2651760"/>
            <a:ext cx="2019224" cy="777240"/>
          </a:xfrm>
          <a:prstGeom prst="rect">
            <a:avLst/>
          </a:prstGeom>
          <a:noFill/>
          <a:ln/>
        </p:spPr>
        <p:txBody>
          <a:bodyPr wrap="square" lIns="0" tIns="0" rIns="0" bIns="0" rtlCol="0" anchor="t"/>
          <a:lstStyle/>
          <a:p>
            <a:pPr indent="0" marL="0">
              <a:buNone/>
            </a:pPr>
            <a:r>
              <a:rPr lang="en-US" sz="1500" dirty="0">
                <a:solidFill>
                  <a:schemeClr val="tx1"/>
                </a:solidFill>
              </a:rPr>
              <a:t>Issues, with comments and attachments</a:t>
            </a:r>
            <a:endParaRPr lang="en-US" sz="1500" dirty="0"/>
          </a:p>
        </p:txBody>
      </p:sp>
      <p:sp>
        <p:nvSpPr>
          <p:cNvPr id="14" name="Confluence"/>
          <p:cNvSpPr/>
          <p:nvPr/>
        </p:nvSpPr>
        <p:spPr>
          <a:xfrm>
            <a:off x="6233008" y="1554480"/>
            <a:ext cx="2567864" cy="1965960"/>
          </a:xfrm>
          <a:prstGeom prst="roundRect">
            <a:avLst>
              <a:gd name="adj" fmla="val 3721"/>
            </a:avLst>
          </a:prstGeom>
          <a:solidFill>
            <a:schemeClr val="bg2"/>
          </a:solidFill>
          <a:ln/>
        </p:spPr>
      </p:sp>
      <p:sp>
        <p:nvSpPr>
          <p:cNvPr id="15" name="Confluence badge"/>
          <p:cNvSpPr/>
          <p:nvPr/>
        </p:nvSpPr>
        <p:spPr>
          <a:xfrm>
            <a:off x="6507328" y="1783080"/>
            <a:ext cx="685800" cy="685800"/>
          </a:xfrm>
          <a:prstGeom prst="ellipse">
            <a:avLst/>
          </a:prstGeom>
          <a:solidFill>
            <a:schemeClr val="accent1"/>
          </a:solidFill>
          <a:ln/>
        </p:spPr>
      </p:sp>
      <p:pic>
        <p:nvPicPr>
          <p:cNvPr id="16" name="Confluence icon" descr="preencoded.png">    </p:cNvPr>
          <p:cNvPicPr>
            <a:picLocks noChangeAspect="1"/>
          </p:cNvPicPr>
          <p:nvPr/>
        </p:nvPicPr>
        <p:blipFill>
          <a:blip r:embed="rId3"/>
          <a:stretch>
            <a:fillRect/>
          </a:stretch>
        </p:blipFill>
        <p:spPr>
          <a:xfrm>
            <a:off x="6678778" y="1954530"/>
            <a:ext cx="342900" cy="342900"/>
          </a:xfrm>
          <a:prstGeom prst="rect">
            <a:avLst/>
          </a:prstGeom>
        </p:spPr>
      </p:pic>
      <p:sp>
        <p:nvSpPr>
          <p:cNvPr id="17" name="Text 11"/>
          <p:cNvSpPr txBox="1"/>
          <p:nvPr/>
        </p:nvSpPr>
        <p:spPr>
          <a:xfrm>
            <a:off x="7330288" y="1828800"/>
            <a:ext cx="1379144" cy="594360"/>
          </a:xfrm>
          <a:prstGeom prst="rect">
            <a:avLst/>
          </a:prstGeom>
          <a:noFill/>
          <a:ln/>
        </p:spPr>
        <p:txBody>
          <a:bodyPr wrap="square" lIns="0" tIns="0" rIns="0" bIns="0" rtlCol="0" anchor="ctr"/>
          <a:lstStyle/>
          <a:p>
            <a:pPr indent="0" marL="0">
              <a:buNone/>
            </a:pPr>
            <a:r>
              <a:rPr lang="en-US" sz="2000" b="1" dirty="0">
                <a:solidFill>
                  <a:schemeClr val="tx2"/>
                </a:solidFill>
              </a:rPr>
              <a:t>Confluence</a:t>
            </a:r>
            <a:endParaRPr lang="en-US" sz="2000" dirty="0"/>
          </a:p>
        </p:txBody>
      </p:sp>
      <p:sp>
        <p:nvSpPr>
          <p:cNvPr id="18" name="Text 12"/>
          <p:cNvSpPr txBox="1"/>
          <p:nvPr/>
        </p:nvSpPr>
        <p:spPr>
          <a:xfrm>
            <a:off x="6507328" y="2651760"/>
            <a:ext cx="2019224" cy="777240"/>
          </a:xfrm>
          <a:prstGeom prst="rect">
            <a:avLst/>
          </a:prstGeom>
          <a:noFill/>
          <a:ln/>
        </p:spPr>
        <p:txBody>
          <a:bodyPr wrap="square" lIns="0" tIns="0" rIns="0" bIns="0" rtlCol="0" anchor="t"/>
          <a:lstStyle/>
          <a:p>
            <a:pPr indent="0" marL="0">
              <a:buNone/>
            </a:pPr>
            <a:r>
              <a:rPr lang="en-US" sz="1500" dirty="0">
                <a:solidFill>
                  <a:schemeClr val="tx1"/>
                </a:solidFill>
              </a:rPr>
              <a:t>Pages, their files, and a PDF export</a:t>
            </a:r>
            <a:endParaRPr lang="en-US" sz="1500" dirty="0"/>
          </a:p>
        </p:txBody>
      </p:sp>
      <p:sp>
        <p:nvSpPr>
          <p:cNvPr id="19" name="Website"/>
          <p:cNvSpPr/>
          <p:nvPr/>
        </p:nvSpPr>
        <p:spPr>
          <a:xfrm>
            <a:off x="9075191" y="1554480"/>
            <a:ext cx="2567864" cy="1965960"/>
          </a:xfrm>
          <a:prstGeom prst="roundRect">
            <a:avLst>
              <a:gd name="adj" fmla="val 3721"/>
            </a:avLst>
          </a:prstGeom>
          <a:solidFill>
            <a:schemeClr val="bg2"/>
          </a:solidFill>
          <a:ln/>
        </p:spPr>
      </p:sp>
      <p:sp>
        <p:nvSpPr>
          <p:cNvPr id="20" name="Website badge"/>
          <p:cNvSpPr/>
          <p:nvPr/>
        </p:nvSpPr>
        <p:spPr>
          <a:xfrm>
            <a:off x="9349511" y="1783080"/>
            <a:ext cx="685800" cy="685800"/>
          </a:xfrm>
          <a:prstGeom prst="ellipse">
            <a:avLst/>
          </a:prstGeom>
          <a:solidFill>
            <a:schemeClr val="accent1"/>
          </a:solidFill>
          <a:ln/>
        </p:spPr>
      </p:sp>
      <p:pic>
        <p:nvPicPr>
          <p:cNvPr id="21" name="Website icon" descr="preencoded.png">    </p:cNvPr>
          <p:cNvPicPr>
            <a:picLocks noChangeAspect="1"/>
          </p:cNvPicPr>
          <p:nvPr/>
        </p:nvPicPr>
        <p:blipFill>
          <a:blip r:embed="rId4"/>
          <a:stretch>
            <a:fillRect/>
          </a:stretch>
        </p:blipFill>
        <p:spPr>
          <a:xfrm>
            <a:off x="9520961" y="1954530"/>
            <a:ext cx="342900" cy="342900"/>
          </a:xfrm>
          <a:prstGeom prst="rect">
            <a:avLst/>
          </a:prstGeom>
        </p:spPr>
      </p:pic>
      <p:sp>
        <p:nvSpPr>
          <p:cNvPr id="22" name="Text 15"/>
          <p:cNvSpPr txBox="1"/>
          <p:nvPr/>
        </p:nvSpPr>
        <p:spPr>
          <a:xfrm>
            <a:off x="10172471" y="1828800"/>
            <a:ext cx="1379144" cy="594360"/>
          </a:xfrm>
          <a:prstGeom prst="rect">
            <a:avLst/>
          </a:prstGeom>
          <a:noFill/>
          <a:ln/>
        </p:spPr>
        <p:txBody>
          <a:bodyPr wrap="square" lIns="0" tIns="0" rIns="0" bIns="0" rtlCol="0" anchor="ctr"/>
          <a:lstStyle/>
          <a:p>
            <a:pPr indent="0" marL="0">
              <a:buNone/>
            </a:pPr>
            <a:r>
              <a:rPr lang="en-US" sz="2000" b="1" dirty="0">
                <a:solidFill>
                  <a:schemeClr val="tx2"/>
                </a:solidFill>
              </a:rPr>
              <a:t>Website</a:t>
            </a:r>
            <a:endParaRPr lang="en-US" sz="2000" dirty="0"/>
          </a:p>
        </p:txBody>
      </p:sp>
      <p:sp>
        <p:nvSpPr>
          <p:cNvPr id="23" name="Text 16"/>
          <p:cNvSpPr txBox="1"/>
          <p:nvPr/>
        </p:nvSpPr>
        <p:spPr>
          <a:xfrm>
            <a:off x="9349511" y="2651760"/>
            <a:ext cx="2019224" cy="777240"/>
          </a:xfrm>
          <a:prstGeom prst="rect">
            <a:avLst/>
          </a:prstGeom>
          <a:noFill/>
          <a:ln/>
        </p:spPr>
        <p:txBody>
          <a:bodyPr wrap="square" lIns="0" tIns="0" rIns="0" bIns="0" rtlCol="0" anchor="t"/>
          <a:lstStyle/>
          <a:p>
            <a:pPr indent="0" marL="0">
              <a:buNone/>
            </a:pPr>
            <a:r>
              <a:rPr lang="en-US" sz="1500" dirty="0">
                <a:solidFill>
                  <a:schemeClr val="tx1"/>
                </a:solidFill>
              </a:rPr>
              <a:t>From its sitemap or a crawl, drawn by a browser if asked</a:t>
            </a:r>
            <a:endParaRPr lang="en-US" sz="1500" dirty="0"/>
          </a:p>
        </p:txBody>
      </p:sp>
      <p:sp>
        <p:nvSpPr>
          <p:cNvPr id="24" name="Incremental badge"/>
          <p:cNvSpPr/>
          <p:nvPr/>
        </p:nvSpPr>
        <p:spPr>
          <a:xfrm>
            <a:off x="548640" y="3886200"/>
            <a:ext cx="548640" cy="548640"/>
          </a:xfrm>
          <a:prstGeom prst="ellipse">
            <a:avLst/>
          </a:prstGeom>
          <a:solidFill>
            <a:schemeClr val="accent2"/>
          </a:solidFill>
          <a:ln/>
        </p:spPr>
      </p:sp>
      <p:pic>
        <p:nvPicPr>
          <p:cNvPr id="25" name="Incremental icon" descr="preencoded.png">    </p:cNvPr>
          <p:cNvPicPr>
            <a:picLocks noChangeAspect="1"/>
          </p:cNvPicPr>
          <p:nvPr/>
        </p:nvPicPr>
        <p:blipFill>
          <a:blip r:embed="rId5"/>
          <a:stretch>
            <a:fillRect/>
          </a:stretch>
        </p:blipFill>
        <p:spPr>
          <a:xfrm>
            <a:off x="685800" y="4023360"/>
            <a:ext cx="274320" cy="274320"/>
          </a:xfrm>
          <a:prstGeom prst="rect">
            <a:avLst/>
          </a:prstGeom>
        </p:spPr>
      </p:pic>
      <p:sp>
        <p:nvSpPr>
          <p:cNvPr id="26" name="Text 18"/>
          <p:cNvSpPr txBox="1"/>
          <p:nvPr/>
        </p:nvSpPr>
        <p:spPr>
          <a:xfrm>
            <a:off x="1280160" y="3840480"/>
            <a:ext cx="4632808" cy="347472"/>
          </a:xfrm>
          <a:prstGeom prst="rect">
            <a:avLst/>
          </a:prstGeom>
          <a:noFill/>
          <a:ln/>
        </p:spPr>
        <p:txBody>
          <a:bodyPr wrap="square" lIns="0" tIns="0" rIns="0" bIns="0" rtlCol="0" anchor="t"/>
          <a:lstStyle/>
          <a:p>
            <a:pPr indent="0" marL="0">
              <a:buNone/>
            </a:pPr>
            <a:r>
              <a:rPr lang="en-US" sz="1700" b="1" dirty="0">
                <a:solidFill>
                  <a:schemeClr val="tx2"/>
                </a:solidFill>
              </a:rPr>
              <a:t>Incremental</a:t>
            </a:r>
            <a:endParaRPr lang="en-US" sz="1700" dirty="0"/>
          </a:p>
        </p:txBody>
      </p:sp>
      <p:sp>
        <p:nvSpPr>
          <p:cNvPr id="27" name="Text 19"/>
          <p:cNvSpPr txBox="1"/>
          <p:nvPr/>
        </p:nvSpPr>
        <p:spPr>
          <a:xfrm>
            <a:off x="1280160" y="4187952"/>
            <a:ext cx="4632808" cy="594360"/>
          </a:xfrm>
          <a:prstGeom prst="rect">
            <a:avLst/>
          </a:prstGeom>
          <a:noFill/>
          <a:ln/>
        </p:spPr>
        <p:txBody>
          <a:bodyPr wrap="square" lIns="0" tIns="0" rIns="0" bIns="0" rtlCol="0" anchor="t"/>
          <a:lstStyle/>
          <a:p>
            <a:pPr indent="0" marL="0">
              <a:buNone/>
            </a:pPr>
            <a:r>
              <a:rPr lang="en-US" sz="1400" dirty="0">
                <a:solidFill>
                  <a:schemeClr val="tx1"/>
                </a:solidFill>
              </a:rPr>
              <a:t>Asks only for what changed since the last sync, with an overlap at the edge</a:t>
            </a:r>
            <a:endParaRPr lang="en-US" sz="1400" dirty="0"/>
          </a:p>
        </p:txBody>
      </p:sp>
      <p:sp>
        <p:nvSpPr>
          <p:cNvPr id="28" name="Read only badge"/>
          <p:cNvSpPr/>
          <p:nvPr/>
        </p:nvSpPr>
        <p:spPr>
          <a:xfrm>
            <a:off x="6278728" y="3886200"/>
            <a:ext cx="548640" cy="548640"/>
          </a:xfrm>
          <a:prstGeom prst="ellipse">
            <a:avLst/>
          </a:prstGeom>
          <a:solidFill>
            <a:schemeClr val="accent2"/>
          </a:solidFill>
          <a:ln/>
        </p:spPr>
      </p:sp>
      <p:pic>
        <p:nvPicPr>
          <p:cNvPr id="29" name="Read only icon" descr="preencoded.png">    </p:cNvPr>
          <p:cNvPicPr>
            <a:picLocks noChangeAspect="1"/>
          </p:cNvPicPr>
          <p:nvPr/>
        </p:nvPicPr>
        <p:blipFill>
          <a:blip r:embed="rId6"/>
          <a:stretch>
            <a:fillRect/>
          </a:stretch>
        </p:blipFill>
        <p:spPr>
          <a:xfrm>
            <a:off x="6415888" y="4023360"/>
            <a:ext cx="274320" cy="274320"/>
          </a:xfrm>
          <a:prstGeom prst="rect">
            <a:avLst/>
          </a:prstGeom>
        </p:spPr>
      </p:pic>
      <p:sp>
        <p:nvSpPr>
          <p:cNvPr id="30" name="Text 21"/>
          <p:cNvSpPr txBox="1"/>
          <p:nvPr/>
        </p:nvSpPr>
        <p:spPr>
          <a:xfrm>
            <a:off x="7010248" y="3840480"/>
            <a:ext cx="4632808" cy="347472"/>
          </a:xfrm>
          <a:prstGeom prst="rect">
            <a:avLst/>
          </a:prstGeom>
          <a:noFill/>
          <a:ln/>
        </p:spPr>
        <p:txBody>
          <a:bodyPr wrap="square" lIns="0" tIns="0" rIns="0" bIns="0" rtlCol="0" anchor="t"/>
          <a:lstStyle/>
          <a:p>
            <a:pPr indent="0" marL="0">
              <a:buNone/>
            </a:pPr>
            <a:r>
              <a:rPr lang="en-US" sz="1700" b="1" dirty="0">
                <a:solidFill>
                  <a:schemeClr val="tx2"/>
                </a:solidFill>
              </a:rPr>
              <a:t>Read only</a:t>
            </a:r>
            <a:endParaRPr lang="en-US" sz="1700" dirty="0"/>
          </a:p>
        </p:txBody>
      </p:sp>
      <p:sp>
        <p:nvSpPr>
          <p:cNvPr id="31" name="Text 22"/>
          <p:cNvSpPr txBox="1"/>
          <p:nvPr/>
        </p:nvSpPr>
        <p:spPr>
          <a:xfrm>
            <a:off x="7010248" y="4187952"/>
            <a:ext cx="4632808" cy="594360"/>
          </a:xfrm>
          <a:prstGeom prst="rect">
            <a:avLst/>
          </a:prstGeom>
          <a:noFill/>
          <a:ln/>
        </p:spPr>
        <p:txBody>
          <a:bodyPr wrap="square" lIns="0" tIns="0" rIns="0" bIns="0" rtlCol="0" anchor="t"/>
          <a:lstStyle/>
          <a:p>
            <a:pPr indent="0" marL="0">
              <a:buNone/>
            </a:pPr>
            <a:r>
              <a:rPr lang="en-US" sz="1400" dirty="0">
                <a:solidFill>
                  <a:schemeClr val="tx1"/>
                </a:solidFill>
              </a:rPr>
              <a:t>A connector never writes to the source, and keeps each payload byte for byte</a:t>
            </a:r>
            <a:endParaRPr lang="en-US" sz="1400" dirty="0"/>
          </a:p>
        </p:txBody>
      </p:sp>
      <p:sp>
        <p:nvSpPr>
          <p:cNvPr id="32" name="Gone, but kept badge"/>
          <p:cNvSpPr/>
          <p:nvPr/>
        </p:nvSpPr>
        <p:spPr>
          <a:xfrm>
            <a:off x="548640" y="4983480"/>
            <a:ext cx="548640" cy="548640"/>
          </a:xfrm>
          <a:prstGeom prst="ellipse">
            <a:avLst/>
          </a:prstGeom>
          <a:solidFill>
            <a:schemeClr val="accent2"/>
          </a:solidFill>
          <a:ln/>
        </p:spPr>
      </p:sp>
      <p:pic>
        <p:nvPicPr>
          <p:cNvPr id="33" name="Gone, but kept icon" descr="preencoded.png">    </p:cNvPr>
          <p:cNvPicPr>
            <a:picLocks noChangeAspect="1"/>
          </p:cNvPicPr>
          <p:nvPr/>
        </p:nvPicPr>
        <p:blipFill>
          <a:blip r:embed="rId7"/>
          <a:stretch>
            <a:fillRect/>
          </a:stretch>
        </p:blipFill>
        <p:spPr>
          <a:xfrm>
            <a:off x="685800" y="5120640"/>
            <a:ext cx="274320" cy="274320"/>
          </a:xfrm>
          <a:prstGeom prst="rect">
            <a:avLst/>
          </a:prstGeom>
        </p:spPr>
      </p:pic>
      <p:sp>
        <p:nvSpPr>
          <p:cNvPr id="34" name="Text 24"/>
          <p:cNvSpPr txBox="1"/>
          <p:nvPr/>
        </p:nvSpPr>
        <p:spPr>
          <a:xfrm>
            <a:off x="1280160" y="4937760"/>
            <a:ext cx="4632808" cy="347472"/>
          </a:xfrm>
          <a:prstGeom prst="rect">
            <a:avLst/>
          </a:prstGeom>
          <a:noFill/>
          <a:ln/>
        </p:spPr>
        <p:txBody>
          <a:bodyPr wrap="square" lIns="0" tIns="0" rIns="0" bIns="0" rtlCol="0" anchor="t"/>
          <a:lstStyle/>
          <a:p>
            <a:pPr indent="0" marL="0">
              <a:buNone/>
            </a:pPr>
            <a:r>
              <a:rPr lang="en-US" sz="1700" b="1" dirty="0">
                <a:solidFill>
                  <a:schemeClr val="tx2"/>
                </a:solidFill>
              </a:rPr>
              <a:t>Gone, but kept</a:t>
            </a:r>
            <a:endParaRPr lang="en-US" sz="1700" dirty="0"/>
          </a:p>
        </p:txBody>
      </p:sp>
      <p:sp>
        <p:nvSpPr>
          <p:cNvPr id="35" name="Text 25"/>
          <p:cNvSpPr txBox="1"/>
          <p:nvPr/>
        </p:nvSpPr>
        <p:spPr>
          <a:xfrm>
            <a:off x="1280160" y="5285232"/>
            <a:ext cx="4632808" cy="594360"/>
          </a:xfrm>
          <a:prstGeom prst="rect">
            <a:avLst/>
          </a:prstGeom>
          <a:noFill/>
          <a:ln/>
        </p:spPr>
        <p:txBody>
          <a:bodyPr wrap="square" lIns="0" tIns="0" rIns="0" bIns="0" rtlCol="0" anchor="t"/>
          <a:lstStyle/>
          <a:p>
            <a:pPr indent="0" marL="0">
              <a:buNone/>
            </a:pPr>
            <a:r>
              <a:rPr lang="en-US" sz="1400" dirty="0">
                <a:solidFill>
                  <a:schemeClr val="tx1"/>
                </a:solidFill>
              </a:rPr>
              <a:t>A document removed from its source is kept, marked as a tombstone</a:t>
            </a:r>
            <a:endParaRPr lang="en-US" sz="1400" dirty="0"/>
          </a:p>
        </p:txBody>
      </p:sp>
      <p:sp>
        <p:nvSpPr>
          <p:cNvPr id="36" name="Owed badge"/>
          <p:cNvSpPr/>
          <p:nvPr/>
        </p:nvSpPr>
        <p:spPr>
          <a:xfrm>
            <a:off x="6278728" y="4983480"/>
            <a:ext cx="548640" cy="548640"/>
          </a:xfrm>
          <a:prstGeom prst="ellipse">
            <a:avLst/>
          </a:prstGeom>
          <a:solidFill>
            <a:schemeClr val="accent2"/>
          </a:solidFill>
          <a:ln/>
        </p:spPr>
      </p:sp>
      <p:pic>
        <p:nvPicPr>
          <p:cNvPr id="37" name="Owed icon" descr="preencoded.png">    </p:cNvPr>
          <p:cNvPicPr>
            <a:picLocks noChangeAspect="1"/>
          </p:cNvPicPr>
          <p:nvPr/>
        </p:nvPicPr>
        <p:blipFill>
          <a:blip r:embed="rId8"/>
          <a:stretch>
            <a:fillRect/>
          </a:stretch>
        </p:blipFill>
        <p:spPr>
          <a:xfrm>
            <a:off x="6415888" y="5120640"/>
            <a:ext cx="274320" cy="274320"/>
          </a:xfrm>
          <a:prstGeom prst="rect">
            <a:avLst/>
          </a:prstGeom>
        </p:spPr>
      </p:pic>
      <p:sp>
        <p:nvSpPr>
          <p:cNvPr id="38" name="Text 27"/>
          <p:cNvSpPr txBox="1"/>
          <p:nvPr/>
        </p:nvSpPr>
        <p:spPr>
          <a:xfrm>
            <a:off x="7010248" y="4937760"/>
            <a:ext cx="4632808" cy="347472"/>
          </a:xfrm>
          <a:prstGeom prst="rect">
            <a:avLst/>
          </a:prstGeom>
          <a:noFill/>
          <a:ln/>
        </p:spPr>
        <p:txBody>
          <a:bodyPr wrap="square" lIns="0" tIns="0" rIns="0" bIns="0" rtlCol="0" anchor="t"/>
          <a:lstStyle/>
          <a:p>
            <a:pPr indent="0" marL="0">
              <a:buNone/>
            </a:pPr>
            <a:r>
              <a:rPr lang="en-US" sz="1700" b="1" dirty="0">
                <a:solidFill>
                  <a:schemeClr val="tx2"/>
                </a:solidFill>
              </a:rPr>
              <a:t>Owed</a:t>
            </a:r>
            <a:endParaRPr lang="en-US" sz="1700" dirty="0"/>
          </a:p>
        </p:txBody>
      </p:sp>
      <p:sp>
        <p:nvSpPr>
          <p:cNvPr id="39" name="Text 28"/>
          <p:cNvSpPr txBox="1"/>
          <p:nvPr/>
        </p:nvSpPr>
        <p:spPr>
          <a:xfrm>
            <a:off x="7010248" y="5285232"/>
            <a:ext cx="4632808" cy="594360"/>
          </a:xfrm>
          <a:prstGeom prst="rect">
            <a:avLst/>
          </a:prstGeom>
          <a:noFill/>
          <a:ln/>
        </p:spPr>
        <p:txBody>
          <a:bodyPr wrap="square" lIns="0" tIns="0" rIns="0" bIns="0" rtlCol="0" anchor="t"/>
          <a:lstStyle/>
          <a:p>
            <a:pPr indent="0" marL="0">
              <a:buNone/>
            </a:pPr>
            <a:r>
              <a:rPr lang="en-US" sz="1400" dirty="0">
                <a:solidFill>
                  <a:schemeClr val="tx1"/>
                </a:solidFill>
              </a:rPr>
              <a:t>A fetch that failed is named, and asked for again at the next sync</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Conversion: text, and a picture of every page</a:t>
            </a:r>
            <a:endParaRPr lang="en-US" sz="3600" dirty="0"/>
          </a:p>
        </p:txBody>
      </p:sp>
      <p:sp>
        <p:nvSpPr>
          <p:cNvPr id="4" name="markdown"/>
          <p:cNvSpPr/>
          <p:nvPr/>
        </p:nvSpPr>
        <p:spPr>
          <a:xfrm>
            <a:off x="548640" y="1554480"/>
            <a:ext cx="5120640" cy="1737360"/>
          </a:xfrm>
          <a:prstGeom prst="roundRect">
            <a:avLst>
              <a:gd name="adj" fmla="val 4211"/>
            </a:avLst>
          </a:prstGeom>
          <a:solidFill>
            <a:schemeClr val="tx2"/>
          </a:solidFill>
          <a:ln/>
        </p:spPr>
      </p:sp>
      <p:sp>
        <p:nvSpPr>
          <p:cNvPr id="5" name="markdown badge"/>
          <p:cNvSpPr/>
          <p:nvPr/>
        </p:nvSpPr>
        <p:spPr>
          <a:xfrm>
            <a:off x="822960" y="1828800"/>
            <a:ext cx="777240" cy="777240"/>
          </a:xfrm>
          <a:prstGeom prst="ellipse">
            <a:avLst/>
          </a:prstGeom>
          <a:solidFill>
            <a:schemeClr val="accent2"/>
          </a:solidFill>
          <a:ln/>
        </p:spPr>
      </p:sp>
      <p:pic>
        <p:nvPicPr>
          <p:cNvPr id="6" name="markdown icon" descr="preencoded.png">    </p:cNvPr>
          <p:cNvPicPr>
            <a:picLocks noChangeAspect="1"/>
          </p:cNvPicPr>
          <p:nvPr/>
        </p:nvPicPr>
        <p:blipFill>
          <a:blip r:embed="rId1"/>
          <a:stretch>
            <a:fillRect/>
          </a:stretch>
        </p:blipFill>
        <p:spPr>
          <a:xfrm>
            <a:off x="1017270" y="2023110"/>
            <a:ext cx="388620" cy="388620"/>
          </a:xfrm>
          <a:prstGeom prst="rect">
            <a:avLst/>
          </a:prstGeom>
        </p:spPr>
      </p:pic>
      <p:sp>
        <p:nvSpPr>
          <p:cNvPr id="7" name="Text 3"/>
          <p:cNvSpPr txBox="1"/>
          <p:nvPr/>
        </p:nvSpPr>
        <p:spPr>
          <a:xfrm>
            <a:off x="1828800" y="1828800"/>
            <a:ext cx="3657600" cy="457200"/>
          </a:xfrm>
          <a:prstGeom prst="rect">
            <a:avLst/>
          </a:prstGeom>
          <a:noFill/>
          <a:ln/>
        </p:spPr>
        <p:txBody>
          <a:bodyPr wrap="square" lIns="0" tIns="0" rIns="0" bIns="0" rtlCol="0" anchor="t"/>
          <a:lstStyle/>
          <a:p>
            <a:pPr indent="0" marL="0">
              <a:buNone/>
            </a:pPr>
            <a:r>
              <a:rPr lang="en-US" sz="2200" b="1" dirty="0">
                <a:solidFill>
                  <a:schemeClr val="bg1"/>
                </a:solidFill>
                <a:latin typeface="Consolas" pitchFamily="34" charset="0"/>
                <a:ea typeface="Consolas" pitchFamily="34" charset="-122"/>
                <a:cs typeface="Consolas" pitchFamily="34" charset="-120"/>
              </a:rPr>
              <a:t>markdown</a:t>
            </a:r>
            <a:endParaRPr lang="en-US" sz="2200" dirty="0"/>
          </a:p>
        </p:txBody>
      </p:sp>
      <p:sp>
        <p:nvSpPr>
          <p:cNvPr id="8" name="Text 4"/>
          <p:cNvSpPr txBox="1"/>
          <p:nvPr/>
        </p:nvSpPr>
        <p:spPr>
          <a:xfrm>
            <a:off x="1828800" y="2331720"/>
            <a:ext cx="3657600" cy="822960"/>
          </a:xfrm>
          <a:prstGeom prst="rect">
            <a:avLst/>
          </a:prstGeom>
          <a:noFill/>
          <a:ln/>
        </p:spPr>
        <p:txBody>
          <a:bodyPr wrap="square" lIns="0" tIns="0" rIns="0" bIns="0" rtlCol="0" anchor="t"/>
          <a:lstStyle/>
          <a:p>
            <a:pPr indent="0" marL="0">
              <a:buNone/>
            </a:pPr>
            <a:r>
              <a:rPr lang="en-US" sz="1500" dirty="0">
                <a:solidFill>
                  <a:schemeClr val="bg1"/>
                </a:solidFill>
              </a:rPr>
              <a:t>Text a stage reads, and every quoted span is checked against</a:t>
            </a:r>
            <a:endParaRPr lang="en-US" sz="1500" dirty="0"/>
          </a:p>
        </p:txBody>
      </p:sp>
      <p:sp>
        <p:nvSpPr>
          <p:cNvPr id="9" name="page_images"/>
          <p:cNvSpPr/>
          <p:nvPr/>
        </p:nvSpPr>
        <p:spPr>
          <a:xfrm>
            <a:off x="548640" y="3520440"/>
            <a:ext cx="5120640" cy="1737360"/>
          </a:xfrm>
          <a:prstGeom prst="roundRect">
            <a:avLst>
              <a:gd name="adj" fmla="val 4211"/>
            </a:avLst>
          </a:prstGeom>
          <a:solidFill>
            <a:schemeClr val="accent1"/>
          </a:solidFill>
          <a:ln/>
        </p:spPr>
      </p:sp>
      <p:sp>
        <p:nvSpPr>
          <p:cNvPr id="10" name="page_images badge"/>
          <p:cNvSpPr/>
          <p:nvPr/>
        </p:nvSpPr>
        <p:spPr>
          <a:xfrm>
            <a:off x="822960" y="3794760"/>
            <a:ext cx="777240" cy="777240"/>
          </a:xfrm>
          <a:prstGeom prst="ellipse">
            <a:avLst/>
          </a:prstGeom>
          <a:solidFill>
            <a:schemeClr val="accent2"/>
          </a:solidFill>
          <a:ln/>
        </p:spPr>
      </p:sp>
      <p:pic>
        <p:nvPicPr>
          <p:cNvPr id="11" name="page_images icon" descr="preencoded.png">    </p:cNvPr>
          <p:cNvPicPr>
            <a:picLocks noChangeAspect="1"/>
          </p:cNvPicPr>
          <p:nvPr/>
        </p:nvPicPr>
        <p:blipFill>
          <a:blip r:embed="rId2"/>
          <a:stretch>
            <a:fillRect/>
          </a:stretch>
        </p:blipFill>
        <p:spPr>
          <a:xfrm>
            <a:off x="1017270" y="3989070"/>
            <a:ext cx="388620" cy="388620"/>
          </a:xfrm>
          <a:prstGeom prst="rect">
            <a:avLst/>
          </a:prstGeom>
        </p:spPr>
      </p:pic>
      <p:sp>
        <p:nvSpPr>
          <p:cNvPr id="12" name="Text 7"/>
          <p:cNvSpPr txBox="1"/>
          <p:nvPr/>
        </p:nvSpPr>
        <p:spPr>
          <a:xfrm>
            <a:off x="1828800" y="3794760"/>
            <a:ext cx="3657600" cy="457200"/>
          </a:xfrm>
          <a:prstGeom prst="rect">
            <a:avLst/>
          </a:prstGeom>
          <a:noFill/>
          <a:ln/>
        </p:spPr>
        <p:txBody>
          <a:bodyPr wrap="square" lIns="0" tIns="0" rIns="0" bIns="0" rtlCol="0" anchor="t"/>
          <a:lstStyle/>
          <a:p>
            <a:pPr indent="0" marL="0">
              <a:buNone/>
            </a:pPr>
            <a:r>
              <a:rPr lang="en-US" sz="2200" b="1" dirty="0">
                <a:solidFill>
                  <a:schemeClr val="bg1"/>
                </a:solidFill>
                <a:latin typeface="Consolas" pitchFamily="34" charset="0"/>
                <a:ea typeface="Consolas" pitchFamily="34" charset="-122"/>
                <a:cs typeface="Consolas" pitchFamily="34" charset="-120"/>
              </a:rPr>
              <a:t>page_images</a:t>
            </a:r>
            <a:endParaRPr lang="en-US" sz="2200" dirty="0"/>
          </a:p>
        </p:txBody>
      </p:sp>
      <p:sp>
        <p:nvSpPr>
          <p:cNvPr id="13" name="Text 8"/>
          <p:cNvSpPr txBox="1"/>
          <p:nvPr/>
        </p:nvSpPr>
        <p:spPr>
          <a:xfrm>
            <a:off x="1828800" y="4297680"/>
            <a:ext cx="3657600" cy="822960"/>
          </a:xfrm>
          <a:prstGeom prst="rect">
            <a:avLst/>
          </a:prstGeom>
          <a:noFill/>
          <a:ln/>
        </p:spPr>
        <p:txBody>
          <a:bodyPr wrap="square" lIns="0" tIns="0" rIns="0" bIns="0" rtlCol="0" anchor="t"/>
          <a:lstStyle/>
          <a:p>
            <a:pPr indent="0" marL="0">
              <a:buNone/>
            </a:pPr>
            <a:r>
              <a:rPr lang="en-US" sz="1500" dirty="0">
                <a:solidFill>
                  <a:schemeClr val="bg1"/>
                </a:solidFill>
              </a:rPr>
              <a:t>One picture per page, for a vision model: charts, screenshots, scans</a:t>
            </a:r>
            <a:endParaRPr lang="en-US" sz="1500" dirty="0"/>
          </a:p>
        </p:txBody>
      </p:sp>
      <p:sp>
        <p:nvSpPr>
          <p:cNvPr id="14" name="Text 9"/>
          <p:cNvSpPr txBox="1"/>
          <p:nvPr/>
        </p:nvSpPr>
        <p:spPr>
          <a:xfrm>
            <a:off x="548640" y="5577840"/>
            <a:ext cx="5120640" cy="548640"/>
          </a:xfrm>
          <a:prstGeom prst="rect">
            <a:avLst/>
          </a:prstGeom>
          <a:noFill/>
          <a:ln/>
        </p:spPr>
        <p:txBody>
          <a:bodyPr wrap="square" lIns="0" tIns="0" rIns="0" bIns="0" rtlCol="0" anchor="t"/>
          <a:lstStyle/>
          <a:p>
            <a:pPr indent="0" marL="0">
              <a:buNone/>
            </a:pPr>
            <a:r>
              <a:rPr lang="en-US" sz="1300" dirty="0">
                <a:solidFill>
                  <a:schemeClr val="accent5"/>
                </a:solidFill>
              </a:rPr>
              <a:t>A source asks for the kinds it wants per media type, in sources.yaml</a:t>
            </a:r>
            <a:endParaRPr lang="en-US" sz="1300" dirty="0"/>
          </a:p>
        </p:txBody>
      </p:sp>
      <p:sp>
        <p:nvSpPr>
          <p:cNvPr id="15" name="Text 10"/>
          <p:cNvSpPr txBox="1"/>
          <p:nvPr/>
        </p:nvSpPr>
        <p:spPr>
          <a:xfrm>
            <a:off x="6126480" y="1554480"/>
            <a:ext cx="5516575" cy="365760"/>
          </a:xfrm>
          <a:prstGeom prst="rect">
            <a:avLst/>
          </a:prstGeom>
          <a:noFill/>
          <a:ln/>
        </p:spPr>
        <p:txBody>
          <a:bodyPr wrap="square" lIns="0" tIns="0" rIns="0" bIns="0" rtlCol="0" anchor="t"/>
          <a:lstStyle/>
          <a:p>
            <a:pPr indent="0" marL="0">
              <a:buNone/>
            </a:pPr>
            <a:r>
              <a:rPr lang="en-US" sz="1800" b="1" dirty="0">
                <a:solidFill>
                  <a:schemeClr val="tx2"/>
                </a:solidFill>
              </a:rPr>
              <a:t>Converters, registered by entry point</a:t>
            </a:r>
            <a:endParaRPr lang="en-US" sz="1800" dirty="0"/>
          </a:p>
        </p:txBody>
      </p:sp>
      <p:sp>
        <p:nvSpPr>
          <p:cNvPr id="16" name="Shape 11"/>
          <p:cNvSpPr/>
          <p:nvPr/>
        </p:nvSpPr>
        <p:spPr>
          <a:xfrm>
            <a:off x="6126480" y="2057400"/>
            <a:ext cx="2643988" cy="512064"/>
          </a:xfrm>
          <a:prstGeom prst="roundRect">
            <a:avLst>
              <a:gd name="adj" fmla="val 10714"/>
            </a:avLst>
          </a:prstGeom>
          <a:solidFill>
            <a:schemeClr val="bg2"/>
          </a:solidFill>
          <a:ln/>
        </p:spPr>
      </p:sp>
      <p:sp>
        <p:nvSpPr>
          <p:cNvPr id="17" name="Text 12"/>
          <p:cNvSpPr txBox="1"/>
          <p:nvPr/>
        </p:nvSpPr>
        <p:spPr>
          <a:xfrm>
            <a:off x="6126480" y="2057400"/>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Markdown</a:t>
            </a:r>
            <a:endParaRPr lang="en-US" sz="1500" dirty="0"/>
          </a:p>
        </p:txBody>
      </p:sp>
      <p:sp>
        <p:nvSpPr>
          <p:cNvPr id="18" name="Shape 13"/>
          <p:cNvSpPr/>
          <p:nvPr/>
        </p:nvSpPr>
        <p:spPr>
          <a:xfrm>
            <a:off x="8999068" y="2057400"/>
            <a:ext cx="2643988" cy="512064"/>
          </a:xfrm>
          <a:prstGeom prst="roundRect">
            <a:avLst>
              <a:gd name="adj" fmla="val 10714"/>
            </a:avLst>
          </a:prstGeom>
          <a:solidFill>
            <a:schemeClr val="bg2"/>
          </a:solidFill>
          <a:ln/>
        </p:spPr>
      </p:sp>
      <p:sp>
        <p:nvSpPr>
          <p:cNvPr id="19" name="Text 14"/>
          <p:cNvSpPr txBox="1"/>
          <p:nvPr/>
        </p:nvSpPr>
        <p:spPr>
          <a:xfrm>
            <a:off x="8999068" y="2057400"/>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Plain text</a:t>
            </a:r>
            <a:endParaRPr lang="en-US" sz="1500" dirty="0"/>
          </a:p>
        </p:txBody>
      </p:sp>
      <p:sp>
        <p:nvSpPr>
          <p:cNvPr id="20" name="Shape 15"/>
          <p:cNvSpPr/>
          <p:nvPr/>
        </p:nvSpPr>
        <p:spPr>
          <a:xfrm>
            <a:off x="6126480" y="2715768"/>
            <a:ext cx="2643988" cy="512064"/>
          </a:xfrm>
          <a:prstGeom prst="roundRect">
            <a:avLst>
              <a:gd name="adj" fmla="val 10714"/>
            </a:avLst>
          </a:prstGeom>
          <a:solidFill>
            <a:schemeClr val="bg2"/>
          </a:solidFill>
          <a:ln/>
        </p:spPr>
      </p:sp>
      <p:sp>
        <p:nvSpPr>
          <p:cNvPr id="21" name="Text 16"/>
          <p:cNvSpPr txBox="1"/>
          <p:nvPr/>
        </p:nvSpPr>
        <p:spPr>
          <a:xfrm>
            <a:off x="6126480" y="2715768"/>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CSV</a:t>
            </a:r>
            <a:endParaRPr lang="en-US" sz="1500" dirty="0"/>
          </a:p>
        </p:txBody>
      </p:sp>
      <p:sp>
        <p:nvSpPr>
          <p:cNvPr id="22" name="Shape 17"/>
          <p:cNvSpPr/>
          <p:nvPr/>
        </p:nvSpPr>
        <p:spPr>
          <a:xfrm>
            <a:off x="8999068" y="2715768"/>
            <a:ext cx="2643988" cy="512064"/>
          </a:xfrm>
          <a:prstGeom prst="roundRect">
            <a:avLst>
              <a:gd name="adj" fmla="val 10714"/>
            </a:avLst>
          </a:prstGeom>
          <a:solidFill>
            <a:schemeClr val="bg2"/>
          </a:solidFill>
          <a:ln/>
        </p:spPr>
      </p:sp>
      <p:sp>
        <p:nvSpPr>
          <p:cNvPr id="23" name="Text 18"/>
          <p:cNvSpPr txBox="1"/>
          <p:nvPr/>
        </p:nvSpPr>
        <p:spPr>
          <a:xfrm>
            <a:off x="8999068" y="2715768"/>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HTML</a:t>
            </a:r>
            <a:endParaRPr lang="en-US" sz="1500" dirty="0"/>
          </a:p>
        </p:txBody>
      </p:sp>
      <p:sp>
        <p:nvSpPr>
          <p:cNvPr id="24" name="Shape 19"/>
          <p:cNvSpPr/>
          <p:nvPr/>
        </p:nvSpPr>
        <p:spPr>
          <a:xfrm>
            <a:off x="6126480" y="3374136"/>
            <a:ext cx="2643988" cy="512064"/>
          </a:xfrm>
          <a:prstGeom prst="roundRect">
            <a:avLst>
              <a:gd name="adj" fmla="val 10714"/>
            </a:avLst>
          </a:prstGeom>
          <a:solidFill>
            <a:schemeClr val="bg2"/>
          </a:solidFill>
          <a:ln/>
        </p:spPr>
      </p:sp>
      <p:sp>
        <p:nvSpPr>
          <p:cNvPr id="25" name="Text 20"/>
          <p:cNvSpPr txBox="1"/>
          <p:nvPr/>
        </p:nvSpPr>
        <p:spPr>
          <a:xfrm>
            <a:off x="6126480" y="3374136"/>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Jira issue</a:t>
            </a:r>
            <a:endParaRPr lang="en-US" sz="1500" dirty="0"/>
          </a:p>
        </p:txBody>
      </p:sp>
      <p:sp>
        <p:nvSpPr>
          <p:cNvPr id="26" name="Shape 21"/>
          <p:cNvSpPr/>
          <p:nvPr/>
        </p:nvSpPr>
        <p:spPr>
          <a:xfrm>
            <a:off x="8999068" y="3374136"/>
            <a:ext cx="2643988" cy="512064"/>
          </a:xfrm>
          <a:prstGeom prst="roundRect">
            <a:avLst>
              <a:gd name="adj" fmla="val 10714"/>
            </a:avLst>
          </a:prstGeom>
          <a:solidFill>
            <a:schemeClr val="bg2"/>
          </a:solidFill>
          <a:ln/>
        </p:spPr>
      </p:sp>
      <p:sp>
        <p:nvSpPr>
          <p:cNvPr id="27" name="Text 22"/>
          <p:cNvSpPr txBox="1"/>
          <p:nvPr/>
        </p:nvSpPr>
        <p:spPr>
          <a:xfrm>
            <a:off x="8999068" y="3374136"/>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Confluence page</a:t>
            </a:r>
            <a:endParaRPr lang="en-US" sz="1500" dirty="0"/>
          </a:p>
        </p:txBody>
      </p:sp>
      <p:sp>
        <p:nvSpPr>
          <p:cNvPr id="28" name="Shape 23"/>
          <p:cNvSpPr/>
          <p:nvPr/>
        </p:nvSpPr>
        <p:spPr>
          <a:xfrm>
            <a:off x="6126480" y="4032504"/>
            <a:ext cx="2643988" cy="512064"/>
          </a:xfrm>
          <a:prstGeom prst="roundRect">
            <a:avLst>
              <a:gd name="adj" fmla="val 10714"/>
            </a:avLst>
          </a:prstGeom>
          <a:solidFill>
            <a:schemeClr val="bg2"/>
          </a:solidFill>
          <a:ln/>
        </p:spPr>
      </p:sp>
      <p:sp>
        <p:nvSpPr>
          <p:cNvPr id="29" name="Text 24"/>
          <p:cNvSpPr txBox="1"/>
          <p:nvPr/>
        </p:nvSpPr>
        <p:spPr>
          <a:xfrm>
            <a:off x="6126480" y="4032504"/>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PDF, its text layer</a:t>
            </a:r>
            <a:endParaRPr lang="en-US" sz="1500" dirty="0"/>
          </a:p>
        </p:txBody>
      </p:sp>
      <p:sp>
        <p:nvSpPr>
          <p:cNvPr id="30" name="Shape 25"/>
          <p:cNvSpPr/>
          <p:nvPr/>
        </p:nvSpPr>
        <p:spPr>
          <a:xfrm>
            <a:off x="8999068" y="4032504"/>
            <a:ext cx="2643988" cy="512064"/>
          </a:xfrm>
          <a:prstGeom prst="roundRect">
            <a:avLst>
              <a:gd name="adj" fmla="val 10714"/>
            </a:avLst>
          </a:prstGeom>
          <a:solidFill>
            <a:schemeClr val="bg2"/>
          </a:solidFill>
          <a:ln/>
        </p:spPr>
      </p:sp>
      <p:sp>
        <p:nvSpPr>
          <p:cNvPr id="31" name="Text 26"/>
          <p:cNvSpPr txBox="1"/>
          <p:nvPr/>
        </p:nvSpPr>
        <p:spPr>
          <a:xfrm>
            <a:off x="8999068" y="4032504"/>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PDF, as page images</a:t>
            </a:r>
            <a:endParaRPr lang="en-US" sz="1500" dirty="0"/>
          </a:p>
        </p:txBody>
      </p:sp>
      <p:sp>
        <p:nvSpPr>
          <p:cNvPr id="32" name="Shape 27"/>
          <p:cNvSpPr/>
          <p:nvPr/>
        </p:nvSpPr>
        <p:spPr>
          <a:xfrm>
            <a:off x="6126480" y="4690872"/>
            <a:ext cx="2643988" cy="512064"/>
          </a:xfrm>
          <a:prstGeom prst="roundRect">
            <a:avLst>
              <a:gd name="adj" fmla="val 10714"/>
            </a:avLst>
          </a:prstGeom>
          <a:solidFill>
            <a:schemeClr val="bg2"/>
          </a:solidFill>
          <a:ln/>
        </p:spPr>
      </p:sp>
      <p:sp>
        <p:nvSpPr>
          <p:cNvPr id="33" name="Text 28"/>
          <p:cNvSpPr txBox="1"/>
          <p:nvPr/>
        </p:nvSpPr>
        <p:spPr>
          <a:xfrm>
            <a:off x="6126480" y="4690872"/>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Images, as pages</a:t>
            </a:r>
            <a:endParaRPr lang="en-US" sz="1500" dirty="0"/>
          </a:p>
        </p:txBody>
      </p:sp>
      <p:sp>
        <p:nvSpPr>
          <p:cNvPr id="34" name="Shape 29"/>
          <p:cNvSpPr/>
          <p:nvPr/>
        </p:nvSpPr>
        <p:spPr>
          <a:xfrm>
            <a:off x="8999068" y="4690872"/>
            <a:ext cx="2643988" cy="512064"/>
          </a:xfrm>
          <a:prstGeom prst="roundRect">
            <a:avLst>
              <a:gd name="adj" fmla="val 10714"/>
            </a:avLst>
          </a:prstGeom>
          <a:solidFill>
            <a:schemeClr val="bg2"/>
          </a:solidFill>
          <a:ln/>
        </p:spPr>
      </p:sp>
      <p:sp>
        <p:nvSpPr>
          <p:cNvPr id="35" name="Text 30"/>
          <p:cNvSpPr txBox="1"/>
          <p:nvPr/>
        </p:nvSpPr>
        <p:spPr>
          <a:xfrm>
            <a:off x="8999068" y="4690872"/>
            <a:ext cx="2643988" cy="512064"/>
          </a:xfrm>
          <a:prstGeom prst="rect">
            <a:avLst/>
          </a:prstGeom>
          <a:noFill/>
          <a:ln/>
        </p:spPr>
        <p:txBody>
          <a:bodyPr wrap="square" lIns="0" tIns="0" rIns="0" bIns="0" rtlCol="0" anchor="ctr"/>
          <a:lstStyle/>
          <a:p>
            <a:pPr algn="ctr" indent="0" marL="0">
              <a:buNone/>
            </a:pPr>
            <a:r>
              <a:rPr lang="en-US" sz="1500" dirty="0">
                <a:solidFill>
                  <a:schemeClr val="tx1"/>
                </a:solidFill>
              </a:rPr>
              <a:t>Scans, by OCR (Docling)</a:t>
            </a:r>
            <a:endParaRPr lang="en-US" sz="1500" dirty="0"/>
          </a:p>
        </p:txBody>
      </p:sp>
      <p:sp>
        <p:nvSpPr>
          <p:cNvPr id="36" name="Text 31"/>
          <p:cNvSpPr txBox="1"/>
          <p:nvPr/>
        </p:nvSpPr>
        <p:spPr>
          <a:xfrm>
            <a:off x="6126480" y="5486400"/>
            <a:ext cx="5516575" cy="320040"/>
          </a:xfrm>
          <a:prstGeom prst="rect">
            <a:avLst/>
          </a:prstGeom>
          <a:noFill/>
          <a:ln/>
        </p:spPr>
        <p:txBody>
          <a:bodyPr wrap="square" lIns="0" tIns="0" rIns="0" bIns="0" rtlCol="0" anchor="t"/>
          <a:lstStyle/>
          <a:p>
            <a:pPr indent="0" marL="0">
              <a:buNone/>
            </a:pPr>
            <a:r>
              <a:rPr lang="en-US" sz="1500" i="1" dirty="0">
                <a:solidFill>
                  <a:schemeClr val="accent1"/>
                </a:solidFill>
              </a:rPr>
              <a:t>Write your own: exercise 03</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 pipeline is data, end to end</a:t>
            </a:r>
            <a:endParaRPr lang="en-US" sz="3600" dirty="0"/>
          </a:p>
        </p:txBody>
      </p:sp>
      <p:sp>
        <p:nvSpPr>
          <p:cNvPr id="4" name="pipeline.yaml"/>
          <p:cNvSpPr/>
          <p:nvPr/>
        </p:nvSpPr>
        <p:spPr>
          <a:xfrm>
            <a:off x="548640" y="1554480"/>
            <a:ext cx="5577840" cy="4114800"/>
          </a:xfrm>
          <a:prstGeom prst="roundRect">
            <a:avLst>
              <a:gd name="adj" fmla="val 1778"/>
            </a:avLst>
          </a:prstGeom>
          <a:solidFill>
            <a:schemeClr val="tx1"/>
          </a:solidFill>
          <a:ln/>
        </p:spPr>
      </p:sp>
      <p:sp>
        <p:nvSpPr>
          <p:cNvPr id="5" name="Text 2"/>
          <p:cNvSpPr txBox="1"/>
          <p:nvPr/>
        </p:nvSpPr>
        <p:spPr>
          <a:xfrm>
            <a:off x="822960" y="1691640"/>
            <a:ext cx="5029200" cy="320040"/>
          </a:xfrm>
          <a:prstGeom prst="rect">
            <a:avLst/>
          </a:prstGeom>
          <a:noFill/>
          <a:ln/>
        </p:spPr>
        <p:txBody>
          <a:bodyPr wrap="square" lIns="0" tIns="0" rIns="0" bIns="0" rtlCol="0" anchor="t"/>
          <a:lstStyle/>
          <a:p>
            <a:pPr indent="0" marL="0">
              <a:buNone/>
            </a:pPr>
            <a:r>
              <a:rPr lang="en-US" sz="1200" dirty="0">
                <a:solidFill>
                  <a:schemeClr val="accent6"/>
                </a:solidFill>
                <a:latin typeface="Consolas" pitchFamily="34" charset="0"/>
                <a:ea typeface="Consolas" pitchFamily="34" charset="-122"/>
                <a:cs typeface="Consolas" pitchFamily="34" charset="-120"/>
              </a:rPr>
              <a:t>pipelines/incident-audit/pipeline.yaml</a:t>
            </a:r>
            <a:endParaRPr lang="en-US" sz="1200" dirty="0"/>
          </a:p>
        </p:txBody>
      </p:sp>
      <p:sp>
        <p:nvSpPr>
          <p:cNvPr id="6" name="Text 3"/>
          <p:cNvSpPr txBox="1"/>
          <p:nvPr/>
        </p:nvSpPr>
        <p:spPr>
          <a:xfrm>
            <a:off x="822960" y="2148840"/>
            <a:ext cx="5029200" cy="3291840"/>
          </a:xfrm>
          <a:prstGeom prst="rect">
            <a:avLst/>
          </a:prstGeom>
          <a:noFill/>
          <a:ln/>
        </p:spPr>
        <p:txBody>
          <a:bodyPr wrap="square" lIns="0" tIns="0" rIns="0" bIns="0" rtlCol="0" anchor="t"/>
          <a:lstStyle/>
          <a:p>
            <a:pPr indent="0" marL="0">
              <a:buNone/>
            </a:pPr>
            <a:r>
              <a:rPr lang="en-US" sz="1800" dirty="0">
                <a:solidFill>
                  <a:srgbClr val="D99A3D"/>
                </a:solidFill>
                <a:latin typeface="Consolas" pitchFamily="34" charset="0"/>
                <a:ea typeface="Consolas" pitchFamily="34" charset="-122"/>
                <a:cs typeface="Consolas" pitchFamily="34" charset="-120"/>
              </a:rPr>
              <a:t>sources</a:t>
            </a:r>
            <a:pPr indent="0" marL="0">
              <a:buNone/>
            </a:pPr>
            <a:r>
              <a:rPr lang="en-US" sz="1800" dirty="0">
                <a:solidFill>
                  <a:srgbClr val="FFFFFF"/>
                </a:solidFill>
                <a:latin typeface="Consolas" pitchFamily="34" charset="0"/>
                <a:ea typeface="Consolas" pitchFamily="34" charset="-122"/>
                <a:cs typeface="Consolas" pitchFamily="34" charset="-120"/>
              </a:rPr>
              <a:t>: [incidents-jira]</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model</a:t>
            </a:r>
            <a:pPr indent="0" marL="0">
              <a:buNone/>
            </a:pPr>
            <a:r>
              <a:rPr lang="en-US" sz="1800" dirty="0">
                <a:solidFill>
                  <a:srgbClr val="FFFFFF"/>
                </a:solidFill>
                <a:latin typeface="Consolas" pitchFamily="34" charset="0"/>
                <a:ea typeface="Consolas" pitchFamily="34" charset="-122"/>
                <a:cs typeface="Consolas" pitchFamily="34" charset="-120"/>
              </a:rPr>
              <a:t>: openai:gpt-5.4-mini</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a:t>
            </a:r>
            <a:pPr indent="0" marL="0">
              <a:buNone/>
            </a:pP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steps</a:t>
            </a:r>
            <a:pPr indent="0" marL="0">
              <a:buNone/>
            </a:pPr>
            <a:r>
              <a:rPr lang="en-US" sz="1800" dirty="0">
                <a:solidFill>
                  <a:srgbClr val="FFFFFF"/>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 id</a:t>
            </a:r>
            <a:pPr indent="0" marL="0">
              <a:buNone/>
            </a:pPr>
            <a:r>
              <a:rPr lang="en-US" sz="1800" dirty="0">
                <a:solidFill>
                  <a:srgbClr val="FFFFFF"/>
                </a:solidFill>
                <a:latin typeface="Consolas" pitchFamily="34" charset="0"/>
                <a:ea typeface="Consolas" pitchFamily="34" charset="-122"/>
                <a:cs typeface="Consolas" pitchFamily="34" charset="-120"/>
              </a:rPr>
              <a:t>: extract</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prompt</a:t>
            </a:r>
            <a:pPr indent="0" marL="0">
              <a:buNone/>
            </a:pPr>
            <a:r>
              <a:rPr lang="en-US" sz="1800" dirty="0">
                <a:solidFill>
                  <a:srgbClr val="FFFFFF"/>
                </a:solidFill>
                <a:latin typeface="Consolas" pitchFamily="34" charset="0"/>
                <a:ea typeface="Consolas" pitchFamily="34" charset="-122"/>
                <a:cs typeface="Consolas" pitchFamily="34" charset="-120"/>
              </a:rPr>
              <a:t>: prompts/01_extract.md</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input</a:t>
            </a:r>
            <a:pPr indent="0" marL="0">
              <a:buNone/>
            </a:pPr>
            <a:r>
              <a:rPr lang="en-US" sz="1800" dirty="0">
                <a:solidFill>
                  <a:srgbClr val="FFFFFF"/>
                </a:solidFill>
                <a:latin typeface="Consolas" pitchFamily="34" charset="0"/>
                <a:ea typeface="Consolas" pitchFamily="34" charset="-122"/>
                <a:cs typeface="Consolas" pitchFamily="34" charset="-120"/>
              </a:rPr>
              <a:t>: documents</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mode</a:t>
            </a:r>
            <a:pPr indent="0" marL="0">
              <a:buNone/>
            </a:pPr>
            <a:r>
              <a:rPr lang="en-US" sz="1800" dirty="0">
                <a:solidFill>
                  <a:srgbClr val="FFFFFF"/>
                </a:solidFill>
                <a:latin typeface="Consolas" pitchFamily="34" charset="0"/>
                <a:ea typeface="Consolas" pitchFamily="34" charset="-122"/>
                <a:cs typeface="Consolas" pitchFamily="34" charset="-120"/>
              </a:rPr>
              <a:t>: per_file</a:t>
            </a:r>
            <a:endParaRPr lang="en-US" sz="1800" dirty="0"/>
          </a:p>
          <a:p>
            <a:pPr indent="0" marL="0">
              <a:buNone/>
            </a:pPr>
            <a:r>
              <a:rPr lang="en-US" sz="1800" dirty="0">
                <a:solidFill>
                  <a:srgbClr val="D99A3D"/>
                </a:solidFill>
                <a:latin typeface="Consolas" pitchFamily="34" charset="0"/>
                <a:ea typeface="Consolas" pitchFamily="34" charset="-122"/>
                <a:cs typeface="Consolas" pitchFamily="34" charset="-120"/>
              </a:rPr>
              <a:t>    output</a:t>
            </a:r>
            <a:pPr indent="0" marL="0">
              <a:buNone/>
            </a:pPr>
            <a:r>
              <a:rPr lang="en-US" sz="1800" dirty="0">
                <a:solidFill>
                  <a:srgbClr val="FFFFFF"/>
                </a:solidFill>
                <a:latin typeface="Consolas" pitchFamily="34" charset="0"/>
                <a:ea typeface="Consolas" pitchFamily="34" charset="-122"/>
                <a:cs typeface="Consolas" pitchFamily="34" charset="-120"/>
              </a:rPr>
              <a:t>: schemas/incident.yaml</a:t>
            </a:r>
            <a:endParaRPr lang="en-US" sz="1800" dirty="0"/>
          </a:p>
        </p:txBody>
      </p:sp>
      <p:sp>
        <p:nvSpPr>
          <p:cNvPr id="7" name="run --plan"/>
          <p:cNvSpPr/>
          <p:nvPr/>
        </p:nvSpPr>
        <p:spPr>
          <a:xfrm>
            <a:off x="6492240" y="1554480"/>
            <a:ext cx="5150815" cy="1234440"/>
          </a:xfrm>
          <a:prstGeom prst="roundRect">
            <a:avLst>
              <a:gd name="adj" fmla="val 5926"/>
            </a:avLst>
          </a:prstGeom>
          <a:solidFill>
            <a:schemeClr val="bg2"/>
          </a:solidFill>
          <a:ln/>
        </p:spPr>
      </p:sp>
      <p:sp>
        <p:nvSpPr>
          <p:cNvPr id="8" name="run --plan badge"/>
          <p:cNvSpPr/>
          <p:nvPr/>
        </p:nvSpPr>
        <p:spPr>
          <a:xfrm>
            <a:off x="6720840" y="1828800"/>
            <a:ext cx="685800" cy="685800"/>
          </a:xfrm>
          <a:prstGeom prst="ellipse">
            <a:avLst/>
          </a:prstGeom>
          <a:solidFill>
            <a:schemeClr val="accent1"/>
          </a:solidFill>
          <a:ln/>
        </p:spPr>
      </p:sp>
      <p:pic>
        <p:nvPicPr>
          <p:cNvPr id="9" name="run --plan icon" descr="preencoded.png">    </p:cNvPr>
          <p:cNvPicPr>
            <a:picLocks noChangeAspect="1"/>
          </p:cNvPicPr>
          <p:nvPr/>
        </p:nvPicPr>
        <p:blipFill>
          <a:blip r:embed="rId1"/>
          <a:stretch>
            <a:fillRect/>
          </a:stretch>
        </p:blipFill>
        <p:spPr>
          <a:xfrm>
            <a:off x="6892290" y="2000250"/>
            <a:ext cx="342900" cy="342900"/>
          </a:xfrm>
          <a:prstGeom prst="rect">
            <a:avLst/>
          </a:prstGeom>
        </p:spPr>
      </p:pic>
      <p:sp>
        <p:nvSpPr>
          <p:cNvPr id="10" name="Text 6"/>
          <p:cNvSpPr txBox="1"/>
          <p:nvPr/>
        </p:nvSpPr>
        <p:spPr>
          <a:xfrm>
            <a:off x="7635240" y="1719072"/>
            <a:ext cx="3824935"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run --plan</a:t>
            </a:r>
            <a:endParaRPr lang="en-US" sz="1800" dirty="0"/>
          </a:p>
        </p:txBody>
      </p:sp>
      <p:sp>
        <p:nvSpPr>
          <p:cNvPr id="11" name="Text 7"/>
          <p:cNvSpPr txBox="1"/>
          <p:nvPr/>
        </p:nvSpPr>
        <p:spPr>
          <a:xfrm>
            <a:off x="7635240" y="2103120"/>
            <a:ext cx="3824935" cy="640080"/>
          </a:xfrm>
          <a:prstGeom prst="rect">
            <a:avLst/>
          </a:prstGeom>
          <a:noFill/>
          <a:ln/>
        </p:spPr>
        <p:txBody>
          <a:bodyPr wrap="square" lIns="0" tIns="0" rIns="0" bIns="0" rtlCol="0" anchor="t"/>
          <a:lstStyle/>
          <a:p>
            <a:pPr indent="0" marL="0">
              <a:buNone/>
            </a:pPr>
            <a:r>
              <a:rPr lang="en-US" sz="1500" dirty="0">
                <a:solidFill>
                  <a:schemeClr val="tx1"/>
                </a:solidFill>
              </a:rPr>
              <a:t>What would run, and why, before anything is spent</a:t>
            </a:r>
            <a:endParaRPr lang="en-US" sz="1500" dirty="0"/>
          </a:p>
        </p:txBody>
      </p:sp>
      <p:sp>
        <p:nvSpPr>
          <p:cNvPr id="12" name="run --doc KEY"/>
          <p:cNvSpPr/>
          <p:nvPr/>
        </p:nvSpPr>
        <p:spPr>
          <a:xfrm>
            <a:off x="6492240" y="2971800"/>
            <a:ext cx="5150815" cy="1234440"/>
          </a:xfrm>
          <a:prstGeom prst="roundRect">
            <a:avLst>
              <a:gd name="adj" fmla="val 5926"/>
            </a:avLst>
          </a:prstGeom>
          <a:solidFill>
            <a:schemeClr val="bg2"/>
          </a:solidFill>
          <a:ln/>
        </p:spPr>
      </p:sp>
      <p:sp>
        <p:nvSpPr>
          <p:cNvPr id="13" name="run --doc KEY badge"/>
          <p:cNvSpPr/>
          <p:nvPr/>
        </p:nvSpPr>
        <p:spPr>
          <a:xfrm>
            <a:off x="6720840" y="3246120"/>
            <a:ext cx="685800" cy="685800"/>
          </a:xfrm>
          <a:prstGeom prst="ellipse">
            <a:avLst/>
          </a:prstGeom>
          <a:solidFill>
            <a:schemeClr val="accent1"/>
          </a:solidFill>
          <a:ln/>
        </p:spPr>
      </p:sp>
      <p:pic>
        <p:nvPicPr>
          <p:cNvPr id="14" name="run --doc KEY icon" descr="preencoded.png">    </p:cNvPr>
          <p:cNvPicPr>
            <a:picLocks noChangeAspect="1"/>
          </p:cNvPicPr>
          <p:nvPr/>
        </p:nvPicPr>
        <p:blipFill>
          <a:blip r:embed="rId2"/>
          <a:stretch>
            <a:fillRect/>
          </a:stretch>
        </p:blipFill>
        <p:spPr>
          <a:xfrm>
            <a:off x="6892290" y="3417570"/>
            <a:ext cx="342900" cy="342900"/>
          </a:xfrm>
          <a:prstGeom prst="rect">
            <a:avLst/>
          </a:prstGeom>
        </p:spPr>
      </p:pic>
      <p:sp>
        <p:nvSpPr>
          <p:cNvPr id="15" name="Text 10"/>
          <p:cNvSpPr txBox="1"/>
          <p:nvPr/>
        </p:nvSpPr>
        <p:spPr>
          <a:xfrm>
            <a:off x="7635240" y="3136392"/>
            <a:ext cx="3824935"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run --doc KEY</a:t>
            </a:r>
            <a:endParaRPr lang="en-US" sz="1800" dirty="0"/>
          </a:p>
        </p:txBody>
      </p:sp>
      <p:sp>
        <p:nvSpPr>
          <p:cNvPr id="16" name="Text 11"/>
          <p:cNvSpPr txBox="1"/>
          <p:nvPr/>
        </p:nvSpPr>
        <p:spPr>
          <a:xfrm>
            <a:off x="7635240" y="3520440"/>
            <a:ext cx="3824935" cy="640080"/>
          </a:xfrm>
          <a:prstGeom prst="rect">
            <a:avLst/>
          </a:prstGeom>
          <a:noFill/>
          <a:ln/>
        </p:spPr>
        <p:txBody>
          <a:bodyPr wrap="square" lIns="0" tIns="0" rIns="0" bIns="0" rtlCol="0" anchor="t"/>
          <a:lstStyle/>
          <a:p>
            <a:pPr indent="0" marL="0">
              <a:buNone/>
            </a:pPr>
            <a:r>
              <a:rPr lang="en-US" sz="1500" dirty="0">
                <a:solidFill>
                  <a:schemeClr val="tx1"/>
                </a:solidFill>
              </a:rPr>
              <a:t>A try: one document while you work on a prompt; its answers serve the next run</a:t>
            </a:r>
            <a:endParaRPr lang="en-US" sz="1500" dirty="0"/>
          </a:p>
        </p:txBody>
      </p:sp>
      <p:sp>
        <p:nvSpPr>
          <p:cNvPr id="17" name="run --replay"/>
          <p:cNvSpPr/>
          <p:nvPr/>
        </p:nvSpPr>
        <p:spPr>
          <a:xfrm>
            <a:off x="6492240" y="4389120"/>
            <a:ext cx="5150815" cy="1234440"/>
          </a:xfrm>
          <a:prstGeom prst="roundRect">
            <a:avLst>
              <a:gd name="adj" fmla="val 5926"/>
            </a:avLst>
          </a:prstGeom>
          <a:solidFill>
            <a:schemeClr val="bg2"/>
          </a:solidFill>
          <a:ln/>
        </p:spPr>
      </p:sp>
      <p:sp>
        <p:nvSpPr>
          <p:cNvPr id="18" name="run --replay badge"/>
          <p:cNvSpPr/>
          <p:nvPr/>
        </p:nvSpPr>
        <p:spPr>
          <a:xfrm>
            <a:off x="6720840" y="4663440"/>
            <a:ext cx="685800" cy="685800"/>
          </a:xfrm>
          <a:prstGeom prst="ellipse">
            <a:avLst/>
          </a:prstGeom>
          <a:solidFill>
            <a:schemeClr val="accent1"/>
          </a:solidFill>
          <a:ln/>
        </p:spPr>
      </p:sp>
      <p:pic>
        <p:nvPicPr>
          <p:cNvPr id="19" name="run --replay icon" descr="preencoded.png">    </p:cNvPr>
          <p:cNvPicPr>
            <a:picLocks noChangeAspect="1"/>
          </p:cNvPicPr>
          <p:nvPr/>
        </p:nvPicPr>
        <p:blipFill>
          <a:blip r:embed="rId3"/>
          <a:stretch>
            <a:fillRect/>
          </a:stretch>
        </p:blipFill>
        <p:spPr>
          <a:xfrm>
            <a:off x="6892290" y="4834890"/>
            <a:ext cx="342900" cy="342900"/>
          </a:xfrm>
          <a:prstGeom prst="rect">
            <a:avLst/>
          </a:prstGeom>
        </p:spPr>
      </p:pic>
      <p:sp>
        <p:nvSpPr>
          <p:cNvPr id="20" name="Text 14"/>
          <p:cNvSpPr txBox="1"/>
          <p:nvPr/>
        </p:nvSpPr>
        <p:spPr>
          <a:xfrm>
            <a:off x="7635240" y="4553712"/>
            <a:ext cx="3824935"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run --replay</a:t>
            </a:r>
            <a:endParaRPr lang="en-US" sz="1800" dirty="0"/>
          </a:p>
        </p:txBody>
      </p:sp>
      <p:sp>
        <p:nvSpPr>
          <p:cNvPr id="21" name="Text 15"/>
          <p:cNvSpPr txBox="1"/>
          <p:nvPr/>
        </p:nvSpPr>
        <p:spPr>
          <a:xfrm>
            <a:off x="7635240" y="4937760"/>
            <a:ext cx="3824935" cy="640080"/>
          </a:xfrm>
          <a:prstGeom prst="rect">
            <a:avLst/>
          </a:prstGeom>
          <a:noFill/>
          <a:ln/>
        </p:spPr>
        <p:txBody>
          <a:bodyPr wrap="square" lIns="0" tIns="0" rIns="0" bIns="0" rtlCol="0" anchor="t"/>
          <a:lstStyle/>
          <a:p>
            <a:pPr indent="0" marL="0">
              <a:buNone/>
            </a:pPr>
            <a:r>
              <a:rPr lang="en-US" sz="1500" dirty="0">
                <a:solidFill>
                  <a:schemeClr val="tx1"/>
                </a:solidFill>
              </a:rPr>
              <a:t>A past run, exactly, with no model call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answer points at its evidence</a:t>
            </a:r>
            <a:endParaRPr lang="en-US" sz="3600" dirty="0"/>
          </a:p>
        </p:txBody>
      </p:sp>
      <p:sp>
        <p:nvSpPr>
          <p:cNvPr id="4" name="an answer"/>
          <p:cNvSpPr/>
          <p:nvPr/>
        </p:nvSpPr>
        <p:spPr>
          <a:xfrm>
            <a:off x="548640" y="1554480"/>
            <a:ext cx="4937760" cy="2743200"/>
          </a:xfrm>
          <a:prstGeom prst="roundRect">
            <a:avLst>
              <a:gd name="adj" fmla="val 2667"/>
            </a:avLst>
          </a:prstGeom>
          <a:solidFill>
            <a:schemeClr val="tx1"/>
          </a:solidFill>
          <a:ln/>
        </p:spPr>
      </p:sp>
      <p:sp>
        <p:nvSpPr>
          <p:cNvPr id="5" name="Text 2"/>
          <p:cNvSpPr txBox="1"/>
          <p:nvPr/>
        </p:nvSpPr>
        <p:spPr>
          <a:xfrm>
            <a:off x="822960" y="1691640"/>
            <a:ext cx="4389120" cy="320040"/>
          </a:xfrm>
          <a:prstGeom prst="rect">
            <a:avLst/>
          </a:prstGeom>
          <a:noFill/>
          <a:ln/>
        </p:spPr>
        <p:txBody>
          <a:bodyPr wrap="square" lIns="0" tIns="0" rIns="0" bIns="0" rtlCol="0" anchor="t"/>
          <a:lstStyle/>
          <a:p>
            <a:pPr indent="0" marL="0">
              <a:buNone/>
            </a:pPr>
            <a:r>
              <a:rPr lang="en-US" sz="1200" dirty="0">
                <a:solidFill>
                  <a:schemeClr val="accent6"/>
                </a:solidFill>
              </a:rPr>
              <a:t>one field of an answer</a:t>
            </a:r>
            <a:endParaRPr lang="en-US" sz="1200" dirty="0"/>
          </a:p>
        </p:txBody>
      </p:sp>
      <p:sp>
        <p:nvSpPr>
          <p:cNvPr id="6" name="Text 3"/>
          <p:cNvSpPr txBox="1"/>
          <p:nvPr/>
        </p:nvSpPr>
        <p:spPr>
          <a:xfrm>
            <a:off x="822960" y="2194560"/>
            <a:ext cx="4389120" cy="457200"/>
          </a:xfrm>
          <a:prstGeom prst="rect">
            <a:avLst/>
          </a:prstGeom>
          <a:noFill/>
          <a:ln/>
        </p:spPr>
        <p:txBody>
          <a:bodyPr wrap="square" lIns="0" tIns="0" rIns="0" bIns="0" rtlCol="0" anchor="t"/>
          <a:lstStyle/>
          <a:p>
            <a:pPr indent="0" marL="0">
              <a:buNone/>
            </a:pPr>
            <a:r>
              <a:rPr lang="en-US" sz="1800" b="1" dirty="0">
                <a:solidFill>
                  <a:srgbClr val="D99A3D"/>
                </a:solidFill>
                <a:latin typeface="Consolas" pitchFamily="34" charset="0"/>
                <a:ea typeface="Consolas" pitchFamily="34" charset="-122"/>
                <a:cs typeface="Consolas" pitchFamily="34" charset="-120"/>
              </a:rPr>
              <a:t>value   </a:t>
            </a:r>
            <a:pPr indent="0" marL="0">
              <a:buNone/>
            </a:pPr>
            <a:r>
              <a:rPr lang="en-US" sz="1800" dirty="0">
                <a:solidFill>
                  <a:srgbClr val="FFFFFF"/>
                </a:solidFill>
              </a:rPr>
              <a:t>the answer</a:t>
            </a:r>
            <a:endParaRPr lang="en-US" sz="1800" dirty="0"/>
          </a:p>
        </p:txBody>
      </p:sp>
      <p:sp>
        <p:nvSpPr>
          <p:cNvPr id="7" name="Text 4"/>
          <p:cNvSpPr txBox="1"/>
          <p:nvPr/>
        </p:nvSpPr>
        <p:spPr>
          <a:xfrm>
            <a:off x="822960" y="2834640"/>
            <a:ext cx="4389120" cy="457200"/>
          </a:xfrm>
          <a:prstGeom prst="rect">
            <a:avLst/>
          </a:prstGeom>
          <a:noFill/>
          <a:ln/>
        </p:spPr>
        <p:txBody>
          <a:bodyPr wrap="square" lIns="0" tIns="0" rIns="0" bIns="0" rtlCol="0" anchor="t"/>
          <a:lstStyle/>
          <a:p>
            <a:pPr indent="0" marL="0">
              <a:buNone/>
            </a:pPr>
            <a:r>
              <a:rPr lang="en-US" sz="1800" b="1" dirty="0">
                <a:solidFill>
                  <a:srgbClr val="D99A3D"/>
                </a:solidFill>
                <a:latin typeface="Consolas" pitchFamily="34" charset="0"/>
                <a:ea typeface="Consolas" pitchFamily="34" charset="-122"/>
                <a:cs typeface="Consolas" pitchFamily="34" charset="-120"/>
              </a:rPr>
              <a:t>source  </a:t>
            </a:r>
            <a:pPr indent="0" marL="0">
              <a:buNone/>
            </a:pPr>
            <a:r>
              <a:rPr lang="en-US" sz="1800" dirty="0">
                <a:solidFill>
                  <a:srgbClr val="FFFFFF"/>
                </a:solidFill>
              </a:rPr>
              <a:t>the document it came from</a:t>
            </a:r>
            <a:endParaRPr lang="en-US" sz="1800" dirty="0"/>
          </a:p>
        </p:txBody>
      </p:sp>
      <p:sp>
        <p:nvSpPr>
          <p:cNvPr id="8" name="Text 5"/>
          <p:cNvSpPr txBox="1"/>
          <p:nvPr/>
        </p:nvSpPr>
        <p:spPr>
          <a:xfrm>
            <a:off x="822960" y="3474720"/>
            <a:ext cx="4389120" cy="457200"/>
          </a:xfrm>
          <a:prstGeom prst="rect">
            <a:avLst/>
          </a:prstGeom>
          <a:noFill/>
          <a:ln/>
        </p:spPr>
        <p:txBody>
          <a:bodyPr wrap="square" lIns="0" tIns="0" rIns="0" bIns="0" rtlCol="0" anchor="t"/>
          <a:lstStyle/>
          <a:p>
            <a:pPr indent="0" marL="0">
              <a:buNone/>
            </a:pPr>
            <a:r>
              <a:rPr lang="en-US" sz="1800" b="1" dirty="0">
                <a:solidFill>
                  <a:srgbClr val="D99A3D"/>
                </a:solidFill>
                <a:latin typeface="Consolas" pitchFamily="34" charset="0"/>
                <a:ea typeface="Consolas" pitchFamily="34" charset="-122"/>
                <a:cs typeface="Consolas" pitchFamily="34" charset="-120"/>
              </a:rPr>
              <a:t>span    </a:t>
            </a:r>
            <a:pPr indent="0" marL="0">
              <a:buNone/>
            </a:pPr>
            <a:r>
              <a:rPr lang="en-US" sz="1800" dirty="0">
                <a:solidFill>
                  <a:srgbClr val="FFFFFF"/>
                </a:solidFill>
              </a:rPr>
              <a:t>the words it quotes from it</a:t>
            </a:r>
            <a:endParaRPr lang="en-US" sz="1800" dirty="0"/>
          </a:p>
        </p:txBody>
      </p:sp>
      <p:sp>
        <p:nvSpPr>
          <p:cNvPr id="9" name="Text 6"/>
          <p:cNvSpPr txBox="1"/>
          <p:nvPr/>
        </p:nvSpPr>
        <p:spPr>
          <a:xfrm>
            <a:off x="548640" y="4526280"/>
            <a:ext cx="4937760" cy="640080"/>
          </a:xfrm>
          <a:prstGeom prst="rect">
            <a:avLst/>
          </a:prstGeom>
          <a:noFill/>
          <a:ln/>
        </p:spPr>
        <p:txBody>
          <a:bodyPr wrap="square" lIns="0" tIns="0" rIns="0" bIns="0" rtlCol="0" anchor="t"/>
          <a:lstStyle/>
          <a:p>
            <a:pPr indent="0" marL="0">
              <a:buNone/>
            </a:pPr>
            <a:r>
              <a:rPr lang="en-US" sz="1600" b="1" dirty="0">
                <a:solidFill>
                  <a:schemeClr val="tx2"/>
                </a:solidFill>
              </a:rPr>
              <a:t>Not stated? value: null, with a reason. A valid answer, never a failure.</a:t>
            </a:r>
            <a:endParaRPr lang="en-US" sz="1600" dirty="0"/>
          </a:p>
        </p:txBody>
      </p:sp>
      <p:sp>
        <p:nvSpPr>
          <p:cNvPr id="10" name="Text 7"/>
          <p:cNvSpPr txBox="1"/>
          <p:nvPr/>
        </p:nvSpPr>
        <p:spPr>
          <a:xfrm>
            <a:off x="548640" y="5212080"/>
            <a:ext cx="4937760" cy="822960"/>
          </a:xfrm>
          <a:prstGeom prst="rect">
            <a:avLst/>
          </a:prstGeom>
          <a:noFill/>
          <a:ln/>
        </p:spPr>
        <p:txBody>
          <a:bodyPr wrap="square" lIns="0" tIns="0" rIns="0" bIns="0" rtlCol="0" anchor="t"/>
          <a:lstStyle/>
          <a:p>
            <a:pPr indent="0" marL="0">
              <a:buNone/>
            </a:pPr>
            <a:r>
              <a:rPr lang="en-US" sz="1500" dirty="0">
                <a:solidFill>
                  <a:schemeClr val="accent5"/>
                </a:solidFill>
              </a:rPr>
              <a:t>Malformed output is asked for again once, with the error. A document that still fails does not stop the run.</a:t>
            </a:r>
            <a:endParaRPr lang="en-US" sz="1500" dirty="0"/>
          </a:p>
        </p:txBody>
      </p:sp>
      <p:sp>
        <p:nvSpPr>
          <p:cNvPr id="11" name="Text 8"/>
          <p:cNvSpPr txBox="1"/>
          <p:nvPr/>
        </p:nvSpPr>
        <p:spPr>
          <a:xfrm>
            <a:off x="5943600" y="1554480"/>
            <a:ext cx="5699455" cy="365760"/>
          </a:xfrm>
          <a:prstGeom prst="rect">
            <a:avLst/>
          </a:prstGeom>
          <a:noFill/>
          <a:ln/>
        </p:spPr>
        <p:txBody>
          <a:bodyPr wrap="square" lIns="0" tIns="0" rIns="0" bIns="0" rtlCol="0" anchor="t"/>
          <a:lstStyle/>
          <a:p>
            <a:pPr indent="0" marL="0">
              <a:buNone/>
            </a:pPr>
            <a:r>
              <a:rPr lang="en-US" sz="1800" b="1" dirty="0">
                <a:solidFill>
                  <a:schemeClr val="tx2"/>
                </a:solidFill>
              </a:rPr>
              <a:t>Three grounding states</a:t>
            </a:r>
            <a:endParaRPr lang="en-US" sz="1800" dirty="0"/>
          </a:p>
        </p:txBody>
      </p:sp>
      <p:sp>
        <p:nvSpPr>
          <p:cNvPr id="12" name="valid"/>
          <p:cNvSpPr/>
          <p:nvPr/>
        </p:nvSpPr>
        <p:spPr>
          <a:xfrm>
            <a:off x="5943600" y="2103120"/>
            <a:ext cx="5699455" cy="1097280"/>
          </a:xfrm>
          <a:prstGeom prst="roundRect">
            <a:avLst>
              <a:gd name="adj" fmla="val 6667"/>
            </a:avLst>
          </a:prstGeom>
          <a:solidFill>
            <a:schemeClr val="bg2"/>
          </a:solidFill>
          <a:ln/>
        </p:spPr>
      </p:sp>
      <p:sp>
        <p:nvSpPr>
          <p:cNvPr id="13" name="valid badge"/>
          <p:cNvSpPr/>
          <p:nvPr/>
        </p:nvSpPr>
        <p:spPr>
          <a:xfrm>
            <a:off x="6172200" y="2331720"/>
            <a:ext cx="640080" cy="640080"/>
          </a:xfrm>
          <a:prstGeom prst="ellipse">
            <a:avLst/>
          </a:prstGeom>
          <a:solidFill>
            <a:schemeClr val="accent4"/>
          </a:solidFill>
          <a:ln/>
        </p:spPr>
      </p:sp>
      <p:pic>
        <p:nvPicPr>
          <p:cNvPr id="14" name="valid icon" descr="preencoded.png">    </p:cNvPr>
          <p:cNvPicPr>
            <a:picLocks noChangeAspect="1"/>
          </p:cNvPicPr>
          <p:nvPr/>
        </p:nvPicPr>
        <p:blipFill>
          <a:blip r:embed="rId1"/>
          <a:stretch>
            <a:fillRect/>
          </a:stretch>
        </p:blipFill>
        <p:spPr>
          <a:xfrm>
            <a:off x="6332220" y="2491740"/>
            <a:ext cx="320040" cy="320040"/>
          </a:xfrm>
          <a:prstGeom prst="rect">
            <a:avLst/>
          </a:prstGeom>
        </p:spPr>
      </p:pic>
      <p:sp>
        <p:nvSpPr>
          <p:cNvPr id="15" name="Text 11"/>
          <p:cNvSpPr txBox="1"/>
          <p:nvPr/>
        </p:nvSpPr>
        <p:spPr>
          <a:xfrm>
            <a:off x="7040880" y="2240280"/>
            <a:ext cx="4419295" cy="365760"/>
          </a:xfrm>
          <a:prstGeom prst="rect">
            <a:avLst/>
          </a:prstGeom>
          <a:noFill/>
          <a:ln/>
        </p:spPr>
        <p:txBody>
          <a:bodyPr wrap="square" lIns="0" tIns="0" rIns="0" bIns="0" rtlCol="0" anchor="t"/>
          <a:lstStyle/>
          <a:p>
            <a:pPr indent="0" marL="0">
              <a:buNone/>
            </a:pPr>
            <a:r>
              <a:rPr lang="en-US" sz="1800" b="1" dirty="0">
                <a:solidFill>
                  <a:schemeClr val="tx2"/>
                </a:solidFill>
                <a:latin typeface="Consolas" pitchFamily="34" charset="0"/>
                <a:ea typeface="Consolas" pitchFamily="34" charset="-122"/>
                <a:cs typeface="Consolas" pitchFamily="34" charset="-120"/>
              </a:rPr>
              <a:t>valid</a:t>
            </a:r>
            <a:endParaRPr lang="en-US" sz="1800" dirty="0"/>
          </a:p>
        </p:txBody>
      </p:sp>
      <p:sp>
        <p:nvSpPr>
          <p:cNvPr id="16" name="Text 12"/>
          <p:cNvSpPr txBox="1"/>
          <p:nvPr/>
        </p:nvSpPr>
        <p:spPr>
          <a:xfrm>
            <a:off x="7040880" y="2606040"/>
            <a:ext cx="4419295" cy="548640"/>
          </a:xfrm>
          <a:prstGeom prst="rect">
            <a:avLst/>
          </a:prstGeom>
          <a:noFill/>
          <a:ln/>
        </p:spPr>
        <p:txBody>
          <a:bodyPr wrap="square" lIns="0" tIns="0" rIns="0" bIns="0" rtlCol="0" anchor="t"/>
          <a:lstStyle/>
          <a:p>
            <a:pPr indent="0" marL="0">
              <a:buNone/>
            </a:pPr>
            <a:r>
              <a:rPr lang="en-US" sz="1500" dirty="0">
                <a:solidFill>
                  <a:schemeClr val="tx1"/>
                </a:solidFill>
              </a:rPr>
              <a:t>The span is found in the document. Scored on what it says.</a:t>
            </a:r>
            <a:endParaRPr lang="en-US" sz="1500" dirty="0"/>
          </a:p>
        </p:txBody>
      </p:sp>
      <p:sp>
        <p:nvSpPr>
          <p:cNvPr id="17" name="ungrounded"/>
          <p:cNvSpPr/>
          <p:nvPr/>
        </p:nvSpPr>
        <p:spPr>
          <a:xfrm>
            <a:off x="5943600" y="3383280"/>
            <a:ext cx="5699455" cy="1097280"/>
          </a:xfrm>
          <a:prstGeom prst="roundRect">
            <a:avLst>
              <a:gd name="adj" fmla="val 6667"/>
            </a:avLst>
          </a:prstGeom>
          <a:solidFill>
            <a:schemeClr val="bg2"/>
          </a:solidFill>
          <a:ln/>
        </p:spPr>
      </p:sp>
      <p:sp>
        <p:nvSpPr>
          <p:cNvPr id="18" name="ungrounded badge"/>
          <p:cNvSpPr/>
          <p:nvPr/>
        </p:nvSpPr>
        <p:spPr>
          <a:xfrm>
            <a:off x="6172200" y="3611880"/>
            <a:ext cx="640080" cy="640080"/>
          </a:xfrm>
          <a:prstGeom prst="ellipse">
            <a:avLst/>
          </a:prstGeom>
          <a:solidFill>
            <a:schemeClr val="accent3"/>
          </a:solidFill>
          <a:ln/>
        </p:spPr>
      </p:sp>
      <p:pic>
        <p:nvPicPr>
          <p:cNvPr id="19" name="ungrounded icon" descr="preencoded.png">    </p:cNvPr>
          <p:cNvPicPr>
            <a:picLocks noChangeAspect="1"/>
          </p:cNvPicPr>
          <p:nvPr/>
        </p:nvPicPr>
        <p:blipFill>
          <a:blip r:embed="rId2"/>
          <a:stretch>
            <a:fillRect/>
          </a:stretch>
        </p:blipFill>
        <p:spPr>
          <a:xfrm>
            <a:off x="6332220" y="3771900"/>
            <a:ext cx="320040" cy="320040"/>
          </a:xfrm>
          <a:prstGeom prst="rect">
            <a:avLst/>
          </a:prstGeom>
        </p:spPr>
      </p:pic>
      <p:sp>
        <p:nvSpPr>
          <p:cNvPr id="20" name="Text 15"/>
          <p:cNvSpPr txBox="1"/>
          <p:nvPr/>
        </p:nvSpPr>
        <p:spPr>
          <a:xfrm>
            <a:off x="7040880" y="3520440"/>
            <a:ext cx="4419295" cy="365760"/>
          </a:xfrm>
          <a:prstGeom prst="rect">
            <a:avLst/>
          </a:prstGeom>
          <a:noFill/>
          <a:ln/>
        </p:spPr>
        <p:txBody>
          <a:bodyPr wrap="square" lIns="0" tIns="0" rIns="0" bIns="0" rtlCol="0" anchor="t"/>
          <a:lstStyle/>
          <a:p>
            <a:pPr indent="0" marL="0">
              <a:buNone/>
            </a:pPr>
            <a:r>
              <a:rPr lang="en-US" sz="1800" b="1" dirty="0">
                <a:solidFill>
                  <a:schemeClr val="tx2"/>
                </a:solidFill>
                <a:latin typeface="Consolas" pitchFamily="34" charset="0"/>
                <a:ea typeface="Consolas" pitchFamily="34" charset="-122"/>
                <a:cs typeface="Consolas" pitchFamily="34" charset="-120"/>
              </a:rPr>
              <a:t>ungrounded</a:t>
            </a:r>
            <a:endParaRPr lang="en-US" sz="1800" dirty="0"/>
          </a:p>
        </p:txBody>
      </p:sp>
      <p:sp>
        <p:nvSpPr>
          <p:cNvPr id="21" name="Text 16"/>
          <p:cNvSpPr txBox="1"/>
          <p:nvPr/>
        </p:nvSpPr>
        <p:spPr>
          <a:xfrm>
            <a:off x="7040880" y="3886200"/>
            <a:ext cx="4419295" cy="548640"/>
          </a:xfrm>
          <a:prstGeom prst="rect">
            <a:avLst/>
          </a:prstGeom>
          <a:noFill/>
          <a:ln/>
        </p:spPr>
        <p:txBody>
          <a:bodyPr wrap="square" lIns="0" tIns="0" rIns="0" bIns="0" rtlCol="0" anchor="t"/>
          <a:lstStyle/>
          <a:p>
            <a:pPr indent="0" marL="0">
              <a:buNone/>
            </a:pPr>
            <a:r>
              <a:rPr lang="en-US" sz="1500" dirty="0">
                <a:solidFill>
                  <a:schemeClr val="tx1"/>
                </a:solidFill>
              </a:rPr>
              <a:t>The span is not there. Scored incorrect, whatever it says.</a:t>
            </a:r>
            <a:endParaRPr lang="en-US" sz="1500" dirty="0"/>
          </a:p>
        </p:txBody>
      </p:sp>
      <p:sp>
        <p:nvSpPr>
          <p:cNvPr id="22" name="described"/>
          <p:cNvSpPr/>
          <p:nvPr/>
        </p:nvSpPr>
        <p:spPr>
          <a:xfrm>
            <a:off x="5943600" y="4663440"/>
            <a:ext cx="5699455" cy="1097280"/>
          </a:xfrm>
          <a:prstGeom prst="roundRect">
            <a:avLst>
              <a:gd name="adj" fmla="val 6667"/>
            </a:avLst>
          </a:prstGeom>
          <a:solidFill>
            <a:schemeClr val="bg2"/>
          </a:solidFill>
          <a:ln/>
        </p:spPr>
      </p:sp>
      <p:sp>
        <p:nvSpPr>
          <p:cNvPr id="23" name="described badge"/>
          <p:cNvSpPr/>
          <p:nvPr/>
        </p:nvSpPr>
        <p:spPr>
          <a:xfrm>
            <a:off x="6172200" y="4892040"/>
            <a:ext cx="640080" cy="640080"/>
          </a:xfrm>
          <a:prstGeom prst="ellipse">
            <a:avLst/>
          </a:prstGeom>
          <a:solidFill>
            <a:schemeClr val="accent2"/>
          </a:solidFill>
          <a:ln/>
        </p:spPr>
      </p:sp>
      <p:pic>
        <p:nvPicPr>
          <p:cNvPr id="24" name="described icon" descr="preencoded.png">    </p:cNvPr>
          <p:cNvPicPr>
            <a:picLocks noChangeAspect="1"/>
          </p:cNvPicPr>
          <p:nvPr/>
        </p:nvPicPr>
        <p:blipFill>
          <a:blip r:embed="rId3"/>
          <a:stretch>
            <a:fillRect/>
          </a:stretch>
        </p:blipFill>
        <p:spPr>
          <a:xfrm>
            <a:off x="6332220" y="5052060"/>
            <a:ext cx="320040" cy="320040"/>
          </a:xfrm>
          <a:prstGeom prst="rect">
            <a:avLst/>
          </a:prstGeom>
        </p:spPr>
      </p:pic>
      <p:sp>
        <p:nvSpPr>
          <p:cNvPr id="25" name="Text 19"/>
          <p:cNvSpPr txBox="1"/>
          <p:nvPr/>
        </p:nvSpPr>
        <p:spPr>
          <a:xfrm>
            <a:off x="7040880" y="4800600"/>
            <a:ext cx="4419295" cy="365760"/>
          </a:xfrm>
          <a:prstGeom prst="rect">
            <a:avLst/>
          </a:prstGeom>
          <a:noFill/>
          <a:ln/>
        </p:spPr>
        <p:txBody>
          <a:bodyPr wrap="square" lIns="0" tIns="0" rIns="0" bIns="0" rtlCol="0" anchor="t"/>
          <a:lstStyle/>
          <a:p>
            <a:pPr indent="0" marL="0">
              <a:buNone/>
            </a:pPr>
            <a:r>
              <a:rPr lang="en-US" sz="1800" b="1" dirty="0">
                <a:solidFill>
                  <a:schemeClr val="tx2"/>
                </a:solidFill>
                <a:latin typeface="Consolas" pitchFamily="34" charset="0"/>
                <a:ea typeface="Consolas" pitchFamily="34" charset="-122"/>
                <a:cs typeface="Consolas" pitchFamily="34" charset="-120"/>
              </a:rPr>
              <a:t>described</a:t>
            </a:r>
            <a:endParaRPr lang="en-US" sz="1800" dirty="0"/>
          </a:p>
        </p:txBody>
      </p:sp>
      <p:sp>
        <p:nvSpPr>
          <p:cNvPr id="26" name="Text 20"/>
          <p:cNvSpPr txBox="1"/>
          <p:nvPr/>
        </p:nvSpPr>
        <p:spPr>
          <a:xfrm>
            <a:off x="7040880" y="5166360"/>
            <a:ext cx="4419295" cy="548640"/>
          </a:xfrm>
          <a:prstGeom prst="rect">
            <a:avLst/>
          </a:prstGeom>
          <a:noFill/>
          <a:ln/>
        </p:spPr>
        <p:txBody>
          <a:bodyPr wrap="square" lIns="0" tIns="0" rIns="0" bIns="0" rtlCol="0" anchor="t"/>
          <a:lstStyle/>
          <a:p>
            <a:pPr indent="0" marL="0">
              <a:buNone/>
            </a:pPr>
            <a:r>
              <a:rPr lang="en-US" sz="1500" dirty="0">
                <a:solidFill>
                  <a:schemeClr val="tx1"/>
                </a:solidFill>
              </a:rPr>
              <a:t>Read from a picture of a page, which no string search can check.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Scored against answers a person verified</a:t>
            </a:r>
            <a:endParaRPr lang="en-US" sz="3600" dirty="0"/>
          </a:p>
        </p:txBody>
      </p:sp>
      <p:sp>
        <p:nvSpPr>
          <p:cNvPr id="4" name="Text 1"/>
          <p:cNvSpPr txBox="1"/>
          <p:nvPr/>
        </p:nvSpPr>
        <p:spPr>
          <a:xfrm>
            <a:off x="548640" y="1554480"/>
            <a:ext cx="5852160" cy="365760"/>
          </a:xfrm>
          <a:prstGeom prst="rect">
            <a:avLst/>
          </a:prstGeom>
          <a:noFill/>
          <a:ln/>
        </p:spPr>
        <p:txBody>
          <a:bodyPr wrap="square" lIns="0" tIns="0" rIns="0" bIns="0" rtlCol="0" anchor="t"/>
          <a:lstStyle/>
          <a:p>
            <a:pPr indent="0" marL="0">
              <a:buNone/>
            </a:pPr>
            <a:r>
              <a:rPr lang="en-US" sz="1800" b="1" dirty="0">
                <a:solidFill>
                  <a:schemeClr val="tx2"/>
                </a:solidFill>
              </a:rPr>
              <a:t>Scored exactly: no model, no network</a:t>
            </a:r>
            <a:endParaRPr lang="en-US" sz="1800" dirty="0"/>
          </a:p>
        </p:txBody>
      </p:sp>
      <p:sp>
        <p:nvSpPr>
          <p:cNvPr id="5" name="Shape 2"/>
          <p:cNvSpPr/>
          <p:nvPr/>
        </p:nvSpPr>
        <p:spPr>
          <a:xfrm>
            <a:off x="548640" y="2057400"/>
            <a:ext cx="1325880" cy="530352"/>
          </a:xfrm>
          <a:prstGeom prst="roundRect">
            <a:avLst>
              <a:gd name="adj" fmla="val 10345"/>
            </a:avLst>
          </a:prstGeom>
          <a:solidFill>
            <a:schemeClr val="accent1"/>
          </a:solidFill>
          <a:ln/>
        </p:spPr>
      </p:sp>
      <p:sp>
        <p:nvSpPr>
          <p:cNvPr id="6" name="Text 3"/>
          <p:cNvSpPr txBox="1"/>
          <p:nvPr/>
        </p:nvSpPr>
        <p:spPr>
          <a:xfrm>
            <a:off x="548640" y="20574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amount</a:t>
            </a:r>
            <a:endParaRPr lang="en-US" sz="1600" dirty="0"/>
          </a:p>
        </p:txBody>
      </p:sp>
      <p:sp>
        <p:nvSpPr>
          <p:cNvPr id="7" name="Shape 4"/>
          <p:cNvSpPr/>
          <p:nvPr/>
        </p:nvSpPr>
        <p:spPr>
          <a:xfrm>
            <a:off x="2057400" y="2057400"/>
            <a:ext cx="1325880" cy="530352"/>
          </a:xfrm>
          <a:prstGeom prst="roundRect">
            <a:avLst>
              <a:gd name="adj" fmla="val 10345"/>
            </a:avLst>
          </a:prstGeom>
          <a:solidFill>
            <a:schemeClr val="accent1"/>
          </a:solidFill>
          <a:ln/>
        </p:spPr>
      </p:sp>
      <p:sp>
        <p:nvSpPr>
          <p:cNvPr id="8" name="Text 5"/>
          <p:cNvSpPr txBox="1"/>
          <p:nvPr/>
        </p:nvSpPr>
        <p:spPr>
          <a:xfrm>
            <a:off x="2057400" y="20574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date</a:t>
            </a:r>
            <a:endParaRPr lang="en-US" sz="1600" dirty="0"/>
          </a:p>
        </p:txBody>
      </p:sp>
      <p:sp>
        <p:nvSpPr>
          <p:cNvPr id="9" name="Shape 6"/>
          <p:cNvSpPr/>
          <p:nvPr/>
        </p:nvSpPr>
        <p:spPr>
          <a:xfrm>
            <a:off x="3566160" y="2057400"/>
            <a:ext cx="1325880" cy="530352"/>
          </a:xfrm>
          <a:prstGeom prst="roundRect">
            <a:avLst>
              <a:gd name="adj" fmla="val 10345"/>
            </a:avLst>
          </a:prstGeom>
          <a:solidFill>
            <a:schemeClr val="accent1"/>
          </a:solidFill>
          <a:ln/>
        </p:spPr>
      </p:sp>
      <p:sp>
        <p:nvSpPr>
          <p:cNvPr id="10" name="Text 7"/>
          <p:cNvSpPr txBox="1"/>
          <p:nvPr/>
        </p:nvSpPr>
        <p:spPr>
          <a:xfrm>
            <a:off x="3566160" y="20574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reference</a:t>
            </a:r>
            <a:endParaRPr lang="en-US" sz="1600" dirty="0"/>
          </a:p>
        </p:txBody>
      </p:sp>
      <p:sp>
        <p:nvSpPr>
          <p:cNvPr id="11" name="Shape 8"/>
          <p:cNvSpPr/>
          <p:nvPr/>
        </p:nvSpPr>
        <p:spPr>
          <a:xfrm>
            <a:off x="5074920" y="2057400"/>
            <a:ext cx="1325880" cy="530352"/>
          </a:xfrm>
          <a:prstGeom prst="roundRect">
            <a:avLst>
              <a:gd name="adj" fmla="val 10345"/>
            </a:avLst>
          </a:prstGeom>
          <a:solidFill>
            <a:schemeClr val="accent1"/>
          </a:solidFill>
          <a:ln/>
        </p:spPr>
      </p:sp>
      <p:sp>
        <p:nvSpPr>
          <p:cNvPr id="12" name="Text 9"/>
          <p:cNvSpPr txBox="1"/>
          <p:nvPr/>
        </p:nvSpPr>
        <p:spPr>
          <a:xfrm>
            <a:off x="5074920" y="20574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enum</a:t>
            </a:r>
            <a:endParaRPr lang="en-US" sz="1600" dirty="0"/>
          </a:p>
        </p:txBody>
      </p:sp>
      <p:sp>
        <p:nvSpPr>
          <p:cNvPr id="13" name="Shape 10"/>
          <p:cNvSpPr/>
          <p:nvPr/>
        </p:nvSpPr>
        <p:spPr>
          <a:xfrm>
            <a:off x="548640" y="2743200"/>
            <a:ext cx="1325880" cy="530352"/>
          </a:xfrm>
          <a:prstGeom prst="roundRect">
            <a:avLst>
              <a:gd name="adj" fmla="val 10345"/>
            </a:avLst>
          </a:prstGeom>
          <a:solidFill>
            <a:schemeClr val="accent1"/>
          </a:solidFill>
          <a:ln/>
        </p:spPr>
      </p:sp>
      <p:sp>
        <p:nvSpPr>
          <p:cNvPr id="14" name="Text 11"/>
          <p:cNvSpPr txBox="1"/>
          <p:nvPr/>
        </p:nvSpPr>
        <p:spPr>
          <a:xfrm>
            <a:off x="548640" y="27432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boolean</a:t>
            </a:r>
            <a:endParaRPr lang="en-US" sz="1600" dirty="0"/>
          </a:p>
        </p:txBody>
      </p:sp>
      <p:sp>
        <p:nvSpPr>
          <p:cNvPr id="15" name="Shape 12"/>
          <p:cNvSpPr/>
          <p:nvPr/>
        </p:nvSpPr>
        <p:spPr>
          <a:xfrm>
            <a:off x="2057400" y="2743200"/>
            <a:ext cx="1325880" cy="530352"/>
          </a:xfrm>
          <a:prstGeom prst="roundRect">
            <a:avLst>
              <a:gd name="adj" fmla="val 10345"/>
            </a:avLst>
          </a:prstGeom>
          <a:solidFill>
            <a:schemeClr val="accent1"/>
          </a:solidFill>
          <a:ln/>
        </p:spPr>
      </p:sp>
      <p:sp>
        <p:nvSpPr>
          <p:cNvPr id="16" name="Text 13"/>
          <p:cNvSpPr txBox="1"/>
          <p:nvPr/>
        </p:nvSpPr>
        <p:spPr>
          <a:xfrm>
            <a:off x="2057400" y="27432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duration</a:t>
            </a:r>
            <a:endParaRPr lang="en-US" sz="1600" dirty="0"/>
          </a:p>
        </p:txBody>
      </p:sp>
      <p:sp>
        <p:nvSpPr>
          <p:cNvPr id="17" name="Shape 14"/>
          <p:cNvSpPr/>
          <p:nvPr/>
        </p:nvSpPr>
        <p:spPr>
          <a:xfrm>
            <a:off x="3566160" y="2743200"/>
            <a:ext cx="1325880" cy="530352"/>
          </a:xfrm>
          <a:prstGeom prst="roundRect">
            <a:avLst>
              <a:gd name="adj" fmla="val 10345"/>
            </a:avLst>
          </a:prstGeom>
          <a:solidFill>
            <a:schemeClr val="accent1"/>
          </a:solidFill>
          <a:ln/>
        </p:spPr>
      </p:sp>
      <p:sp>
        <p:nvSpPr>
          <p:cNvPr id="18" name="Text 15"/>
          <p:cNvSpPr txBox="1"/>
          <p:nvPr/>
        </p:nvSpPr>
        <p:spPr>
          <a:xfrm>
            <a:off x="3566160" y="2743200"/>
            <a:ext cx="1325880" cy="530352"/>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list</a:t>
            </a:r>
            <a:endParaRPr lang="en-US" sz="1600" dirty="0"/>
          </a:p>
        </p:txBody>
      </p:sp>
      <p:sp>
        <p:nvSpPr>
          <p:cNvPr id="19" name="Text 16"/>
          <p:cNvSpPr txBox="1"/>
          <p:nvPr/>
        </p:nvSpPr>
        <p:spPr>
          <a:xfrm>
            <a:off x="548640" y="3611880"/>
            <a:ext cx="5852160" cy="365760"/>
          </a:xfrm>
          <a:prstGeom prst="rect">
            <a:avLst/>
          </a:prstGeom>
          <a:noFill/>
          <a:ln/>
        </p:spPr>
        <p:txBody>
          <a:bodyPr wrap="square" lIns="0" tIns="0" rIns="0" bIns="0" rtlCol="0" anchor="t"/>
          <a:lstStyle/>
          <a:p>
            <a:pPr indent="0" marL="0">
              <a:buNone/>
            </a:pPr>
            <a:r>
              <a:rPr lang="en-US" sz="1800" b="1" dirty="0">
                <a:solidFill>
                  <a:schemeClr val="tx2"/>
                </a:solidFill>
              </a:rPr>
              <a:t>Asked of a judge</a:t>
            </a:r>
            <a:endParaRPr lang="en-US" sz="1800" dirty="0"/>
          </a:p>
        </p:txBody>
      </p:sp>
      <p:sp>
        <p:nvSpPr>
          <p:cNvPr id="20" name="Shape 17"/>
          <p:cNvSpPr/>
          <p:nvPr/>
        </p:nvSpPr>
        <p:spPr>
          <a:xfrm>
            <a:off x="548640" y="4114800"/>
            <a:ext cx="1325880" cy="530352"/>
          </a:xfrm>
          <a:prstGeom prst="roundRect">
            <a:avLst>
              <a:gd name="adj" fmla="val 10345"/>
            </a:avLst>
          </a:prstGeom>
          <a:solidFill>
            <a:schemeClr val="accent2"/>
          </a:solidFill>
          <a:ln/>
        </p:spPr>
      </p:sp>
      <p:sp>
        <p:nvSpPr>
          <p:cNvPr id="21" name="Text 18"/>
          <p:cNvSpPr txBox="1"/>
          <p:nvPr/>
        </p:nvSpPr>
        <p:spPr>
          <a:xfrm>
            <a:off x="548640" y="4114800"/>
            <a:ext cx="1325880" cy="530352"/>
          </a:xfrm>
          <a:prstGeom prst="rect">
            <a:avLst/>
          </a:prstGeom>
          <a:noFill/>
          <a:ln/>
        </p:spPr>
        <p:txBody>
          <a:bodyPr wrap="square" lIns="0" tIns="0" rIns="0" bIns="0" rtlCol="0" anchor="ctr"/>
          <a:lstStyle/>
          <a:p>
            <a:pPr algn="ctr" indent="0" marL="0">
              <a:buNone/>
            </a:pPr>
            <a:r>
              <a:rPr lang="en-US" sz="1600" b="1" dirty="0">
                <a:solidFill>
                  <a:schemeClr val="tx2"/>
                </a:solidFill>
                <a:latin typeface="Consolas" pitchFamily="34" charset="0"/>
                <a:ea typeface="Consolas" pitchFamily="34" charset="-122"/>
                <a:cs typeface="Consolas" pitchFamily="34" charset="-120"/>
              </a:rPr>
              <a:t>free_text</a:t>
            </a:r>
            <a:endParaRPr lang="en-US" sz="1600" dirty="0"/>
          </a:p>
        </p:txBody>
      </p:sp>
      <p:sp>
        <p:nvSpPr>
          <p:cNvPr id="22" name="Shape 19"/>
          <p:cNvSpPr/>
          <p:nvPr/>
        </p:nvSpPr>
        <p:spPr>
          <a:xfrm>
            <a:off x="1920240" y="4379976"/>
            <a:ext cx="411480" cy="0"/>
          </a:xfrm>
          <a:prstGeom prst="line">
            <a:avLst/>
          </a:prstGeom>
          <a:noFill/>
          <a:ln w="25400">
            <a:solidFill>
              <a:schemeClr val="accent5"/>
            </a:solidFill>
            <a:prstDash val="solid"/>
            <a:tailEnd type="triangle"/>
          </a:ln>
        </p:spPr>
      </p:sp>
      <p:sp>
        <p:nvSpPr>
          <p:cNvPr id="23" name="calibrate"/>
          <p:cNvSpPr/>
          <p:nvPr/>
        </p:nvSpPr>
        <p:spPr>
          <a:xfrm>
            <a:off x="2377440" y="3931920"/>
            <a:ext cx="4023360" cy="1463040"/>
          </a:xfrm>
          <a:prstGeom prst="roundRect">
            <a:avLst>
              <a:gd name="adj" fmla="val 5000"/>
            </a:avLst>
          </a:prstGeom>
          <a:solidFill>
            <a:schemeClr val="bg2"/>
          </a:solidFill>
          <a:ln/>
        </p:spPr>
      </p:sp>
      <p:sp>
        <p:nvSpPr>
          <p:cNvPr id="24" name="Text 21"/>
          <p:cNvSpPr txBox="1"/>
          <p:nvPr/>
        </p:nvSpPr>
        <p:spPr>
          <a:xfrm>
            <a:off x="2560320" y="4069080"/>
            <a:ext cx="3657600" cy="1234440"/>
          </a:xfrm>
          <a:prstGeom prst="rect">
            <a:avLst/>
          </a:prstGeom>
          <a:noFill/>
          <a:ln/>
        </p:spPr>
        <p:txBody>
          <a:bodyPr wrap="square" lIns="0" tIns="0" rIns="0" bIns="0" rtlCol="0" anchor="t"/>
          <a:lstStyle/>
          <a:p>
            <a:pPr indent="0" marL="0">
              <a:buNone/>
            </a:pPr>
            <a:r>
              <a:rPr lang="en-US" sz="1500" b="1" dirty="0">
                <a:solidFill>
                  <a:srgbClr val="1F6F78"/>
                </a:solidFill>
                <a:latin typeface="Consolas" pitchFamily="34" charset="0"/>
                <a:ea typeface="Consolas" pitchFamily="34" charset="-122"/>
                <a:cs typeface="Consolas" pitchFamily="34" charset="-120"/>
              </a:rPr>
              <a:t>dossier calibrate</a:t>
            </a:r>
            <a:endParaRPr lang="en-US" sz="1500" dirty="0"/>
          </a:p>
          <a:p>
            <a:pPr indent="0" marL="0">
              <a:buNone/>
            </a:pPr>
            <a:r>
              <a:rPr lang="en-US" sz="1500" dirty="0">
                <a:solidFill>
                  <a:schemeClr val="tx1"/>
                </a:solidFill>
              </a:rPr>
              <a:t>measures the judge against a sample a person scored. Below the agreed threshold, its scores are withheld.</a:t>
            </a:r>
            <a:endParaRPr lang="en-US" sz="1500" dirty="0"/>
          </a:p>
        </p:txBody>
      </p:sp>
      <p:sp>
        <p:nvSpPr>
          <p:cNvPr id="25" name="the change gate"/>
          <p:cNvSpPr/>
          <p:nvPr/>
        </p:nvSpPr>
        <p:spPr>
          <a:xfrm>
            <a:off x="6858000" y="1554480"/>
            <a:ext cx="4785055" cy="3840480"/>
          </a:xfrm>
          <a:prstGeom prst="roundRect">
            <a:avLst>
              <a:gd name="adj" fmla="val 1905"/>
            </a:avLst>
          </a:prstGeom>
          <a:solidFill>
            <a:schemeClr val="tx2"/>
          </a:solidFill>
          <a:ln/>
        </p:spPr>
      </p:sp>
      <p:sp>
        <p:nvSpPr>
          <p:cNvPr id="26" name="compare badge"/>
          <p:cNvSpPr/>
          <p:nvPr/>
        </p:nvSpPr>
        <p:spPr>
          <a:xfrm>
            <a:off x="7132320" y="1783080"/>
            <a:ext cx="731520" cy="731520"/>
          </a:xfrm>
          <a:prstGeom prst="ellipse">
            <a:avLst/>
          </a:prstGeom>
          <a:solidFill>
            <a:schemeClr val="accent2"/>
          </a:solidFill>
          <a:ln/>
        </p:spPr>
      </p:sp>
      <p:pic>
        <p:nvPicPr>
          <p:cNvPr id="27" name="compare icon" descr="preencoded.png">    </p:cNvPr>
          <p:cNvPicPr>
            <a:picLocks noChangeAspect="1"/>
          </p:cNvPicPr>
          <p:nvPr/>
        </p:nvPicPr>
        <p:blipFill>
          <a:blip r:embed="rId1"/>
          <a:stretch>
            <a:fillRect/>
          </a:stretch>
        </p:blipFill>
        <p:spPr>
          <a:xfrm>
            <a:off x="7315200" y="1965960"/>
            <a:ext cx="365760" cy="365760"/>
          </a:xfrm>
          <a:prstGeom prst="rect">
            <a:avLst/>
          </a:prstGeom>
        </p:spPr>
      </p:pic>
      <p:sp>
        <p:nvSpPr>
          <p:cNvPr id="28" name="Text 24"/>
          <p:cNvSpPr txBox="1"/>
          <p:nvPr/>
        </p:nvSpPr>
        <p:spPr>
          <a:xfrm>
            <a:off x="8046720" y="1828800"/>
            <a:ext cx="3413455" cy="548640"/>
          </a:xfrm>
          <a:prstGeom prst="rect">
            <a:avLst/>
          </a:prstGeom>
          <a:noFill/>
          <a:ln/>
        </p:spPr>
        <p:txBody>
          <a:bodyPr wrap="square" lIns="0" tIns="0" rIns="0" bIns="0" rtlCol="0" anchor="ctr"/>
          <a:lstStyle/>
          <a:p>
            <a:pPr indent="0" marL="0">
              <a:buNone/>
            </a:pPr>
            <a:r>
              <a:rPr lang="en-US" sz="2200" b="1" dirty="0">
                <a:solidFill>
                  <a:schemeClr val="bg1"/>
                </a:solidFill>
              </a:rPr>
              <a:t>The change gate</a:t>
            </a:r>
            <a:endParaRPr lang="en-US" sz="2200" dirty="0"/>
          </a:p>
        </p:txBody>
      </p:sp>
      <p:sp>
        <p:nvSpPr>
          <p:cNvPr id="29" name="Text 25"/>
          <p:cNvSpPr txBox="1"/>
          <p:nvPr/>
        </p:nvSpPr>
        <p:spPr>
          <a:xfrm>
            <a:off x="7132320" y="2697480"/>
            <a:ext cx="4236415" cy="685800"/>
          </a:xfrm>
          <a:prstGeom prst="rect">
            <a:avLst/>
          </a:prstGeom>
          <a:noFill/>
          <a:ln/>
        </p:spPr>
        <p:txBody>
          <a:bodyPr wrap="square" lIns="0" tIns="0" rIns="0" bIns="0" rtlCol="0" anchor="t"/>
          <a:lstStyle/>
          <a:p>
            <a:pPr indent="0" marL="0">
              <a:buNone/>
            </a:pPr>
            <a:r>
              <a:rPr lang="en-US" sz="1500" dirty="0">
                <a:solidFill>
                  <a:schemeClr val="accent2"/>
                </a:solidFill>
                <a:latin typeface="Consolas" pitchFamily="34" charset="0"/>
                <a:ea typeface="Consolas" pitchFamily="34" charset="-122"/>
                <a:cs typeface="Consolas" pitchFamily="34" charset="-120"/>
              </a:rPr>
              <a:t>dossier eval incident-audit --compare &lt;run a&gt; &lt;run b&gt;</a:t>
            </a:r>
            <a:endParaRPr lang="en-US" sz="1500" dirty="0"/>
          </a:p>
        </p:txBody>
      </p:sp>
      <p:sp>
        <p:nvSpPr>
          <p:cNvPr id="30" name="Text 26"/>
          <p:cNvSpPr txBox="1"/>
          <p:nvPr/>
        </p:nvSpPr>
        <p:spPr>
          <a:xfrm>
            <a:off x="7132320" y="3474720"/>
            <a:ext cx="4236415" cy="1463040"/>
          </a:xfrm>
          <a:prstGeom prst="rect">
            <a:avLst/>
          </a:prstGeom>
          <a:noFill/>
          <a:ln/>
        </p:spPr>
        <p:txBody>
          <a:bodyPr wrap="square" lIns="0" tIns="0" rIns="0" bIns="0" rtlCol="0" anchor="t"/>
          <a:lstStyle/>
          <a:p>
            <a:pPr indent="0" marL="0">
              <a:buNone/>
            </a:pPr>
            <a:r>
              <a:rPr lang="en-US" sz="1600" dirty="0">
                <a:solidFill>
                  <a:schemeClr val="bg1"/>
                </a:solidFill>
              </a:rPr>
              <a:t>Two runs, field by field, over the documents both answered. A field that got worse is named a regression, before the prompt change ships.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MLflow: the record, and the review</a:t>
            </a:r>
            <a:endParaRPr lang="en-US" sz="3600" dirty="0"/>
          </a:p>
        </p:txBody>
      </p:sp>
      <p:sp>
        <p:nvSpPr>
          <p:cNvPr id="4" name="Shape 1"/>
          <p:cNvSpPr/>
          <p:nvPr/>
        </p:nvSpPr>
        <p:spPr>
          <a:xfrm>
            <a:off x="1828800" y="1874520"/>
            <a:ext cx="1783080" cy="1737360"/>
          </a:xfrm>
          <a:prstGeom prst="line">
            <a:avLst/>
          </a:prstGeom>
          <a:noFill/>
          <a:ln w="25400">
            <a:solidFill>
              <a:srgbClr val="A9C4C0"/>
            </a:solidFill>
            <a:prstDash val="solid"/>
          </a:ln>
        </p:spPr>
      </p:sp>
      <p:sp>
        <p:nvSpPr>
          <p:cNvPr id="5" name="Shape 2"/>
          <p:cNvSpPr/>
          <p:nvPr/>
        </p:nvSpPr>
        <p:spPr>
          <a:xfrm flipH="1">
            <a:off x="3611880" y="1874520"/>
            <a:ext cx="1783080" cy="1737360"/>
          </a:xfrm>
          <a:prstGeom prst="line">
            <a:avLst/>
          </a:prstGeom>
          <a:noFill/>
          <a:ln w="25400">
            <a:solidFill>
              <a:srgbClr val="A9C4C0"/>
            </a:solidFill>
            <a:prstDash val="solid"/>
          </a:ln>
        </p:spPr>
      </p:sp>
      <p:sp>
        <p:nvSpPr>
          <p:cNvPr id="6" name="Shape 3"/>
          <p:cNvSpPr/>
          <p:nvPr/>
        </p:nvSpPr>
        <p:spPr>
          <a:xfrm flipH="1">
            <a:off x="1828800" y="3611880"/>
            <a:ext cx="1783080" cy="1508760"/>
          </a:xfrm>
          <a:prstGeom prst="line">
            <a:avLst/>
          </a:prstGeom>
          <a:noFill/>
          <a:ln w="25400">
            <a:solidFill>
              <a:srgbClr val="A9C4C0"/>
            </a:solidFill>
            <a:prstDash val="solid"/>
          </a:ln>
        </p:spPr>
      </p:sp>
      <p:sp>
        <p:nvSpPr>
          <p:cNvPr id="7" name="Shape 4"/>
          <p:cNvSpPr/>
          <p:nvPr/>
        </p:nvSpPr>
        <p:spPr>
          <a:xfrm>
            <a:off x="3611880" y="3611880"/>
            <a:ext cx="1783080" cy="1508760"/>
          </a:xfrm>
          <a:prstGeom prst="line">
            <a:avLst/>
          </a:prstGeom>
          <a:noFill/>
          <a:ln w="25400">
            <a:solidFill>
              <a:srgbClr val="A9C4C0"/>
            </a:solidFill>
            <a:prstDash val="solid"/>
          </a:ln>
        </p:spPr>
      </p:sp>
      <p:sp>
        <p:nvSpPr>
          <p:cNvPr id="8" name="Shape 5"/>
          <p:cNvSpPr/>
          <p:nvPr/>
        </p:nvSpPr>
        <p:spPr>
          <a:xfrm>
            <a:off x="548640" y="1554480"/>
            <a:ext cx="2560320" cy="640080"/>
          </a:xfrm>
          <a:prstGeom prst="roundRect">
            <a:avLst>
              <a:gd name="adj" fmla="val 8571"/>
            </a:avLst>
          </a:prstGeom>
          <a:solidFill>
            <a:schemeClr val="bg2"/>
          </a:solidFill>
          <a:ln/>
        </p:spPr>
      </p:sp>
      <p:sp>
        <p:nvSpPr>
          <p:cNvPr id="9" name="Text 6"/>
          <p:cNvSpPr txBox="1"/>
          <p:nvPr/>
        </p:nvSpPr>
        <p:spPr>
          <a:xfrm>
            <a:off x="548640" y="1554480"/>
            <a:ext cx="2560320" cy="640080"/>
          </a:xfrm>
          <a:prstGeom prst="rect">
            <a:avLst/>
          </a:prstGeom>
          <a:noFill/>
          <a:ln/>
        </p:spPr>
        <p:txBody>
          <a:bodyPr wrap="square" lIns="0" tIns="0" rIns="0" bIns="0" rtlCol="0" anchor="ctr"/>
          <a:lstStyle/>
          <a:p>
            <a:pPr algn="ctr" indent="0" marL="0">
              <a:buNone/>
            </a:pPr>
            <a:endParaRPr lang="en-US" sz="1500" dirty="0"/>
          </a:p>
        </p:txBody>
      </p:sp>
      <p:sp>
        <p:nvSpPr>
          <p:cNvPr id="10" name="Runs and traces badge"/>
          <p:cNvSpPr/>
          <p:nvPr/>
        </p:nvSpPr>
        <p:spPr>
          <a:xfrm>
            <a:off x="640080" y="1627632"/>
            <a:ext cx="493776" cy="493776"/>
          </a:xfrm>
          <a:prstGeom prst="ellipse">
            <a:avLst/>
          </a:prstGeom>
          <a:solidFill>
            <a:schemeClr val="accent1"/>
          </a:solidFill>
          <a:ln/>
        </p:spPr>
      </p:sp>
      <p:pic>
        <p:nvPicPr>
          <p:cNvPr id="11" name="Runs and traces icon" descr="preencoded.png">    </p:cNvPr>
          <p:cNvPicPr>
            <a:picLocks noChangeAspect="1"/>
          </p:cNvPicPr>
          <p:nvPr/>
        </p:nvPicPr>
        <p:blipFill>
          <a:blip r:embed="rId1"/>
          <a:stretch>
            <a:fillRect/>
          </a:stretch>
        </p:blipFill>
        <p:spPr>
          <a:xfrm>
            <a:off x="763524" y="1751076"/>
            <a:ext cx="246888" cy="246888"/>
          </a:xfrm>
          <a:prstGeom prst="rect">
            <a:avLst/>
          </a:prstGeom>
        </p:spPr>
      </p:pic>
      <p:sp>
        <p:nvSpPr>
          <p:cNvPr id="12" name="Text 8"/>
          <p:cNvSpPr txBox="1"/>
          <p:nvPr/>
        </p:nvSpPr>
        <p:spPr>
          <a:xfrm>
            <a:off x="1234440" y="1554480"/>
            <a:ext cx="1828800" cy="640080"/>
          </a:xfrm>
          <a:prstGeom prst="rect">
            <a:avLst/>
          </a:prstGeom>
          <a:noFill/>
          <a:ln/>
        </p:spPr>
        <p:txBody>
          <a:bodyPr wrap="square" lIns="0" tIns="0" rIns="0" bIns="0" rtlCol="0" anchor="ctr"/>
          <a:lstStyle/>
          <a:p>
            <a:pPr indent="0" marL="0">
              <a:buNone/>
            </a:pPr>
            <a:r>
              <a:rPr lang="en-US" sz="1500" b="1" dirty="0">
                <a:solidFill>
                  <a:schemeClr val="tx2"/>
                </a:solidFill>
              </a:rPr>
              <a:t>Runs and traces</a:t>
            </a:r>
            <a:endParaRPr lang="en-US" sz="1500" dirty="0"/>
          </a:p>
        </p:txBody>
      </p:sp>
      <p:sp>
        <p:nvSpPr>
          <p:cNvPr id="13" name="Shape 9"/>
          <p:cNvSpPr/>
          <p:nvPr/>
        </p:nvSpPr>
        <p:spPr>
          <a:xfrm>
            <a:off x="4114800" y="1554480"/>
            <a:ext cx="2560320" cy="640080"/>
          </a:xfrm>
          <a:prstGeom prst="roundRect">
            <a:avLst>
              <a:gd name="adj" fmla="val 8571"/>
            </a:avLst>
          </a:prstGeom>
          <a:solidFill>
            <a:schemeClr val="bg2"/>
          </a:solidFill>
          <a:ln/>
        </p:spPr>
      </p:sp>
      <p:sp>
        <p:nvSpPr>
          <p:cNvPr id="14" name="Text 10"/>
          <p:cNvSpPr txBox="1"/>
          <p:nvPr/>
        </p:nvSpPr>
        <p:spPr>
          <a:xfrm>
            <a:off x="4114800" y="1554480"/>
            <a:ext cx="2560320" cy="640080"/>
          </a:xfrm>
          <a:prstGeom prst="rect">
            <a:avLst/>
          </a:prstGeom>
          <a:noFill/>
          <a:ln/>
        </p:spPr>
        <p:txBody>
          <a:bodyPr wrap="square" lIns="0" tIns="0" rIns="0" bIns="0" rtlCol="0" anchor="ctr"/>
          <a:lstStyle/>
          <a:p>
            <a:pPr algn="ctr" indent="0" marL="0">
              <a:buNone/>
            </a:pPr>
            <a:endParaRPr lang="en-US" sz="1500" dirty="0"/>
          </a:p>
        </p:txBody>
      </p:sp>
      <p:sp>
        <p:nvSpPr>
          <p:cNvPr id="15" name="Evaluation dataset badge"/>
          <p:cNvSpPr/>
          <p:nvPr/>
        </p:nvSpPr>
        <p:spPr>
          <a:xfrm>
            <a:off x="4206240" y="1627632"/>
            <a:ext cx="493776" cy="493776"/>
          </a:xfrm>
          <a:prstGeom prst="ellipse">
            <a:avLst/>
          </a:prstGeom>
          <a:solidFill>
            <a:schemeClr val="accent1"/>
          </a:solidFill>
          <a:ln/>
        </p:spPr>
      </p:sp>
      <p:pic>
        <p:nvPicPr>
          <p:cNvPr id="16" name="Evaluation dataset icon" descr="preencoded.png">    </p:cNvPr>
          <p:cNvPicPr>
            <a:picLocks noChangeAspect="1"/>
          </p:cNvPicPr>
          <p:nvPr/>
        </p:nvPicPr>
        <p:blipFill>
          <a:blip r:embed="rId2"/>
          <a:stretch>
            <a:fillRect/>
          </a:stretch>
        </p:blipFill>
        <p:spPr>
          <a:xfrm>
            <a:off x="4329684" y="1751076"/>
            <a:ext cx="246888" cy="246888"/>
          </a:xfrm>
          <a:prstGeom prst="rect">
            <a:avLst/>
          </a:prstGeom>
        </p:spPr>
      </p:pic>
      <p:sp>
        <p:nvSpPr>
          <p:cNvPr id="17" name="Text 12"/>
          <p:cNvSpPr txBox="1"/>
          <p:nvPr/>
        </p:nvSpPr>
        <p:spPr>
          <a:xfrm>
            <a:off x="4800600" y="1554480"/>
            <a:ext cx="1828800" cy="640080"/>
          </a:xfrm>
          <a:prstGeom prst="rect">
            <a:avLst/>
          </a:prstGeom>
          <a:noFill/>
          <a:ln/>
        </p:spPr>
        <p:txBody>
          <a:bodyPr wrap="square" lIns="0" tIns="0" rIns="0" bIns="0" rtlCol="0" anchor="ctr"/>
          <a:lstStyle/>
          <a:p>
            <a:pPr indent="0" marL="0">
              <a:buNone/>
            </a:pPr>
            <a:r>
              <a:rPr lang="en-US" sz="1500" b="1" dirty="0">
                <a:solidFill>
                  <a:schemeClr val="tx2"/>
                </a:solidFill>
              </a:rPr>
              <a:t>Evaluation dataset</a:t>
            </a:r>
            <a:endParaRPr lang="en-US" sz="1500" dirty="0"/>
          </a:p>
        </p:txBody>
      </p:sp>
      <p:sp>
        <p:nvSpPr>
          <p:cNvPr id="18" name="Shape 13"/>
          <p:cNvSpPr/>
          <p:nvPr/>
        </p:nvSpPr>
        <p:spPr>
          <a:xfrm>
            <a:off x="548640" y="4800600"/>
            <a:ext cx="2560320" cy="640080"/>
          </a:xfrm>
          <a:prstGeom prst="roundRect">
            <a:avLst>
              <a:gd name="adj" fmla="val 8571"/>
            </a:avLst>
          </a:prstGeom>
          <a:solidFill>
            <a:schemeClr val="bg2"/>
          </a:solidFill>
          <a:ln/>
        </p:spPr>
      </p:sp>
      <p:sp>
        <p:nvSpPr>
          <p:cNvPr id="19" name="Text 14"/>
          <p:cNvSpPr txBox="1"/>
          <p:nvPr/>
        </p:nvSpPr>
        <p:spPr>
          <a:xfrm>
            <a:off x="548640" y="4800600"/>
            <a:ext cx="2560320" cy="640080"/>
          </a:xfrm>
          <a:prstGeom prst="rect">
            <a:avLst/>
          </a:prstGeom>
          <a:noFill/>
          <a:ln/>
        </p:spPr>
        <p:txBody>
          <a:bodyPr wrap="square" lIns="0" tIns="0" rIns="0" bIns="0" rtlCol="0" anchor="ctr"/>
          <a:lstStyle/>
          <a:p>
            <a:pPr algn="ctr" indent="0" marL="0">
              <a:buNone/>
            </a:pPr>
            <a:endParaRPr lang="en-US" sz="1500" dirty="0"/>
          </a:p>
        </p:txBody>
      </p:sp>
      <p:sp>
        <p:nvSpPr>
          <p:cNvPr id="20" name="Pipeline versions badge"/>
          <p:cNvSpPr/>
          <p:nvPr/>
        </p:nvSpPr>
        <p:spPr>
          <a:xfrm>
            <a:off x="640080" y="4873752"/>
            <a:ext cx="493776" cy="493776"/>
          </a:xfrm>
          <a:prstGeom prst="ellipse">
            <a:avLst/>
          </a:prstGeom>
          <a:solidFill>
            <a:schemeClr val="accent1"/>
          </a:solidFill>
          <a:ln/>
        </p:spPr>
      </p:sp>
      <p:pic>
        <p:nvPicPr>
          <p:cNvPr id="21" name="Pipeline versions icon" descr="preencoded.png">    </p:cNvPr>
          <p:cNvPicPr>
            <a:picLocks noChangeAspect="1"/>
          </p:cNvPicPr>
          <p:nvPr/>
        </p:nvPicPr>
        <p:blipFill>
          <a:blip r:embed="rId3"/>
          <a:stretch>
            <a:fillRect/>
          </a:stretch>
        </p:blipFill>
        <p:spPr>
          <a:xfrm>
            <a:off x="763524" y="4997196"/>
            <a:ext cx="246888" cy="246888"/>
          </a:xfrm>
          <a:prstGeom prst="rect">
            <a:avLst/>
          </a:prstGeom>
        </p:spPr>
      </p:pic>
      <p:sp>
        <p:nvSpPr>
          <p:cNvPr id="22" name="Text 16"/>
          <p:cNvSpPr txBox="1"/>
          <p:nvPr/>
        </p:nvSpPr>
        <p:spPr>
          <a:xfrm>
            <a:off x="1234440" y="4800600"/>
            <a:ext cx="1828800" cy="640080"/>
          </a:xfrm>
          <a:prstGeom prst="rect">
            <a:avLst/>
          </a:prstGeom>
          <a:noFill/>
          <a:ln/>
        </p:spPr>
        <p:txBody>
          <a:bodyPr wrap="square" lIns="0" tIns="0" rIns="0" bIns="0" rtlCol="0" anchor="ctr"/>
          <a:lstStyle/>
          <a:p>
            <a:pPr indent="0" marL="0">
              <a:buNone/>
            </a:pPr>
            <a:r>
              <a:rPr lang="en-US" sz="1500" b="1" dirty="0">
                <a:solidFill>
                  <a:schemeClr val="tx2"/>
                </a:solidFill>
              </a:rPr>
              <a:t>Pipeline versions</a:t>
            </a:r>
            <a:endParaRPr lang="en-US" sz="1500" dirty="0"/>
          </a:p>
        </p:txBody>
      </p:sp>
      <p:sp>
        <p:nvSpPr>
          <p:cNvPr id="23" name="Shape 17"/>
          <p:cNvSpPr/>
          <p:nvPr/>
        </p:nvSpPr>
        <p:spPr>
          <a:xfrm>
            <a:off x="4114800" y="4800600"/>
            <a:ext cx="2560320" cy="640080"/>
          </a:xfrm>
          <a:prstGeom prst="roundRect">
            <a:avLst>
              <a:gd name="adj" fmla="val 8571"/>
            </a:avLst>
          </a:prstGeom>
          <a:solidFill>
            <a:schemeClr val="bg2"/>
          </a:solidFill>
          <a:ln/>
        </p:spPr>
      </p:sp>
      <p:sp>
        <p:nvSpPr>
          <p:cNvPr id="24" name="Text 18"/>
          <p:cNvSpPr txBox="1"/>
          <p:nvPr/>
        </p:nvSpPr>
        <p:spPr>
          <a:xfrm>
            <a:off x="4114800" y="4800600"/>
            <a:ext cx="2560320" cy="640080"/>
          </a:xfrm>
          <a:prstGeom prst="rect">
            <a:avLst/>
          </a:prstGeom>
          <a:noFill/>
          <a:ln/>
        </p:spPr>
        <p:txBody>
          <a:bodyPr wrap="square" lIns="0" tIns="0" rIns="0" bIns="0" rtlCol="0" anchor="ctr"/>
          <a:lstStyle/>
          <a:p>
            <a:pPr algn="ctr" indent="0" marL="0">
              <a:buNone/>
            </a:pPr>
            <a:endParaRPr lang="en-US" sz="1500" dirty="0"/>
          </a:p>
        </p:txBody>
      </p:sp>
      <p:sp>
        <p:nvSpPr>
          <p:cNvPr id="25" name="Prompt versions badge"/>
          <p:cNvSpPr/>
          <p:nvPr/>
        </p:nvSpPr>
        <p:spPr>
          <a:xfrm>
            <a:off x="4206240" y="4873752"/>
            <a:ext cx="493776" cy="493776"/>
          </a:xfrm>
          <a:prstGeom prst="ellipse">
            <a:avLst/>
          </a:prstGeom>
          <a:solidFill>
            <a:schemeClr val="accent1"/>
          </a:solidFill>
          <a:ln/>
        </p:spPr>
      </p:sp>
      <p:pic>
        <p:nvPicPr>
          <p:cNvPr id="26" name="Prompt versions icon" descr="preencoded.png">    </p:cNvPr>
          <p:cNvPicPr>
            <a:picLocks noChangeAspect="1"/>
          </p:cNvPicPr>
          <p:nvPr/>
        </p:nvPicPr>
        <p:blipFill>
          <a:blip r:embed="rId4"/>
          <a:stretch>
            <a:fillRect/>
          </a:stretch>
        </p:blipFill>
        <p:spPr>
          <a:xfrm>
            <a:off x="4329684" y="4997196"/>
            <a:ext cx="246888" cy="246888"/>
          </a:xfrm>
          <a:prstGeom prst="rect">
            <a:avLst/>
          </a:prstGeom>
        </p:spPr>
      </p:pic>
      <p:sp>
        <p:nvSpPr>
          <p:cNvPr id="27" name="Text 20"/>
          <p:cNvSpPr txBox="1"/>
          <p:nvPr/>
        </p:nvSpPr>
        <p:spPr>
          <a:xfrm>
            <a:off x="4800600" y="4800600"/>
            <a:ext cx="1828800" cy="640080"/>
          </a:xfrm>
          <a:prstGeom prst="rect">
            <a:avLst/>
          </a:prstGeom>
          <a:noFill/>
          <a:ln/>
        </p:spPr>
        <p:txBody>
          <a:bodyPr wrap="square" lIns="0" tIns="0" rIns="0" bIns="0" rtlCol="0" anchor="ctr"/>
          <a:lstStyle/>
          <a:p>
            <a:pPr indent="0" marL="0">
              <a:buNone/>
            </a:pPr>
            <a:r>
              <a:rPr lang="en-US" sz="1500" b="1" dirty="0">
                <a:solidFill>
                  <a:schemeClr val="tx2"/>
                </a:solidFill>
              </a:rPr>
              <a:t>Prompt versions</a:t>
            </a:r>
            <a:endParaRPr lang="en-US" sz="1500" dirty="0"/>
          </a:p>
        </p:txBody>
      </p:sp>
      <p:sp>
        <p:nvSpPr>
          <p:cNvPr id="28" name="MLflow hub"/>
          <p:cNvSpPr/>
          <p:nvPr/>
        </p:nvSpPr>
        <p:spPr>
          <a:xfrm>
            <a:off x="2697480" y="2697480"/>
            <a:ext cx="1828800" cy="1828800"/>
          </a:xfrm>
          <a:prstGeom prst="ellipse">
            <a:avLst/>
          </a:prstGeom>
          <a:solidFill>
            <a:schemeClr val="tx2"/>
          </a:solidFill>
          <a:ln/>
        </p:spPr>
      </p:sp>
      <p:sp>
        <p:nvSpPr>
          <p:cNvPr id="29" name="Text 22"/>
          <p:cNvSpPr txBox="1"/>
          <p:nvPr/>
        </p:nvSpPr>
        <p:spPr>
          <a:xfrm>
            <a:off x="2697480" y="3291840"/>
            <a:ext cx="1828800" cy="640080"/>
          </a:xfrm>
          <a:prstGeom prst="rect">
            <a:avLst/>
          </a:prstGeom>
          <a:noFill/>
          <a:ln/>
        </p:spPr>
        <p:txBody>
          <a:bodyPr wrap="square" lIns="0" tIns="0" rIns="0" bIns="0" rtlCol="0" anchor="ctr"/>
          <a:lstStyle/>
          <a:p>
            <a:pPr algn="ctr" indent="0" marL="0">
              <a:buNone/>
            </a:pPr>
            <a:r>
              <a:rPr lang="en-US" sz="2400" b="1" dirty="0">
                <a:solidFill>
                  <a:schemeClr val="bg1"/>
                </a:solidFill>
              </a:rPr>
              <a:t>MLflow</a:t>
            </a:r>
            <a:endParaRPr lang="en-US" sz="2400" dirty="0"/>
          </a:p>
        </p:txBody>
      </p:sp>
      <p:sp>
        <p:nvSpPr>
          <p:cNvPr id="30" name="Text 23"/>
          <p:cNvSpPr txBox="1"/>
          <p:nvPr/>
        </p:nvSpPr>
        <p:spPr>
          <a:xfrm>
            <a:off x="7223760" y="1463040"/>
            <a:ext cx="4419295" cy="731520"/>
          </a:xfrm>
          <a:prstGeom prst="rect">
            <a:avLst/>
          </a:prstGeom>
          <a:noFill/>
          <a:ln/>
        </p:spPr>
        <p:txBody>
          <a:bodyPr wrap="square" lIns="0" tIns="0" rIns="0" bIns="0" rtlCol="0" anchor="ctr"/>
          <a:lstStyle/>
          <a:p>
            <a:pPr indent="0" marL="0">
              <a:buNone/>
            </a:pPr>
            <a:r>
              <a:rPr lang="en-US" sz="1800" b="1" dirty="0">
                <a:solidFill>
                  <a:schemeClr val="tx2"/>
                </a:solidFill>
              </a:rPr>
              <a:t>Review, for people who never run dossier</a:t>
            </a:r>
            <a:endParaRPr lang="en-US" sz="1800" dirty="0"/>
          </a:p>
        </p:txBody>
      </p:sp>
      <p:sp>
        <p:nvSpPr>
          <p:cNvPr id="31" name="Shape 24"/>
          <p:cNvSpPr/>
          <p:nvPr/>
        </p:nvSpPr>
        <p:spPr>
          <a:xfrm>
            <a:off x="7223760" y="2331720"/>
            <a:ext cx="4419295" cy="658368"/>
          </a:xfrm>
          <a:prstGeom prst="roundRect">
            <a:avLst>
              <a:gd name="adj" fmla="val 8333"/>
            </a:avLst>
          </a:prstGeom>
          <a:solidFill>
            <a:schemeClr val="accent5"/>
          </a:solidFill>
          <a:ln/>
        </p:spPr>
      </p:sp>
      <p:sp>
        <p:nvSpPr>
          <p:cNvPr id="32" name="Text 25"/>
          <p:cNvSpPr txBox="1"/>
          <p:nvPr/>
        </p:nvSpPr>
        <p:spPr>
          <a:xfrm>
            <a:off x="7223760" y="2331720"/>
            <a:ext cx="4419295" cy="658368"/>
          </a:xfrm>
          <a:prstGeom prst="rect">
            <a:avLst/>
          </a:prstGeom>
          <a:noFill/>
          <a:ln/>
        </p:spPr>
        <p:txBody>
          <a:bodyPr wrap="square" lIns="0" tIns="0" rIns="0" bIns="0" rtlCol="0" anchor="ctr"/>
          <a:lstStyle/>
          <a:p>
            <a:pPr algn="ctr" indent="0" marL="0">
              <a:buNone/>
            </a:pPr>
            <a:r>
              <a:rPr lang="en-US" sz="1500" b="1" dirty="0">
                <a:solidFill>
                  <a:schemeClr val="bg1"/>
                </a:solidFill>
              </a:rPr>
              <a:t>A run tags each answer it doubts</a:t>
            </a:r>
            <a:endParaRPr lang="en-US" sz="1500" dirty="0"/>
          </a:p>
        </p:txBody>
      </p:sp>
      <p:sp>
        <p:nvSpPr>
          <p:cNvPr id="33" name="Shape 26"/>
          <p:cNvSpPr/>
          <p:nvPr/>
        </p:nvSpPr>
        <p:spPr>
          <a:xfrm>
            <a:off x="9433408" y="2999232"/>
            <a:ext cx="0" cy="164592"/>
          </a:xfrm>
          <a:prstGeom prst="line">
            <a:avLst/>
          </a:prstGeom>
          <a:noFill/>
          <a:ln w="25400">
            <a:solidFill>
              <a:schemeClr val="accent5"/>
            </a:solidFill>
            <a:prstDash val="solid"/>
            <a:tailEnd type="triangle"/>
          </a:ln>
        </p:spPr>
      </p:sp>
      <p:sp>
        <p:nvSpPr>
          <p:cNvPr id="34" name="Shape 27"/>
          <p:cNvSpPr/>
          <p:nvPr/>
        </p:nvSpPr>
        <p:spPr>
          <a:xfrm>
            <a:off x="7223760" y="3172968"/>
            <a:ext cx="4419295" cy="658368"/>
          </a:xfrm>
          <a:prstGeom prst="roundRect">
            <a:avLst>
              <a:gd name="adj" fmla="val 8333"/>
            </a:avLst>
          </a:prstGeom>
          <a:solidFill>
            <a:schemeClr val="accent1"/>
          </a:solidFill>
          <a:ln/>
        </p:spPr>
      </p:sp>
      <p:sp>
        <p:nvSpPr>
          <p:cNvPr id="35" name="Text 28"/>
          <p:cNvSpPr txBox="1"/>
          <p:nvPr/>
        </p:nvSpPr>
        <p:spPr>
          <a:xfrm>
            <a:off x="7223760" y="3172968"/>
            <a:ext cx="4419295" cy="658368"/>
          </a:xfrm>
          <a:prstGeom prst="rect">
            <a:avLst/>
          </a:prstGeom>
          <a:noFill/>
          <a:ln/>
        </p:spPr>
        <p:txBody>
          <a:bodyPr wrap="square" lIns="0" tIns="0" rIns="0" bIns="0" rtlCol="0" anchor="ctr"/>
          <a:lstStyle/>
          <a:p>
            <a:pPr algn="ctr" indent="0" marL="0">
              <a:buNone/>
            </a:pPr>
            <a:r>
              <a:rPr lang="en-US" sz="1500" b="1" dirty="0">
                <a:solidFill>
                  <a:schemeClr val="bg1"/>
                </a:solidFill>
              </a:rPr>
              <a:t>A reviewer marks it in MLflow</a:t>
            </a:r>
            <a:endParaRPr lang="en-US" sz="1500" dirty="0"/>
          </a:p>
        </p:txBody>
      </p:sp>
      <p:sp>
        <p:nvSpPr>
          <p:cNvPr id="36" name="Shape 29"/>
          <p:cNvSpPr/>
          <p:nvPr/>
        </p:nvSpPr>
        <p:spPr>
          <a:xfrm>
            <a:off x="9433408" y="3840480"/>
            <a:ext cx="0" cy="164592"/>
          </a:xfrm>
          <a:prstGeom prst="line">
            <a:avLst/>
          </a:prstGeom>
          <a:noFill/>
          <a:ln w="25400">
            <a:solidFill>
              <a:schemeClr val="accent5"/>
            </a:solidFill>
            <a:prstDash val="solid"/>
            <a:tailEnd type="triangle"/>
          </a:ln>
        </p:spPr>
      </p:sp>
      <p:sp>
        <p:nvSpPr>
          <p:cNvPr id="37" name="Shape 30"/>
          <p:cNvSpPr/>
          <p:nvPr/>
        </p:nvSpPr>
        <p:spPr>
          <a:xfrm>
            <a:off x="7223760" y="4014216"/>
            <a:ext cx="4419295" cy="658368"/>
          </a:xfrm>
          <a:prstGeom prst="roundRect">
            <a:avLst>
              <a:gd name="adj" fmla="val 8333"/>
            </a:avLst>
          </a:prstGeom>
          <a:solidFill>
            <a:schemeClr val="accent1"/>
          </a:solidFill>
          <a:ln/>
        </p:spPr>
      </p:sp>
      <p:sp>
        <p:nvSpPr>
          <p:cNvPr id="38" name="Text 31"/>
          <p:cNvSpPr txBox="1"/>
          <p:nvPr/>
        </p:nvSpPr>
        <p:spPr>
          <a:xfrm>
            <a:off x="7223760" y="4014216"/>
            <a:ext cx="4419295" cy="658368"/>
          </a:xfrm>
          <a:prstGeom prst="rect">
            <a:avLst/>
          </a:prstGeom>
          <a:noFill/>
          <a:ln/>
        </p:spPr>
        <p:txBody>
          <a:bodyPr wrap="square" lIns="0" tIns="0" rIns="0" bIns="0" rtlCol="0" anchor="ctr"/>
          <a:lstStyle/>
          <a:p>
            <a:pPr algn="ctr" indent="0" marL="0">
              <a:buNone/>
            </a:pPr>
            <a:r>
              <a:rPr lang="en-US" sz="1500" b="1" dirty="0">
                <a:solidFill>
                  <a:schemeClr val="bg1"/>
                </a:solidFill>
              </a:rPr>
              <a:t>dossier review pull brings the verdicts back</a:t>
            </a:r>
            <a:endParaRPr lang="en-US" sz="1500" dirty="0"/>
          </a:p>
        </p:txBody>
      </p:sp>
      <p:sp>
        <p:nvSpPr>
          <p:cNvPr id="39" name="Shape 32"/>
          <p:cNvSpPr/>
          <p:nvPr/>
        </p:nvSpPr>
        <p:spPr>
          <a:xfrm>
            <a:off x="9433408" y="4681728"/>
            <a:ext cx="0" cy="164592"/>
          </a:xfrm>
          <a:prstGeom prst="line">
            <a:avLst/>
          </a:prstGeom>
          <a:noFill/>
          <a:ln w="25400">
            <a:solidFill>
              <a:schemeClr val="accent5"/>
            </a:solidFill>
            <a:prstDash val="solid"/>
            <a:tailEnd type="triangle"/>
          </a:ln>
        </p:spPr>
      </p:sp>
      <p:sp>
        <p:nvSpPr>
          <p:cNvPr id="40" name="Shape 33"/>
          <p:cNvSpPr/>
          <p:nvPr/>
        </p:nvSpPr>
        <p:spPr>
          <a:xfrm>
            <a:off x="7223760" y="4855464"/>
            <a:ext cx="4419295" cy="658368"/>
          </a:xfrm>
          <a:prstGeom prst="roundRect">
            <a:avLst>
              <a:gd name="adj" fmla="val 8333"/>
            </a:avLst>
          </a:prstGeom>
          <a:solidFill>
            <a:schemeClr val="accent2"/>
          </a:solidFill>
          <a:ln/>
        </p:spPr>
      </p:sp>
      <p:sp>
        <p:nvSpPr>
          <p:cNvPr id="41" name="Text 34"/>
          <p:cNvSpPr txBox="1"/>
          <p:nvPr/>
        </p:nvSpPr>
        <p:spPr>
          <a:xfrm>
            <a:off x="7223760" y="4855464"/>
            <a:ext cx="4419295" cy="658368"/>
          </a:xfrm>
          <a:prstGeom prst="rect">
            <a:avLst/>
          </a:prstGeom>
          <a:noFill/>
          <a:ln/>
        </p:spPr>
        <p:txBody>
          <a:bodyPr wrap="square" lIns="0" tIns="0" rIns="0" bIns="0" rtlCol="0" anchor="ctr"/>
          <a:lstStyle/>
          <a:p>
            <a:pPr algn="ctr" indent="0" marL="0">
              <a:buNone/>
            </a:pPr>
            <a:r>
              <a:rPr lang="en-US" sz="1500" b="1" dirty="0">
                <a:solidFill>
                  <a:schemeClr val="tx2"/>
                </a:solidFill>
              </a:rPr>
              <a:t>dossier review apply writes them into gold, with who verified them</a:t>
            </a:r>
            <a:endParaRPr lang="en-US" sz="1500" dirty="0"/>
          </a:p>
        </p:txBody>
      </p:sp>
      <p:sp>
        <p:nvSpPr>
          <p:cNvPr id="42" name="Text 35"/>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700" i="1" dirty="0">
                <a:solidFill>
                  <a:schemeClr val="accent1"/>
                </a:solidFill>
              </a:rPr>
              <a:t>Tracking only sends. Nothing MLflow holds enters a cache key, a manifest or a score.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Search by meaning and by words</a:t>
            </a:r>
            <a:endParaRPr lang="en-US" sz="3600" dirty="0"/>
          </a:p>
        </p:txBody>
      </p:sp>
      <p:sp>
        <p:nvSpPr>
          <p:cNvPr id="4" name="Text 1"/>
          <p:cNvSpPr txBox="1"/>
          <p:nvPr/>
        </p:nvSpPr>
        <p:spPr>
          <a:xfrm>
            <a:off x="548640" y="1600200"/>
            <a:ext cx="2743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dossier embed</a:t>
            </a:r>
            <a:endParaRPr lang="en-US" sz="1800" dirty="0"/>
          </a:p>
        </p:txBody>
      </p:sp>
      <p:sp>
        <p:nvSpPr>
          <p:cNvPr id="5" name="Shape 2"/>
          <p:cNvSpPr/>
          <p:nvPr/>
        </p:nvSpPr>
        <p:spPr>
          <a:xfrm>
            <a:off x="548640" y="2057400"/>
            <a:ext cx="2464994" cy="868680"/>
          </a:xfrm>
          <a:prstGeom prst="roundRect">
            <a:avLst>
              <a:gd name="adj" fmla="val 6316"/>
            </a:avLst>
          </a:prstGeom>
          <a:solidFill>
            <a:schemeClr val="bg2"/>
          </a:solidFill>
          <a:ln/>
        </p:spPr>
      </p:sp>
      <p:sp>
        <p:nvSpPr>
          <p:cNvPr id="6" name="Text 3"/>
          <p:cNvSpPr txBox="1"/>
          <p:nvPr/>
        </p:nvSpPr>
        <p:spPr>
          <a:xfrm>
            <a:off x="548640" y="205740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documents and the run's grounded record</a:t>
            </a:r>
            <a:endParaRPr lang="en-US" sz="1500" dirty="0"/>
          </a:p>
        </p:txBody>
      </p:sp>
      <p:sp>
        <p:nvSpPr>
          <p:cNvPr id="7" name="Shape 4"/>
          <p:cNvSpPr/>
          <p:nvPr/>
        </p:nvSpPr>
        <p:spPr>
          <a:xfrm>
            <a:off x="3050210" y="2487168"/>
            <a:ext cx="338328" cy="0"/>
          </a:xfrm>
          <a:prstGeom prst="line">
            <a:avLst/>
          </a:prstGeom>
          <a:noFill/>
          <a:ln w="25400">
            <a:solidFill>
              <a:schemeClr val="accent5"/>
            </a:solidFill>
            <a:prstDash val="solid"/>
            <a:tailEnd type="triangle"/>
          </a:ln>
        </p:spPr>
      </p:sp>
      <p:sp>
        <p:nvSpPr>
          <p:cNvPr id="8" name="Shape 5"/>
          <p:cNvSpPr/>
          <p:nvPr/>
        </p:nvSpPr>
        <p:spPr>
          <a:xfrm>
            <a:off x="3425114" y="2057400"/>
            <a:ext cx="2464994" cy="868680"/>
          </a:xfrm>
          <a:prstGeom prst="roundRect">
            <a:avLst>
              <a:gd name="adj" fmla="val 6316"/>
            </a:avLst>
          </a:prstGeom>
          <a:solidFill>
            <a:schemeClr val="bg2"/>
          </a:solidFill>
          <a:ln/>
        </p:spPr>
      </p:sp>
      <p:sp>
        <p:nvSpPr>
          <p:cNvPr id="9" name="Text 6"/>
          <p:cNvSpPr txBox="1"/>
          <p:nvPr/>
        </p:nvSpPr>
        <p:spPr>
          <a:xfrm>
            <a:off x="3425114" y="205740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cut at headings, ≤ 2,000 characters</a:t>
            </a:r>
            <a:endParaRPr lang="en-US" sz="1500" dirty="0"/>
          </a:p>
        </p:txBody>
      </p:sp>
      <p:sp>
        <p:nvSpPr>
          <p:cNvPr id="10" name="Shape 7"/>
          <p:cNvSpPr/>
          <p:nvPr/>
        </p:nvSpPr>
        <p:spPr>
          <a:xfrm>
            <a:off x="5926684" y="2487168"/>
            <a:ext cx="338328" cy="0"/>
          </a:xfrm>
          <a:prstGeom prst="line">
            <a:avLst/>
          </a:prstGeom>
          <a:noFill/>
          <a:ln w="25400">
            <a:solidFill>
              <a:schemeClr val="accent5"/>
            </a:solidFill>
            <a:prstDash val="solid"/>
            <a:tailEnd type="triangle"/>
          </a:ln>
        </p:spPr>
      </p:sp>
      <p:sp>
        <p:nvSpPr>
          <p:cNvPr id="11" name="Shape 8"/>
          <p:cNvSpPr/>
          <p:nvPr/>
        </p:nvSpPr>
        <p:spPr>
          <a:xfrm>
            <a:off x="6301588" y="2057400"/>
            <a:ext cx="2464994" cy="868680"/>
          </a:xfrm>
          <a:prstGeom prst="roundRect">
            <a:avLst>
              <a:gd name="adj" fmla="val 6316"/>
            </a:avLst>
          </a:prstGeom>
          <a:solidFill>
            <a:schemeClr val="bg2"/>
          </a:solidFill>
          <a:ln/>
        </p:spPr>
      </p:sp>
      <p:sp>
        <p:nvSpPr>
          <p:cNvPr id="12" name="Text 9"/>
          <p:cNvSpPr txBox="1"/>
          <p:nvPr/>
        </p:nvSpPr>
        <p:spPr>
          <a:xfrm>
            <a:off x="6301588" y="205740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embedded only on a cache miss, by a pinned model</a:t>
            </a:r>
            <a:endParaRPr lang="en-US" sz="1500" dirty="0"/>
          </a:p>
        </p:txBody>
      </p:sp>
      <p:sp>
        <p:nvSpPr>
          <p:cNvPr id="13" name="Shape 10"/>
          <p:cNvSpPr/>
          <p:nvPr/>
        </p:nvSpPr>
        <p:spPr>
          <a:xfrm>
            <a:off x="8803157" y="2487168"/>
            <a:ext cx="338328" cy="0"/>
          </a:xfrm>
          <a:prstGeom prst="line">
            <a:avLst/>
          </a:prstGeom>
          <a:noFill/>
          <a:ln w="25400">
            <a:solidFill>
              <a:schemeClr val="accent5"/>
            </a:solidFill>
            <a:prstDash val="solid"/>
            <a:tailEnd type="triangle"/>
          </a:ln>
        </p:spPr>
      </p:sp>
      <p:sp>
        <p:nvSpPr>
          <p:cNvPr id="14" name="Shape 11"/>
          <p:cNvSpPr/>
          <p:nvPr/>
        </p:nvSpPr>
        <p:spPr>
          <a:xfrm>
            <a:off x="9178061" y="2057400"/>
            <a:ext cx="2464994" cy="868680"/>
          </a:xfrm>
          <a:prstGeom prst="roundRect">
            <a:avLst>
              <a:gd name="adj" fmla="val 6316"/>
            </a:avLst>
          </a:prstGeom>
          <a:solidFill>
            <a:schemeClr val="tx2"/>
          </a:solidFill>
          <a:ln/>
        </p:spPr>
      </p:sp>
      <p:sp>
        <p:nvSpPr>
          <p:cNvPr id="15" name="Text 12"/>
          <p:cNvSpPr txBox="1"/>
          <p:nvPr/>
        </p:nvSpPr>
        <p:spPr>
          <a:xfrm>
            <a:off x="9178061" y="2057400"/>
            <a:ext cx="2464994" cy="868680"/>
          </a:xfrm>
          <a:prstGeom prst="rect">
            <a:avLst/>
          </a:prstGeom>
          <a:noFill/>
          <a:ln/>
        </p:spPr>
        <p:txBody>
          <a:bodyPr wrap="square" lIns="0" tIns="0" rIns="0" bIns="0" rtlCol="0" anchor="ctr"/>
          <a:lstStyle/>
          <a:p>
            <a:pPr algn="ctr" indent="0" marL="0">
              <a:buNone/>
            </a:pPr>
            <a:r>
              <a:rPr lang="en-US" sz="1500" b="1" dirty="0">
                <a:solidFill>
                  <a:schemeClr val="bg1"/>
                </a:solidFill>
              </a:rPr>
              <a:t>Postgres + pgvector</a:t>
            </a:r>
            <a:endParaRPr lang="en-US" sz="1500" dirty="0"/>
          </a:p>
        </p:txBody>
      </p:sp>
      <p:sp>
        <p:nvSpPr>
          <p:cNvPr id="16" name="Text 13"/>
          <p:cNvSpPr txBox="1"/>
          <p:nvPr/>
        </p:nvSpPr>
        <p:spPr>
          <a:xfrm>
            <a:off x="548640" y="3520440"/>
            <a:ext cx="2743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nsolas" pitchFamily="34" charset="0"/>
                <a:ea typeface="Consolas" pitchFamily="34" charset="-122"/>
                <a:cs typeface="Consolas" pitchFamily="34" charset="-120"/>
              </a:rPr>
              <a:t>dossier search</a:t>
            </a:r>
            <a:endParaRPr lang="en-US" sz="1800" dirty="0"/>
          </a:p>
        </p:txBody>
      </p:sp>
      <p:sp>
        <p:nvSpPr>
          <p:cNvPr id="17" name="Shape 14"/>
          <p:cNvSpPr/>
          <p:nvPr/>
        </p:nvSpPr>
        <p:spPr>
          <a:xfrm>
            <a:off x="548640" y="3977640"/>
            <a:ext cx="2464994" cy="868680"/>
          </a:xfrm>
          <a:prstGeom prst="roundRect">
            <a:avLst>
              <a:gd name="adj" fmla="val 6316"/>
            </a:avLst>
          </a:prstGeom>
          <a:solidFill>
            <a:schemeClr val="bg2"/>
          </a:solidFill>
          <a:ln/>
        </p:spPr>
      </p:sp>
      <p:sp>
        <p:nvSpPr>
          <p:cNvPr id="18" name="Text 15"/>
          <p:cNvSpPr txBox="1"/>
          <p:nvPr/>
        </p:nvSpPr>
        <p:spPr>
          <a:xfrm>
            <a:off x="548640" y="397764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by meaning, and by words</a:t>
            </a:r>
            <a:endParaRPr lang="en-US" sz="1500" dirty="0"/>
          </a:p>
        </p:txBody>
      </p:sp>
      <p:sp>
        <p:nvSpPr>
          <p:cNvPr id="19" name="Shape 16"/>
          <p:cNvSpPr/>
          <p:nvPr/>
        </p:nvSpPr>
        <p:spPr>
          <a:xfrm>
            <a:off x="3050210" y="4407408"/>
            <a:ext cx="338328" cy="0"/>
          </a:xfrm>
          <a:prstGeom prst="line">
            <a:avLst/>
          </a:prstGeom>
          <a:noFill/>
          <a:ln w="25400">
            <a:solidFill>
              <a:schemeClr val="accent5"/>
            </a:solidFill>
            <a:prstDash val="solid"/>
            <a:tailEnd type="triangle"/>
          </a:ln>
        </p:spPr>
      </p:sp>
      <p:sp>
        <p:nvSpPr>
          <p:cNvPr id="20" name="Shape 17"/>
          <p:cNvSpPr/>
          <p:nvPr/>
        </p:nvSpPr>
        <p:spPr>
          <a:xfrm>
            <a:off x="3425114" y="3977640"/>
            <a:ext cx="2464994" cy="868680"/>
          </a:xfrm>
          <a:prstGeom prst="roundRect">
            <a:avLst>
              <a:gd name="adj" fmla="val 6316"/>
            </a:avLst>
          </a:prstGeom>
          <a:solidFill>
            <a:schemeClr val="bg2"/>
          </a:solidFill>
          <a:ln/>
        </p:spPr>
      </p:sp>
      <p:sp>
        <p:nvSpPr>
          <p:cNvPr id="21" name="Text 18"/>
          <p:cNvSpPr txBox="1"/>
          <p:nvPr/>
        </p:nvSpPr>
        <p:spPr>
          <a:xfrm>
            <a:off x="3425114" y="397764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fused: reciprocal rank fusion</a:t>
            </a:r>
            <a:endParaRPr lang="en-US" sz="1500" dirty="0"/>
          </a:p>
        </p:txBody>
      </p:sp>
      <p:sp>
        <p:nvSpPr>
          <p:cNvPr id="22" name="Shape 19"/>
          <p:cNvSpPr/>
          <p:nvPr/>
        </p:nvSpPr>
        <p:spPr>
          <a:xfrm>
            <a:off x="5926684" y="4407408"/>
            <a:ext cx="338328" cy="0"/>
          </a:xfrm>
          <a:prstGeom prst="line">
            <a:avLst/>
          </a:prstGeom>
          <a:noFill/>
          <a:ln w="25400">
            <a:solidFill>
              <a:schemeClr val="accent5"/>
            </a:solidFill>
            <a:prstDash val="solid"/>
            <a:tailEnd type="triangle"/>
          </a:ln>
        </p:spPr>
      </p:sp>
      <p:sp>
        <p:nvSpPr>
          <p:cNvPr id="23" name="Shape 20"/>
          <p:cNvSpPr/>
          <p:nvPr/>
        </p:nvSpPr>
        <p:spPr>
          <a:xfrm>
            <a:off x="6301588" y="3977640"/>
            <a:ext cx="2464994" cy="868680"/>
          </a:xfrm>
          <a:prstGeom prst="roundRect">
            <a:avLst>
              <a:gd name="adj" fmla="val 6316"/>
            </a:avLst>
          </a:prstGeom>
          <a:solidFill>
            <a:schemeClr val="bg2"/>
          </a:solidFill>
          <a:ln/>
        </p:spPr>
      </p:sp>
      <p:sp>
        <p:nvSpPr>
          <p:cNvPr id="24" name="Text 21"/>
          <p:cNvSpPr txBox="1"/>
          <p:nvPr/>
        </p:nvSpPr>
        <p:spPr>
          <a:xfrm>
            <a:off x="6301588" y="3977640"/>
            <a:ext cx="2464994" cy="868680"/>
          </a:xfrm>
          <a:prstGeom prst="rect">
            <a:avLst/>
          </a:prstGeom>
          <a:noFill/>
          <a:ln/>
        </p:spPr>
        <p:txBody>
          <a:bodyPr wrap="square" lIns="0" tIns="0" rIns="0" bIns="0" rtlCol="0" anchor="ctr"/>
          <a:lstStyle/>
          <a:p>
            <a:pPr algn="ctr" indent="0" marL="0">
              <a:buNone/>
            </a:pPr>
            <a:r>
              <a:rPr lang="en-US" sz="1500" dirty="0">
                <a:solidFill>
                  <a:schemeClr val="tx1"/>
                </a:solidFill>
              </a:rPr>
              <a:t>filtered: --where on grounded values</a:t>
            </a:r>
            <a:endParaRPr lang="en-US" sz="1500" dirty="0"/>
          </a:p>
        </p:txBody>
      </p:sp>
      <p:sp>
        <p:nvSpPr>
          <p:cNvPr id="25" name="Shape 22"/>
          <p:cNvSpPr/>
          <p:nvPr/>
        </p:nvSpPr>
        <p:spPr>
          <a:xfrm>
            <a:off x="8803157" y="4407408"/>
            <a:ext cx="338328" cy="0"/>
          </a:xfrm>
          <a:prstGeom prst="line">
            <a:avLst/>
          </a:prstGeom>
          <a:noFill/>
          <a:ln w="25400">
            <a:solidFill>
              <a:schemeClr val="accent5"/>
            </a:solidFill>
            <a:prstDash val="solid"/>
            <a:tailEnd type="triangle"/>
          </a:ln>
        </p:spPr>
      </p:sp>
      <p:sp>
        <p:nvSpPr>
          <p:cNvPr id="26" name="Shape 23"/>
          <p:cNvSpPr/>
          <p:nvPr/>
        </p:nvSpPr>
        <p:spPr>
          <a:xfrm>
            <a:off x="9178061" y="3977640"/>
            <a:ext cx="2464994" cy="868680"/>
          </a:xfrm>
          <a:prstGeom prst="roundRect">
            <a:avLst>
              <a:gd name="adj" fmla="val 6316"/>
            </a:avLst>
          </a:prstGeom>
          <a:solidFill>
            <a:schemeClr val="accent2"/>
          </a:solidFill>
          <a:ln/>
        </p:spPr>
      </p:sp>
      <p:sp>
        <p:nvSpPr>
          <p:cNvPr id="27" name="Text 24"/>
          <p:cNvSpPr txBox="1"/>
          <p:nvPr/>
        </p:nvSpPr>
        <p:spPr>
          <a:xfrm>
            <a:off x="9178061" y="3977640"/>
            <a:ext cx="2464994" cy="868680"/>
          </a:xfrm>
          <a:prstGeom prst="rect">
            <a:avLst/>
          </a:prstGeom>
          <a:noFill/>
          <a:ln/>
        </p:spPr>
        <p:txBody>
          <a:bodyPr wrap="square" lIns="0" tIns="0" rIns="0" bIns="0" rtlCol="0" anchor="ctr"/>
          <a:lstStyle/>
          <a:p>
            <a:pPr algn="ctr" indent="0" marL="0">
              <a:buNone/>
            </a:pPr>
            <a:r>
              <a:rPr lang="en-US" sz="1500" b="1" dirty="0">
                <a:solidFill>
                  <a:schemeClr val="tx1"/>
                </a:solidFill>
              </a:rPr>
              <a:t>for a reader: --as, by source</a:t>
            </a:r>
            <a:endParaRPr lang="en-US" sz="1500" dirty="0"/>
          </a:p>
        </p:txBody>
      </p:sp>
      <p:sp>
        <p:nvSpPr>
          <p:cNvPr id="28" name="measure badge"/>
          <p:cNvSpPr/>
          <p:nvPr/>
        </p:nvSpPr>
        <p:spPr>
          <a:xfrm>
            <a:off x="548640" y="5440680"/>
            <a:ext cx="548640" cy="548640"/>
          </a:xfrm>
          <a:prstGeom prst="ellipse">
            <a:avLst/>
          </a:prstGeom>
          <a:solidFill>
            <a:schemeClr val="accent2"/>
          </a:solidFill>
          <a:ln/>
        </p:spPr>
      </p:sp>
      <p:pic>
        <p:nvPicPr>
          <p:cNvPr id="29" name="measure icon" descr="preencoded.png">    </p:cNvPr>
          <p:cNvPicPr>
            <a:picLocks noChangeAspect="1"/>
          </p:cNvPicPr>
          <p:nvPr/>
        </p:nvPicPr>
        <p:blipFill>
          <a:blip r:embed="rId1"/>
          <a:stretch>
            <a:fillRect/>
          </a:stretch>
        </p:blipFill>
        <p:spPr>
          <a:xfrm>
            <a:off x="685800" y="5577840"/>
            <a:ext cx="274320" cy="274320"/>
          </a:xfrm>
          <a:prstGeom prst="rect">
            <a:avLst/>
          </a:prstGeom>
        </p:spPr>
      </p:pic>
      <p:sp>
        <p:nvSpPr>
          <p:cNvPr id="30" name="Text 26"/>
          <p:cNvSpPr txBox="1"/>
          <p:nvPr/>
        </p:nvSpPr>
        <p:spPr>
          <a:xfrm>
            <a:off x="1280160" y="5440680"/>
            <a:ext cx="10362895" cy="548640"/>
          </a:xfrm>
          <a:prstGeom prst="rect">
            <a:avLst/>
          </a:prstGeom>
          <a:noFill/>
          <a:ln/>
        </p:spPr>
        <p:txBody>
          <a:bodyPr wrap="square" lIns="0" tIns="0" rIns="0" bIns="0" rtlCol="0" anchor="ctr"/>
          <a:lstStyle/>
          <a:p>
            <a:pPr indent="0" marL="0">
              <a:buNone/>
            </a:pPr>
            <a:r>
              <a:rPr lang="en-US" sz="1600" b="1" dirty="0">
                <a:solidFill>
                  <a:srgbClr val="1F6F78"/>
                </a:solidFill>
                <a:latin typeface="Consolas" pitchFamily="34" charset="0"/>
                <a:ea typeface="Consolas" pitchFamily="34" charset="-122"/>
                <a:cs typeface="Consolas" pitchFamily="34" charset="-120"/>
              </a:rPr>
              <a:t>dossier search --gold  </a:t>
            </a:r>
            <a:pPr indent="0" marL="0">
              <a:buNone/>
            </a:pPr>
            <a:r>
              <a:rPr lang="en-US" sz="1600" dirty="0">
                <a:solidFill>
                  <a:schemeClr val="tx1"/>
                </a:solidFill>
              </a:rPr>
              <a:t>measures the ranking against questions a person graded 0 to 2: nDCG@10 and recall@10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Running it, every day, safely</a:t>
            </a:r>
            <a:endParaRPr lang="en-US" sz="3600" dirty="0"/>
          </a:p>
        </p:txBody>
      </p:sp>
      <p:sp>
        <p:nvSpPr>
          <p:cNvPr id="4" name="dossier status"/>
          <p:cNvSpPr/>
          <p:nvPr/>
        </p:nvSpPr>
        <p:spPr>
          <a:xfrm>
            <a:off x="548640" y="1554480"/>
            <a:ext cx="5364328" cy="2011680"/>
          </a:xfrm>
          <a:prstGeom prst="roundRect">
            <a:avLst>
              <a:gd name="adj" fmla="val 3636"/>
            </a:avLst>
          </a:prstGeom>
          <a:solidFill>
            <a:schemeClr val="bg2"/>
          </a:solidFill>
          <a:ln/>
        </p:spPr>
      </p:sp>
      <p:sp>
        <p:nvSpPr>
          <p:cNvPr id="5" name="dossier status badge"/>
          <p:cNvSpPr/>
          <p:nvPr/>
        </p:nvSpPr>
        <p:spPr>
          <a:xfrm>
            <a:off x="868680" y="1920240"/>
            <a:ext cx="914400" cy="914400"/>
          </a:xfrm>
          <a:prstGeom prst="ellipse">
            <a:avLst/>
          </a:prstGeom>
          <a:solidFill>
            <a:schemeClr val="accent1"/>
          </a:solidFill>
          <a:ln/>
        </p:spPr>
      </p:sp>
      <p:pic>
        <p:nvPicPr>
          <p:cNvPr id="6" name="dossier status icon" descr="preencoded.png">    </p:cNvPr>
          <p:cNvPicPr>
            <a:picLocks noChangeAspect="1"/>
          </p:cNvPicPr>
          <p:nvPr/>
        </p:nvPicPr>
        <p:blipFill>
          <a:blip r:embed="rId1"/>
          <a:stretch>
            <a:fillRect/>
          </a:stretch>
        </p:blipFill>
        <p:spPr>
          <a:xfrm>
            <a:off x="1097280" y="2148840"/>
            <a:ext cx="457200" cy="457200"/>
          </a:xfrm>
          <a:prstGeom prst="rect">
            <a:avLst/>
          </a:prstGeom>
        </p:spPr>
      </p:pic>
      <p:sp>
        <p:nvSpPr>
          <p:cNvPr id="7" name="Text 3"/>
          <p:cNvSpPr txBox="1"/>
          <p:nvPr/>
        </p:nvSpPr>
        <p:spPr>
          <a:xfrm>
            <a:off x="2057400" y="1874520"/>
            <a:ext cx="3626968" cy="457200"/>
          </a:xfrm>
          <a:prstGeom prst="rect">
            <a:avLst/>
          </a:prstGeom>
          <a:noFill/>
          <a:ln/>
        </p:spPr>
        <p:txBody>
          <a:bodyPr wrap="square" lIns="0" tIns="0" rIns="0" bIns="0" rtlCol="0" anchor="t"/>
          <a:lstStyle/>
          <a:p>
            <a:pPr indent="0" marL="0">
              <a:buNone/>
            </a:pPr>
            <a:r>
              <a:rPr lang="en-US" sz="2000" b="1" dirty="0">
                <a:solidFill>
                  <a:schemeClr val="tx2"/>
                </a:solidFill>
                <a:latin typeface="Consolas" pitchFamily="34" charset="0"/>
                <a:ea typeface="Consolas" pitchFamily="34" charset="-122"/>
                <a:cs typeface="Consolas" pitchFamily="34" charset="-120"/>
              </a:rPr>
              <a:t>dossier status</a:t>
            </a:r>
            <a:endParaRPr lang="en-US" sz="2000" dirty="0"/>
          </a:p>
        </p:txBody>
      </p:sp>
      <p:sp>
        <p:nvSpPr>
          <p:cNvPr id="8" name="Text 4"/>
          <p:cNvSpPr txBox="1"/>
          <p:nvPr/>
        </p:nvSpPr>
        <p:spPr>
          <a:xfrm>
            <a:off x="2057400" y="2377440"/>
            <a:ext cx="3626968" cy="1051560"/>
          </a:xfrm>
          <a:prstGeom prst="rect">
            <a:avLst/>
          </a:prstGeom>
          <a:noFill/>
          <a:ln/>
        </p:spPr>
        <p:txBody>
          <a:bodyPr wrap="square" lIns="0" tIns="0" rIns="0" bIns="0" rtlCol="0" anchor="t"/>
          <a:lstStyle/>
          <a:p>
            <a:pPr indent="0" marL="0">
              <a:buNone/>
            </a:pPr>
            <a:r>
              <a:rPr lang="en-US" sz="1500" dirty="0">
                <a:solidFill>
                  <a:schemeClr val="tx1"/>
                </a:solidFill>
              </a:rPr>
              <a:t>What each source holds, each latest run, and what eval would withhold, before anything is spent</a:t>
            </a:r>
            <a:endParaRPr lang="en-US" sz="1500" dirty="0"/>
          </a:p>
        </p:txBody>
      </p:sp>
      <p:sp>
        <p:nvSpPr>
          <p:cNvPr id="9" name="dossier gc"/>
          <p:cNvSpPr/>
          <p:nvPr/>
        </p:nvSpPr>
        <p:spPr>
          <a:xfrm>
            <a:off x="6278728" y="1554480"/>
            <a:ext cx="5364328" cy="2011680"/>
          </a:xfrm>
          <a:prstGeom prst="roundRect">
            <a:avLst>
              <a:gd name="adj" fmla="val 3636"/>
            </a:avLst>
          </a:prstGeom>
          <a:solidFill>
            <a:schemeClr val="bg2"/>
          </a:solidFill>
          <a:ln/>
        </p:spPr>
      </p:sp>
      <p:sp>
        <p:nvSpPr>
          <p:cNvPr id="10" name="dossier gc badge"/>
          <p:cNvSpPr/>
          <p:nvPr/>
        </p:nvSpPr>
        <p:spPr>
          <a:xfrm>
            <a:off x="6598768" y="1920240"/>
            <a:ext cx="914400" cy="914400"/>
          </a:xfrm>
          <a:prstGeom prst="ellipse">
            <a:avLst/>
          </a:prstGeom>
          <a:solidFill>
            <a:schemeClr val="accent1"/>
          </a:solidFill>
          <a:ln/>
        </p:spPr>
      </p:sp>
      <p:pic>
        <p:nvPicPr>
          <p:cNvPr id="11" name="dossier gc icon" descr="preencoded.png">    </p:cNvPr>
          <p:cNvPicPr>
            <a:picLocks noChangeAspect="1"/>
          </p:cNvPicPr>
          <p:nvPr/>
        </p:nvPicPr>
        <p:blipFill>
          <a:blip r:embed="rId2"/>
          <a:stretch>
            <a:fillRect/>
          </a:stretch>
        </p:blipFill>
        <p:spPr>
          <a:xfrm>
            <a:off x="6827368" y="2148840"/>
            <a:ext cx="457200" cy="457200"/>
          </a:xfrm>
          <a:prstGeom prst="rect">
            <a:avLst/>
          </a:prstGeom>
        </p:spPr>
      </p:pic>
      <p:sp>
        <p:nvSpPr>
          <p:cNvPr id="12" name="Text 7"/>
          <p:cNvSpPr txBox="1"/>
          <p:nvPr/>
        </p:nvSpPr>
        <p:spPr>
          <a:xfrm>
            <a:off x="7787488" y="1874520"/>
            <a:ext cx="3626968" cy="457200"/>
          </a:xfrm>
          <a:prstGeom prst="rect">
            <a:avLst/>
          </a:prstGeom>
          <a:noFill/>
          <a:ln/>
        </p:spPr>
        <p:txBody>
          <a:bodyPr wrap="square" lIns="0" tIns="0" rIns="0" bIns="0" rtlCol="0" anchor="t"/>
          <a:lstStyle/>
          <a:p>
            <a:pPr indent="0" marL="0">
              <a:buNone/>
            </a:pPr>
            <a:r>
              <a:rPr lang="en-US" sz="2000" b="1" dirty="0">
                <a:solidFill>
                  <a:schemeClr val="tx2"/>
                </a:solidFill>
                <a:latin typeface="Consolas" pitchFamily="34" charset="0"/>
                <a:ea typeface="Consolas" pitchFamily="34" charset="-122"/>
                <a:cs typeface="Consolas" pitchFamily="34" charset="-120"/>
              </a:rPr>
              <a:t>dossier gc</a:t>
            </a:r>
            <a:endParaRPr lang="en-US" sz="2000" dirty="0"/>
          </a:p>
        </p:txBody>
      </p:sp>
      <p:sp>
        <p:nvSpPr>
          <p:cNvPr id="13" name="Text 8"/>
          <p:cNvSpPr txBox="1"/>
          <p:nvPr/>
        </p:nvSpPr>
        <p:spPr>
          <a:xfrm>
            <a:off x="7787488" y="2377440"/>
            <a:ext cx="3626968" cy="1051560"/>
          </a:xfrm>
          <a:prstGeom prst="rect">
            <a:avLst/>
          </a:prstGeom>
          <a:noFill/>
          <a:ln/>
        </p:spPr>
        <p:txBody>
          <a:bodyPr wrap="square" lIns="0" tIns="0" rIns="0" bIns="0" rtlCol="0" anchor="t"/>
          <a:lstStyle/>
          <a:p>
            <a:pPr indent="0" marL="0">
              <a:buNone/>
            </a:pPr>
            <a:r>
              <a:rPr lang="en-US" sz="1500" dirty="0">
                <a:solidFill>
                  <a:schemeClr val="tx1"/>
                </a:solidFill>
              </a:rPr>
              <a:t>Reclaims space from old runs, tries and cache entries. Every run it keeps still replays</a:t>
            </a:r>
            <a:endParaRPr lang="en-US" sz="1500" dirty="0"/>
          </a:p>
        </p:txBody>
      </p:sp>
      <p:sp>
        <p:nvSpPr>
          <p:cNvPr id="14" name="One writer at a time"/>
          <p:cNvSpPr/>
          <p:nvPr/>
        </p:nvSpPr>
        <p:spPr>
          <a:xfrm>
            <a:off x="548640" y="3840480"/>
            <a:ext cx="5364328" cy="2011680"/>
          </a:xfrm>
          <a:prstGeom prst="roundRect">
            <a:avLst>
              <a:gd name="adj" fmla="val 3636"/>
            </a:avLst>
          </a:prstGeom>
          <a:solidFill>
            <a:schemeClr val="bg2"/>
          </a:solidFill>
          <a:ln/>
        </p:spPr>
      </p:sp>
      <p:sp>
        <p:nvSpPr>
          <p:cNvPr id="15" name="One writer at a time badge"/>
          <p:cNvSpPr/>
          <p:nvPr/>
        </p:nvSpPr>
        <p:spPr>
          <a:xfrm>
            <a:off x="868680" y="4206240"/>
            <a:ext cx="914400" cy="914400"/>
          </a:xfrm>
          <a:prstGeom prst="ellipse">
            <a:avLst/>
          </a:prstGeom>
          <a:solidFill>
            <a:schemeClr val="accent1"/>
          </a:solidFill>
          <a:ln/>
        </p:spPr>
      </p:sp>
      <p:pic>
        <p:nvPicPr>
          <p:cNvPr id="16" name="One writer at a time icon" descr="preencoded.png">    </p:cNvPr>
          <p:cNvPicPr>
            <a:picLocks noChangeAspect="1"/>
          </p:cNvPicPr>
          <p:nvPr/>
        </p:nvPicPr>
        <p:blipFill>
          <a:blip r:embed="rId3"/>
          <a:stretch>
            <a:fillRect/>
          </a:stretch>
        </p:blipFill>
        <p:spPr>
          <a:xfrm>
            <a:off x="1097280" y="4434840"/>
            <a:ext cx="457200" cy="457200"/>
          </a:xfrm>
          <a:prstGeom prst="rect">
            <a:avLst/>
          </a:prstGeom>
        </p:spPr>
      </p:pic>
      <p:sp>
        <p:nvSpPr>
          <p:cNvPr id="17" name="Text 11"/>
          <p:cNvSpPr txBox="1"/>
          <p:nvPr/>
        </p:nvSpPr>
        <p:spPr>
          <a:xfrm>
            <a:off x="2057400" y="4160520"/>
            <a:ext cx="3626968" cy="457200"/>
          </a:xfrm>
          <a:prstGeom prst="rect">
            <a:avLst/>
          </a:prstGeom>
          <a:noFill/>
          <a:ln/>
        </p:spPr>
        <p:txBody>
          <a:bodyPr wrap="square" lIns="0" tIns="0" rIns="0" bIns="0" rtlCol="0" anchor="t"/>
          <a:lstStyle/>
          <a:p>
            <a:pPr indent="0" marL="0">
              <a:buNone/>
            </a:pPr>
            <a:r>
              <a:rPr lang="en-US" sz="2000" b="1" dirty="0">
                <a:solidFill>
                  <a:schemeClr val="tx2"/>
                </a:solidFill>
              </a:rPr>
              <a:t>One writer at a time</a:t>
            </a:r>
            <a:endParaRPr lang="en-US" sz="2000" dirty="0"/>
          </a:p>
        </p:txBody>
      </p:sp>
      <p:sp>
        <p:nvSpPr>
          <p:cNvPr id="18" name="Text 12"/>
          <p:cNvSpPr txBox="1"/>
          <p:nvPr/>
        </p:nvSpPr>
        <p:spPr>
          <a:xfrm>
            <a:off x="2057400" y="4663440"/>
            <a:ext cx="3626968" cy="1051560"/>
          </a:xfrm>
          <a:prstGeom prst="rect">
            <a:avLst/>
          </a:prstGeom>
          <a:noFill/>
          <a:ln/>
        </p:spPr>
        <p:txBody>
          <a:bodyPr wrap="square" lIns="0" tIns="0" rIns="0" bIns="0" rtlCol="0" anchor="t"/>
          <a:lstStyle/>
          <a:p>
            <a:pPr indent="0" marL="0">
              <a:buNone/>
            </a:pPr>
            <a:r>
              <a:rPr lang="en-US" sz="1500" dirty="0">
                <a:solidFill>
                  <a:schemeClr val="tx1"/>
                </a:solidFill>
              </a:rPr>
              <a:t>A second writing command is refused at once, naming the first. It never waits</a:t>
            </a:r>
            <a:endParaRPr lang="en-US" sz="1500" dirty="0"/>
          </a:p>
        </p:txBody>
      </p:sp>
      <p:sp>
        <p:nvSpPr>
          <p:cNvPr id="19" name="CID masking"/>
          <p:cNvSpPr/>
          <p:nvPr/>
        </p:nvSpPr>
        <p:spPr>
          <a:xfrm>
            <a:off x="6278728" y="3840480"/>
            <a:ext cx="5364328" cy="2011680"/>
          </a:xfrm>
          <a:prstGeom prst="roundRect">
            <a:avLst>
              <a:gd name="adj" fmla="val 3636"/>
            </a:avLst>
          </a:prstGeom>
          <a:solidFill>
            <a:schemeClr val="bg2"/>
          </a:solidFill>
          <a:ln/>
        </p:spPr>
      </p:sp>
      <p:sp>
        <p:nvSpPr>
          <p:cNvPr id="20" name="CID masking badge"/>
          <p:cNvSpPr/>
          <p:nvPr/>
        </p:nvSpPr>
        <p:spPr>
          <a:xfrm>
            <a:off x="6598768" y="4206240"/>
            <a:ext cx="914400" cy="914400"/>
          </a:xfrm>
          <a:prstGeom prst="ellipse">
            <a:avLst/>
          </a:prstGeom>
          <a:solidFill>
            <a:schemeClr val="accent2"/>
          </a:solidFill>
          <a:ln/>
        </p:spPr>
      </p:sp>
      <p:pic>
        <p:nvPicPr>
          <p:cNvPr id="21" name="CID masking icon" descr="preencoded.png">    </p:cNvPr>
          <p:cNvPicPr>
            <a:picLocks noChangeAspect="1"/>
          </p:cNvPicPr>
          <p:nvPr/>
        </p:nvPicPr>
        <p:blipFill>
          <a:blip r:embed="rId4"/>
          <a:stretch>
            <a:fillRect/>
          </a:stretch>
        </p:blipFill>
        <p:spPr>
          <a:xfrm>
            <a:off x="6827368" y="4434840"/>
            <a:ext cx="457200" cy="457200"/>
          </a:xfrm>
          <a:prstGeom prst="rect">
            <a:avLst/>
          </a:prstGeom>
        </p:spPr>
      </p:pic>
      <p:sp>
        <p:nvSpPr>
          <p:cNvPr id="22" name="Text 15"/>
          <p:cNvSpPr txBox="1"/>
          <p:nvPr/>
        </p:nvSpPr>
        <p:spPr>
          <a:xfrm>
            <a:off x="7787488" y="4160520"/>
            <a:ext cx="3626968" cy="457200"/>
          </a:xfrm>
          <a:prstGeom prst="rect">
            <a:avLst/>
          </a:prstGeom>
          <a:noFill/>
          <a:ln/>
        </p:spPr>
        <p:txBody>
          <a:bodyPr wrap="square" lIns="0" tIns="0" rIns="0" bIns="0" rtlCol="0" anchor="t"/>
          <a:lstStyle/>
          <a:p>
            <a:pPr indent="0" marL="0">
              <a:buNone/>
            </a:pPr>
            <a:r>
              <a:rPr lang="en-US" sz="2000" b="1" dirty="0">
                <a:solidFill>
                  <a:schemeClr val="tx2"/>
                </a:solidFill>
              </a:rPr>
              <a:t>CID masking</a:t>
            </a:r>
            <a:endParaRPr lang="en-US" sz="2000" dirty="0"/>
          </a:p>
        </p:txBody>
      </p:sp>
      <p:sp>
        <p:nvSpPr>
          <p:cNvPr id="23" name="Text 16"/>
          <p:cNvSpPr txBox="1"/>
          <p:nvPr/>
        </p:nvSpPr>
        <p:spPr>
          <a:xfrm>
            <a:off x="7787488" y="4663440"/>
            <a:ext cx="3626968" cy="1051560"/>
          </a:xfrm>
          <a:prstGeom prst="rect">
            <a:avLst/>
          </a:prstGeom>
          <a:noFill/>
          <a:ln/>
        </p:spPr>
        <p:txBody>
          <a:bodyPr wrap="square" lIns="0" tIns="0" rIns="0" bIns="0" rtlCol="0" anchor="t"/>
          <a:lstStyle/>
          <a:p>
            <a:pPr indent="0" marL="0">
              <a:buNone/>
            </a:pPr>
            <a:r>
              <a:rPr lang="en-US" sz="1500" dirty="0">
                <a:solidFill>
                  <a:schemeClr val="tx1"/>
                </a:solidFill>
              </a:rPr>
              <a:t>Client data masked on this machine before a model sees it: a name becomes [PERSON_1]</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Models, governed</a:t>
            </a:r>
            <a:endParaRPr lang="en-US" sz="3600" dirty="0"/>
          </a:p>
        </p:txBody>
      </p:sp>
      <p:sp>
        <p:nvSpPr>
          <p:cNvPr id="4" name="OpenAI-compatible"/>
          <p:cNvSpPr/>
          <p:nvPr/>
        </p:nvSpPr>
        <p:spPr>
          <a:xfrm>
            <a:off x="548640" y="1554480"/>
            <a:ext cx="3515258" cy="1828800"/>
          </a:xfrm>
          <a:prstGeom prst="roundRect">
            <a:avLst>
              <a:gd name="adj" fmla="val 4000"/>
            </a:avLst>
          </a:prstGeom>
          <a:solidFill>
            <a:schemeClr val="bg2"/>
          </a:solidFill>
          <a:ln/>
        </p:spPr>
      </p:sp>
      <p:sp>
        <p:nvSpPr>
          <p:cNvPr id="5" name="OpenAI-compatible badge"/>
          <p:cNvSpPr/>
          <p:nvPr/>
        </p:nvSpPr>
        <p:spPr>
          <a:xfrm>
            <a:off x="822960" y="1783080"/>
            <a:ext cx="685800" cy="685800"/>
          </a:xfrm>
          <a:prstGeom prst="ellipse">
            <a:avLst/>
          </a:prstGeom>
          <a:solidFill>
            <a:schemeClr val="accent1"/>
          </a:solidFill>
          <a:ln/>
        </p:spPr>
      </p:sp>
      <p:pic>
        <p:nvPicPr>
          <p:cNvPr id="6" name="OpenAI-compatible icon" descr="preencoded.png">    </p:cNvPr>
          <p:cNvPicPr>
            <a:picLocks noChangeAspect="1"/>
          </p:cNvPicPr>
          <p:nvPr/>
        </p:nvPicPr>
        <p:blipFill>
          <a:blip r:embed="rId1"/>
          <a:stretch>
            <a:fillRect/>
          </a:stretch>
        </p:blipFill>
        <p:spPr>
          <a:xfrm>
            <a:off x="994410" y="1954530"/>
            <a:ext cx="342900" cy="342900"/>
          </a:xfrm>
          <a:prstGeom prst="rect">
            <a:avLst/>
          </a:prstGeom>
        </p:spPr>
      </p:pic>
      <p:sp>
        <p:nvSpPr>
          <p:cNvPr id="7" name="Text 3"/>
          <p:cNvSpPr txBox="1"/>
          <p:nvPr/>
        </p:nvSpPr>
        <p:spPr>
          <a:xfrm>
            <a:off x="1645920" y="1783080"/>
            <a:ext cx="2235098" cy="685800"/>
          </a:xfrm>
          <a:prstGeom prst="rect">
            <a:avLst/>
          </a:prstGeom>
          <a:noFill/>
          <a:ln/>
        </p:spPr>
        <p:txBody>
          <a:bodyPr wrap="square" lIns="0" tIns="0" rIns="0" bIns="0" rtlCol="0" anchor="ctr"/>
          <a:lstStyle/>
          <a:p>
            <a:pPr indent="0" marL="0">
              <a:buNone/>
            </a:pPr>
            <a:r>
              <a:rPr lang="en-US" sz="1900" b="1" dirty="0">
                <a:solidFill>
                  <a:schemeClr val="tx2"/>
                </a:solidFill>
              </a:rPr>
              <a:t>OpenAI-compatible</a:t>
            </a:r>
            <a:endParaRPr lang="en-US" sz="1900" dirty="0"/>
          </a:p>
        </p:txBody>
      </p:sp>
      <p:sp>
        <p:nvSpPr>
          <p:cNvPr id="8" name="Text 4"/>
          <p:cNvSpPr txBox="1"/>
          <p:nvPr/>
        </p:nvSpPr>
        <p:spPr>
          <a:xfrm>
            <a:off x="822960" y="2606040"/>
            <a:ext cx="2966618" cy="685800"/>
          </a:xfrm>
          <a:prstGeom prst="rect">
            <a:avLst/>
          </a:prstGeom>
          <a:noFill/>
          <a:ln/>
        </p:spPr>
        <p:txBody>
          <a:bodyPr wrap="square" lIns="0" tIns="0" rIns="0" bIns="0" rtlCol="0" anchor="t"/>
          <a:lstStyle/>
          <a:p>
            <a:pPr indent="0" marL="0">
              <a:buNone/>
            </a:pPr>
            <a:r>
              <a:rPr lang="en-US" sz="1500" dirty="0">
                <a:solidFill>
                  <a:schemeClr val="tx1"/>
                </a:solidFill>
              </a:rPr>
              <a:t>OpenWebUI, vLLM, or any endpoint that speaks the API</a:t>
            </a:r>
            <a:endParaRPr lang="en-US" sz="1500" dirty="0"/>
          </a:p>
        </p:txBody>
      </p:sp>
      <p:sp>
        <p:nvSpPr>
          <p:cNvPr id="9" name="Anthropic"/>
          <p:cNvSpPr/>
          <p:nvPr/>
        </p:nvSpPr>
        <p:spPr>
          <a:xfrm>
            <a:off x="4338218" y="1554480"/>
            <a:ext cx="3515258" cy="1828800"/>
          </a:xfrm>
          <a:prstGeom prst="roundRect">
            <a:avLst>
              <a:gd name="adj" fmla="val 4000"/>
            </a:avLst>
          </a:prstGeom>
          <a:solidFill>
            <a:schemeClr val="bg2"/>
          </a:solidFill>
          <a:ln/>
        </p:spPr>
      </p:sp>
      <p:sp>
        <p:nvSpPr>
          <p:cNvPr id="10" name="Anthropic badge"/>
          <p:cNvSpPr/>
          <p:nvPr/>
        </p:nvSpPr>
        <p:spPr>
          <a:xfrm>
            <a:off x="4612538" y="1783080"/>
            <a:ext cx="685800" cy="685800"/>
          </a:xfrm>
          <a:prstGeom prst="ellipse">
            <a:avLst/>
          </a:prstGeom>
          <a:solidFill>
            <a:schemeClr val="accent1"/>
          </a:solidFill>
          <a:ln/>
        </p:spPr>
      </p:sp>
      <p:pic>
        <p:nvPicPr>
          <p:cNvPr id="11" name="Anthropic icon" descr="preencoded.png">    </p:cNvPr>
          <p:cNvPicPr>
            <a:picLocks noChangeAspect="1"/>
          </p:cNvPicPr>
          <p:nvPr/>
        </p:nvPicPr>
        <p:blipFill>
          <a:blip r:embed="rId2"/>
          <a:stretch>
            <a:fillRect/>
          </a:stretch>
        </p:blipFill>
        <p:spPr>
          <a:xfrm>
            <a:off x="4783988" y="1954530"/>
            <a:ext cx="342900" cy="342900"/>
          </a:xfrm>
          <a:prstGeom prst="rect">
            <a:avLst/>
          </a:prstGeom>
        </p:spPr>
      </p:pic>
      <p:sp>
        <p:nvSpPr>
          <p:cNvPr id="12" name="Text 7"/>
          <p:cNvSpPr txBox="1"/>
          <p:nvPr/>
        </p:nvSpPr>
        <p:spPr>
          <a:xfrm>
            <a:off x="5435498" y="1783080"/>
            <a:ext cx="2235098" cy="685800"/>
          </a:xfrm>
          <a:prstGeom prst="rect">
            <a:avLst/>
          </a:prstGeom>
          <a:noFill/>
          <a:ln/>
        </p:spPr>
        <p:txBody>
          <a:bodyPr wrap="square" lIns="0" tIns="0" rIns="0" bIns="0" rtlCol="0" anchor="ctr"/>
          <a:lstStyle/>
          <a:p>
            <a:pPr indent="0" marL="0">
              <a:buNone/>
            </a:pPr>
            <a:r>
              <a:rPr lang="en-US" sz="1900" b="1" dirty="0">
                <a:solidFill>
                  <a:schemeClr val="tx2"/>
                </a:solidFill>
              </a:rPr>
              <a:t>Anthropic</a:t>
            </a:r>
            <a:endParaRPr lang="en-US" sz="1900" dirty="0"/>
          </a:p>
        </p:txBody>
      </p:sp>
      <p:sp>
        <p:nvSpPr>
          <p:cNvPr id="13" name="Text 8"/>
          <p:cNvSpPr txBox="1"/>
          <p:nvPr/>
        </p:nvSpPr>
        <p:spPr>
          <a:xfrm>
            <a:off x="4612538" y="2606040"/>
            <a:ext cx="2966618" cy="685800"/>
          </a:xfrm>
          <a:prstGeom prst="rect">
            <a:avLst/>
          </a:prstGeom>
          <a:noFill/>
          <a:ln/>
        </p:spPr>
        <p:txBody>
          <a:bodyPr wrap="square" lIns="0" tIns="0" rIns="0" bIns="0" rtlCol="0" anchor="t"/>
          <a:lstStyle/>
          <a:p>
            <a:pPr indent="0" marL="0">
              <a:buNone/>
            </a:pPr>
            <a:r>
              <a:rPr lang="en-US" sz="1500" dirty="0">
                <a:solidFill>
                  <a:schemeClr val="tx1"/>
                </a:solidFill>
              </a:rPr>
              <a:t>Claude models, by their exact id</a:t>
            </a:r>
            <a:endParaRPr lang="en-US" sz="1500" dirty="0"/>
          </a:p>
        </p:txBody>
      </p:sp>
      <p:sp>
        <p:nvSpPr>
          <p:cNvPr id="14" name="Ollama"/>
          <p:cNvSpPr/>
          <p:nvPr/>
        </p:nvSpPr>
        <p:spPr>
          <a:xfrm>
            <a:off x="8127797" y="1554480"/>
            <a:ext cx="3515258" cy="1828800"/>
          </a:xfrm>
          <a:prstGeom prst="roundRect">
            <a:avLst>
              <a:gd name="adj" fmla="val 4000"/>
            </a:avLst>
          </a:prstGeom>
          <a:solidFill>
            <a:schemeClr val="bg2"/>
          </a:solidFill>
          <a:ln/>
        </p:spPr>
      </p:sp>
      <p:sp>
        <p:nvSpPr>
          <p:cNvPr id="15" name="Ollama badge"/>
          <p:cNvSpPr/>
          <p:nvPr/>
        </p:nvSpPr>
        <p:spPr>
          <a:xfrm>
            <a:off x="8402117" y="1783080"/>
            <a:ext cx="685800" cy="685800"/>
          </a:xfrm>
          <a:prstGeom prst="ellipse">
            <a:avLst/>
          </a:prstGeom>
          <a:solidFill>
            <a:schemeClr val="accent1"/>
          </a:solidFill>
          <a:ln/>
        </p:spPr>
      </p:sp>
      <p:pic>
        <p:nvPicPr>
          <p:cNvPr id="16" name="Ollama icon" descr="preencoded.png">    </p:cNvPr>
          <p:cNvPicPr>
            <a:picLocks noChangeAspect="1"/>
          </p:cNvPicPr>
          <p:nvPr/>
        </p:nvPicPr>
        <p:blipFill>
          <a:blip r:embed="rId3"/>
          <a:stretch>
            <a:fillRect/>
          </a:stretch>
        </p:blipFill>
        <p:spPr>
          <a:xfrm>
            <a:off x="8573567" y="1954530"/>
            <a:ext cx="342900" cy="342900"/>
          </a:xfrm>
          <a:prstGeom prst="rect">
            <a:avLst/>
          </a:prstGeom>
        </p:spPr>
      </p:pic>
      <p:sp>
        <p:nvSpPr>
          <p:cNvPr id="17" name="Text 11"/>
          <p:cNvSpPr txBox="1"/>
          <p:nvPr/>
        </p:nvSpPr>
        <p:spPr>
          <a:xfrm>
            <a:off x="9225077" y="1783080"/>
            <a:ext cx="2235098" cy="685800"/>
          </a:xfrm>
          <a:prstGeom prst="rect">
            <a:avLst/>
          </a:prstGeom>
          <a:noFill/>
          <a:ln/>
        </p:spPr>
        <p:txBody>
          <a:bodyPr wrap="square" lIns="0" tIns="0" rIns="0" bIns="0" rtlCol="0" anchor="ctr"/>
          <a:lstStyle/>
          <a:p>
            <a:pPr indent="0" marL="0">
              <a:buNone/>
            </a:pPr>
            <a:r>
              <a:rPr lang="en-US" sz="1900" b="1" dirty="0">
                <a:solidFill>
                  <a:schemeClr val="tx2"/>
                </a:solidFill>
              </a:rPr>
              <a:t>Ollama</a:t>
            </a:r>
            <a:endParaRPr lang="en-US" sz="1900" dirty="0"/>
          </a:p>
        </p:txBody>
      </p:sp>
      <p:sp>
        <p:nvSpPr>
          <p:cNvPr id="18" name="Text 12"/>
          <p:cNvSpPr txBox="1"/>
          <p:nvPr/>
        </p:nvSpPr>
        <p:spPr>
          <a:xfrm>
            <a:off x="8402117" y="2606040"/>
            <a:ext cx="2966618" cy="685800"/>
          </a:xfrm>
          <a:prstGeom prst="rect">
            <a:avLst/>
          </a:prstGeom>
          <a:noFill/>
          <a:ln/>
        </p:spPr>
        <p:txBody>
          <a:bodyPr wrap="square" lIns="0" tIns="0" rIns="0" bIns="0" rtlCol="0" anchor="t"/>
          <a:lstStyle/>
          <a:p>
            <a:pPr indent="0" marL="0">
              <a:buNone/>
            </a:pPr>
            <a:r>
              <a:rPr lang="en-US" sz="1500" dirty="0">
                <a:solidFill>
                  <a:schemeClr val="tx1"/>
                </a:solidFill>
              </a:rPr>
              <a:t>Local models, and the embedding model, pinned by digest</a:t>
            </a:r>
            <a:endParaRPr lang="en-US" sz="1500" dirty="0"/>
          </a:p>
        </p:txBody>
      </p:sp>
      <p:sp>
        <p:nvSpPr>
          <p:cNvPr id="19" name="key vs endpoint"/>
          <p:cNvSpPr/>
          <p:nvPr/>
        </p:nvSpPr>
        <p:spPr>
          <a:xfrm>
            <a:off x="548640" y="3703320"/>
            <a:ext cx="5486400" cy="2240280"/>
          </a:xfrm>
          <a:prstGeom prst="roundRect">
            <a:avLst>
              <a:gd name="adj" fmla="val 3265"/>
            </a:avLst>
          </a:prstGeom>
          <a:solidFill>
            <a:schemeClr val="tx1"/>
          </a:solidFill>
          <a:ln/>
        </p:spPr>
      </p:sp>
      <p:sp>
        <p:nvSpPr>
          <p:cNvPr id="20" name="Text 14"/>
          <p:cNvSpPr txBox="1"/>
          <p:nvPr/>
        </p:nvSpPr>
        <p:spPr>
          <a:xfrm>
            <a:off x="822960" y="3703320"/>
            <a:ext cx="4937760" cy="2240280"/>
          </a:xfrm>
          <a:prstGeom prst="rect">
            <a:avLst/>
          </a:prstGeom>
          <a:noFill/>
          <a:ln/>
        </p:spPr>
        <p:txBody>
          <a:bodyPr wrap="square" lIns="0" tIns="0" rIns="0" bIns="0" rtlCol="0" anchor="ctr"/>
          <a:lstStyle/>
          <a:p>
            <a:pPr indent="0" marL="0">
              <a:buNone/>
            </a:pPr>
            <a:r>
              <a:rPr lang="en-US" sz="1200" dirty="0">
                <a:solidFill>
                  <a:srgbClr val="A9C4C0"/>
                </a:solidFill>
                <a:latin typeface="Consolas" pitchFamily="34" charset="0"/>
                <a:ea typeface="Consolas" pitchFamily="34" charset="-122"/>
                <a:cs typeface="Consolas" pitchFamily="34" charset="-120"/>
              </a:rPr>
              <a:t>pipeline.yaml</a:t>
            </a:r>
            <a:endParaRPr lang="en-US" sz="1700" dirty="0"/>
          </a:p>
          <a:p>
            <a:pPr indent="0" marL="0">
              <a:buNone/>
            </a:pPr>
            <a:r>
              <a:rPr lang="en-US" sz="1700" b="1" dirty="0">
                <a:solidFill>
                  <a:srgbClr val="D99A3D"/>
                </a:solidFill>
                <a:latin typeface="Consolas" pitchFamily="34" charset="0"/>
                <a:ea typeface="Consolas" pitchFamily="34" charset="-122"/>
                <a:cs typeface="Consolas" pitchFamily="34" charset="-120"/>
              </a:rPr>
              <a:t>model: openai:gpt-5.4-mini</a:t>
            </a:r>
            <a:endParaRPr lang="en-US" sz="1700" dirty="0"/>
          </a:p>
          <a:p>
            <a:pPr indent="0" marL="0">
              <a:buNone/>
            </a:pPr>
            <a:r>
              <a:rPr lang="en-US" sz="1400" dirty="0">
                <a:solidFill>
                  <a:srgbClr val="FFFFFF"/>
                </a:solidFill>
                <a:latin typeface="Calibri" pitchFamily="34" charset="0"/>
                <a:ea typeface="Calibri" pitchFamily="34" charset="-122"/>
                <a:cs typeface="Calibri" pitchFamily="34" charset="-120"/>
              </a:rPr>
              <a:t>in every cache key</a:t>
            </a:r>
            <a:endParaRPr lang="en-US" sz="1700" dirty="0"/>
          </a:p>
          <a:p>
            <a:pPr indent="0" marL="0">
              <a:buNone/>
            </a:pPr>
            <a:r>
              <a:rPr lang="en-US" sz="800" dirty="0">
                <a:solidFill>
                  <a:schemeClr val="tx1"/>
                </a:solidFill>
                <a:latin typeface="Consolas" pitchFamily="34" charset="0"/>
                <a:ea typeface="Consolas" pitchFamily="34" charset="-122"/>
                <a:cs typeface="Consolas" pitchFamily="34" charset="-120"/>
              </a:rPr>
              <a:t> </a:t>
            </a:r>
            <a:endParaRPr lang="en-US" sz="1700" dirty="0"/>
          </a:p>
          <a:p>
            <a:pPr indent="0" marL="0">
              <a:buNone/>
            </a:pPr>
            <a:r>
              <a:rPr lang="en-US" sz="1200" dirty="0">
                <a:solidFill>
                  <a:srgbClr val="A9C4C0"/>
                </a:solidFill>
                <a:latin typeface="Consolas" pitchFamily="34" charset="0"/>
                <a:ea typeface="Consolas" pitchFamily="34" charset="-122"/>
                <a:cs typeface="Consolas" pitchFamily="34" charset="-120"/>
              </a:rPr>
              <a:t>.env</a:t>
            </a:r>
            <a:endParaRPr lang="en-US" sz="1700" dirty="0"/>
          </a:p>
          <a:p>
            <a:pPr indent="0" marL="0">
              <a:buNone/>
            </a:pPr>
            <a:r>
              <a:rPr lang="en-US" sz="1700" b="1" dirty="0">
                <a:solidFill>
                  <a:srgbClr val="A9C4C0"/>
                </a:solidFill>
                <a:latin typeface="Consolas" pitchFamily="34" charset="0"/>
                <a:ea typeface="Consolas" pitchFamily="34" charset="-122"/>
                <a:cs typeface="Consolas" pitchFamily="34" charset="-120"/>
              </a:rPr>
              <a:t>DOSSIER_OPENAI_URL=…</a:t>
            </a:r>
            <a:endParaRPr lang="en-US" sz="1700" dirty="0"/>
          </a:p>
          <a:p>
            <a:pPr indent="0" marL="0">
              <a:buNone/>
            </a:pPr>
            <a:r>
              <a:rPr lang="en-US" sz="1400" dirty="0">
                <a:solidFill>
                  <a:srgbClr val="FFFFFF"/>
                </a:solidFill>
                <a:latin typeface="Calibri" pitchFamily="34" charset="0"/>
                <a:ea typeface="Calibri" pitchFamily="34" charset="-122"/>
                <a:cs typeface="Calibri" pitchFamily="34" charset="-120"/>
              </a:rPr>
              <a:t>where it is served: in no key</a:t>
            </a:r>
            <a:endParaRPr lang="en-US" sz="1700" dirty="0"/>
          </a:p>
        </p:txBody>
      </p:sp>
      <p:sp>
        <p:nvSpPr>
          <p:cNvPr id="21" name="real incidents"/>
          <p:cNvSpPr/>
          <p:nvPr/>
        </p:nvSpPr>
        <p:spPr>
          <a:xfrm>
            <a:off x="6400800" y="3703320"/>
            <a:ext cx="5242255" cy="2240280"/>
          </a:xfrm>
          <a:prstGeom prst="roundRect">
            <a:avLst>
              <a:gd name="adj" fmla="val 3265"/>
            </a:avLst>
          </a:prstGeom>
          <a:solidFill>
            <a:schemeClr val="accent2"/>
          </a:solidFill>
          <a:ln/>
        </p:spPr>
      </p:sp>
      <p:sp>
        <p:nvSpPr>
          <p:cNvPr id="22" name="governance badge"/>
          <p:cNvSpPr/>
          <p:nvPr/>
        </p:nvSpPr>
        <p:spPr>
          <a:xfrm>
            <a:off x="6675120" y="3931920"/>
            <a:ext cx="777240" cy="777240"/>
          </a:xfrm>
          <a:prstGeom prst="ellipse">
            <a:avLst/>
          </a:prstGeom>
          <a:solidFill>
            <a:schemeClr val="tx2"/>
          </a:solidFill>
          <a:ln/>
        </p:spPr>
      </p:sp>
      <p:pic>
        <p:nvPicPr>
          <p:cNvPr id="23" name="governance icon" descr="preencoded.png">    </p:cNvPr>
          <p:cNvPicPr>
            <a:picLocks noChangeAspect="1"/>
          </p:cNvPicPr>
          <p:nvPr/>
        </p:nvPicPr>
        <p:blipFill>
          <a:blip r:embed="rId4"/>
          <a:stretch>
            <a:fillRect/>
          </a:stretch>
        </p:blipFill>
        <p:spPr>
          <a:xfrm>
            <a:off x="6869430" y="4126230"/>
            <a:ext cx="388620" cy="388620"/>
          </a:xfrm>
          <a:prstGeom prst="rect">
            <a:avLst/>
          </a:prstGeom>
        </p:spPr>
      </p:pic>
      <p:sp>
        <p:nvSpPr>
          <p:cNvPr id="24" name="Text 17"/>
          <p:cNvSpPr txBox="1"/>
          <p:nvPr/>
        </p:nvSpPr>
        <p:spPr>
          <a:xfrm>
            <a:off x="7680960" y="3977640"/>
            <a:ext cx="3779215" cy="640080"/>
          </a:xfrm>
          <a:prstGeom prst="rect">
            <a:avLst/>
          </a:prstGeom>
          <a:noFill/>
          <a:ln/>
        </p:spPr>
        <p:txBody>
          <a:bodyPr wrap="square" lIns="0" tIns="0" rIns="0" bIns="0" rtlCol="0" anchor="ctr"/>
          <a:lstStyle/>
          <a:p>
            <a:pPr indent="0" marL="0">
              <a:buNone/>
            </a:pPr>
            <a:r>
              <a:rPr lang="en-US" sz="2100" b="1" dirty="0">
                <a:solidFill>
                  <a:schemeClr val="tx2"/>
                </a:solidFill>
              </a:rPr>
              <a:t>Real incidents</a:t>
            </a:r>
            <a:endParaRPr lang="en-US" sz="2100" dirty="0"/>
          </a:p>
        </p:txBody>
      </p:sp>
      <p:sp>
        <p:nvSpPr>
          <p:cNvPr id="25" name="Text 18"/>
          <p:cNvSpPr txBox="1"/>
          <p:nvPr/>
        </p:nvSpPr>
        <p:spPr>
          <a:xfrm>
            <a:off x="6675120" y="4846320"/>
            <a:ext cx="4693615" cy="914400"/>
          </a:xfrm>
          <a:prstGeom prst="rect">
            <a:avLst/>
          </a:prstGeom>
          <a:noFill/>
          <a:ln/>
        </p:spPr>
        <p:txBody>
          <a:bodyPr wrap="square" lIns="0" tIns="0" rIns="0" bIns="0" rtlCol="0" anchor="t"/>
          <a:lstStyle/>
          <a:p>
            <a:pPr indent="0" marL="0">
              <a:buNone/>
            </a:pPr>
            <a:r>
              <a:rPr lang="en-US" sz="1700" dirty="0">
                <a:solidFill>
                  <a:schemeClr val="tx2"/>
                </a:solidFill>
              </a:rPr>
              <a:t>Only local models, or models behind OpenWebUI. Never a cloud API called directly.</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Learn it by running it</a:t>
            </a:r>
            <a:endParaRPr lang="en-US" sz="3600" dirty="0"/>
          </a:p>
        </p:txBody>
      </p:sp>
      <p:sp>
        <p:nvSpPr>
          <p:cNvPr id="4" name="The core loop"/>
          <p:cNvSpPr/>
          <p:nvPr/>
        </p:nvSpPr>
        <p:spPr>
          <a:xfrm>
            <a:off x="548640" y="1463040"/>
            <a:ext cx="11094415" cy="713232"/>
          </a:xfrm>
          <a:prstGeom prst="roundRect">
            <a:avLst>
              <a:gd name="adj" fmla="val 10256"/>
            </a:avLst>
          </a:prstGeom>
          <a:solidFill>
            <a:schemeClr val="tx2"/>
          </a:solidFill>
          <a:ln/>
        </p:spPr>
      </p:sp>
      <p:sp>
        <p:nvSpPr>
          <p:cNvPr id="5" name="Text 2"/>
          <p:cNvSpPr txBox="1"/>
          <p:nvPr/>
        </p:nvSpPr>
        <p:spPr>
          <a:xfrm>
            <a:off x="822960" y="1463040"/>
            <a:ext cx="1737360" cy="713232"/>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01–10</a:t>
            </a:r>
            <a:endParaRPr lang="en-US" sz="2000" dirty="0"/>
          </a:p>
        </p:txBody>
      </p:sp>
      <p:sp>
        <p:nvSpPr>
          <p:cNvPr id="6" name="Text 3"/>
          <p:cNvSpPr txBox="1"/>
          <p:nvPr/>
        </p:nvSpPr>
        <p:spPr>
          <a:xfrm>
            <a:off x="2651760" y="1463040"/>
            <a:ext cx="2743200" cy="713232"/>
          </a:xfrm>
          <a:prstGeom prst="rect">
            <a:avLst/>
          </a:prstGeom>
          <a:noFill/>
          <a:ln/>
        </p:spPr>
        <p:txBody>
          <a:bodyPr wrap="square" lIns="0" tIns="0" rIns="0" bIns="0" rtlCol="0" anchor="ctr"/>
          <a:lstStyle/>
          <a:p>
            <a:pPr indent="0" marL="0">
              <a:buNone/>
            </a:pPr>
            <a:r>
              <a:rPr lang="en-US" sz="1800" b="1" dirty="0">
                <a:solidFill>
                  <a:schemeClr val="bg1"/>
                </a:solidFill>
              </a:rPr>
              <a:t>The core loop</a:t>
            </a:r>
            <a:endParaRPr lang="en-US" sz="1800" dirty="0"/>
          </a:p>
        </p:txBody>
      </p:sp>
      <p:sp>
        <p:nvSpPr>
          <p:cNvPr id="7" name="Text 4"/>
          <p:cNvSpPr txBox="1"/>
          <p:nvPr/>
        </p:nvSpPr>
        <p:spPr>
          <a:xfrm>
            <a:off x="5394960" y="1463040"/>
            <a:ext cx="5973775" cy="713232"/>
          </a:xfrm>
          <a:prstGeom prst="rect">
            <a:avLst/>
          </a:prstGeom>
          <a:noFill/>
          <a:ln/>
        </p:spPr>
        <p:txBody>
          <a:bodyPr wrap="square" lIns="0" tIns="0" rIns="0" bIns="0" rtlCol="0" anchor="ctr"/>
          <a:lstStyle/>
          <a:p>
            <a:pPr indent="0" marL="0">
              <a:buNone/>
            </a:pPr>
            <a:r>
              <a:rPr lang="en-US" sz="1500" dirty="0">
                <a:solidFill>
                  <a:schemeClr val="bg1"/>
                </a:solidFill>
              </a:rPr>
              <a:t>Sync, a pipeline, converters, gold and eval, grounding, a judge, MLflow, cache keys, page images</a:t>
            </a:r>
            <a:endParaRPr lang="en-US" sz="1500" dirty="0"/>
          </a:p>
        </p:txBody>
      </p:sp>
      <p:sp>
        <p:nvSpPr>
          <p:cNvPr id="8" name="MLflow and real servers"/>
          <p:cNvSpPr/>
          <p:nvPr/>
        </p:nvSpPr>
        <p:spPr>
          <a:xfrm>
            <a:off x="548640" y="2286000"/>
            <a:ext cx="11094415" cy="713232"/>
          </a:xfrm>
          <a:prstGeom prst="roundRect">
            <a:avLst>
              <a:gd name="adj" fmla="val 10256"/>
            </a:avLst>
          </a:prstGeom>
          <a:solidFill>
            <a:schemeClr val="bg2"/>
          </a:solidFill>
          <a:ln/>
        </p:spPr>
      </p:sp>
      <p:sp>
        <p:nvSpPr>
          <p:cNvPr id="9" name="Text 6"/>
          <p:cNvSpPr txBox="1"/>
          <p:nvPr/>
        </p:nvSpPr>
        <p:spPr>
          <a:xfrm>
            <a:off x="822960" y="2286000"/>
            <a:ext cx="1737360" cy="71323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11–15</a:t>
            </a:r>
            <a:endParaRPr lang="en-US" sz="2000" dirty="0"/>
          </a:p>
        </p:txBody>
      </p:sp>
      <p:sp>
        <p:nvSpPr>
          <p:cNvPr id="10" name="Text 7"/>
          <p:cNvSpPr txBox="1"/>
          <p:nvPr/>
        </p:nvSpPr>
        <p:spPr>
          <a:xfrm>
            <a:off x="2651760" y="228600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MLflow and real servers</a:t>
            </a:r>
            <a:endParaRPr lang="en-US" sz="1800" dirty="0"/>
          </a:p>
        </p:txBody>
      </p:sp>
      <p:sp>
        <p:nvSpPr>
          <p:cNvPr id="11" name="Text 8"/>
          <p:cNvSpPr txBox="1"/>
          <p:nvPr/>
        </p:nvSpPr>
        <p:spPr>
          <a:xfrm>
            <a:off x="5394960" y="2286000"/>
            <a:ext cx="5973775" cy="713232"/>
          </a:xfrm>
          <a:prstGeom prst="rect">
            <a:avLst/>
          </a:prstGeom>
          <a:noFill/>
          <a:ln/>
        </p:spPr>
        <p:txBody>
          <a:bodyPr wrap="square" lIns="0" tIns="0" rIns="0" bIns="0" rtlCol="0" anchor="ctr"/>
          <a:lstStyle/>
          <a:p>
            <a:pPr indent="0" marL="0">
              <a:buNone/>
            </a:pPr>
            <a:r>
              <a:rPr lang="en-US" sz="1500" dirty="0">
                <a:solidFill>
                  <a:schemeClr val="tx1"/>
                </a:solidFill>
              </a:rPr>
              <a:t>A Jira in Docker, a dataset and the change gate, prompt versions, review, a public Confluence</a:t>
            </a:r>
            <a:endParaRPr lang="en-US" sz="1500" dirty="0"/>
          </a:p>
        </p:txBody>
      </p:sp>
      <p:sp>
        <p:nvSpPr>
          <p:cNvPr id="12" name="Richer documents"/>
          <p:cNvSpPr/>
          <p:nvPr/>
        </p:nvSpPr>
        <p:spPr>
          <a:xfrm>
            <a:off x="548640" y="3108960"/>
            <a:ext cx="11094415" cy="713232"/>
          </a:xfrm>
          <a:prstGeom prst="roundRect">
            <a:avLst>
              <a:gd name="adj" fmla="val 10256"/>
            </a:avLst>
          </a:prstGeom>
          <a:solidFill>
            <a:schemeClr val="bg2"/>
          </a:solidFill>
          <a:ln/>
        </p:spPr>
      </p:sp>
      <p:sp>
        <p:nvSpPr>
          <p:cNvPr id="13" name="Text 10"/>
          <p:cNvSpPr txBox="1"/>
          <p:nvPr/>
        </p:nvSpPr>
        <p:spPr>
          <a:xfrm>
            <a:off x="822960" y="3108960"/>
            <a:ext cx="1737360" cy="71323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16–19 · 23</a:t>
            </a:r>
            <a:endParaRPr lang="en-US" sz="2000" dirty="0"/>
          </a:p>
        </p:txBody>
      </p:sp>
      <p:sp>
        <p:nvSpPr>
          <p:cNvPr id="14" name="Text 11"/>
          <p:cNvSpPr txBox="1"/>
          <p:nvPr/>
        </p:nvSpPr>
        <p:spPr>
          <a:xfrm>
            <a:off x="2651760" y="310896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Richer documents</a:t>
            </a:r>
            <a:endParaRPr lang="en-US" sz="1800" dirty="0"/>
          </a:p>
        </p:txBody>
      </p:sp>
      <p:sp>
        <p:nvSpPr>
          <p:cNvPr id="15" name="Text 12"/>
          <p:cNvSpPr txBox="1"/>
          <p:nvPr/>
        </p:nvSpPr>
        <p:spPr>
          <a:xfrm>
            <a:off x="5394960" y="3108960"/>
            <a:ext cx="5973775" cy="713232"/>
          </a:xfrm>
          <a:prstGeom prst="rect">
            <a:avLst/>
          </a:prstGeom>
          <a:noFill/>
          <a:ln/>
        </p:spPr>
        <p:txBody>
          <a:bodyPr wrap="square" lIns="0" tIns="0" rIns="0" bIns="0" rtlCol="0" anchor="ctr"/>
          <a:lstStyle/>
          <a:p>
            <a:pPr indent="0" marL="0">
              <a:buNone/>
            </a:pPr>
            <a:r>
              <a:rPr lang="en-US" sz="1500" dirty="0">
                <a:solidFill>
                  <a:schemeClr val="tx1"/>
                </a:solidFill>
              </a:rPr>
              <a:t>Several files as one document, procedures as context, a website, answers that are not text, OCR</a:t>
            </a:r>
            <a:endParaRPr lang="en-US" sz="1500" dirty="0"/>
          </a:p>
        </p:txBody>
      </p:sp>
      <p:sp>
        <p:nvSpPr>
          <p:cNvPr id="16" name="Search"/>
          <p:cNvSpPr/>
          <p:nvPr/>
        </p:nvSpPr>
        <p:spPr>
          <a:xfrm>
            <a:off x="548640" y="3931920"/>
            <a:ext cx="11094415" cy="713232"/>
          </a:xfrm>
          <a:prstGeom prst="roundRect">
            <a:avLst>
              <a:gd name="adj" fmla="val 10256"/>
            </a:avLst>
          </a:prstGeom>
          <a:solidFill>
            <a:schemeClr val="bg2"/>
          </a:solidFill>
          <a:ln/>
        </p:spPr>
      </p:sp>
      <p:sp>
        <p:nvSpPr>
          <p:cNvPr id="17" name="Text 14"/>
          <p:cNvSpPr txBox="1"/>
          <p:nvPr/>
        </p:nvSpPr>
        <p:spPr>
          <a:xfrm>
            <a:off x="822960" y="3931920"/>
            <a:ext cx="1737360" cy="71323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20–22</a:t>
            </a:r>
            <a:endParaRPr lang="en-US" sz="2000" dirty="0"/>
          </a:p>
        </p:txBody>
      </p:sp>
      <p:sp>
        <p:nvSpPr>
          <p:cNvPr id="18" name="Text 15"/>
          <p:cNvSpPr txBox="1"/>
          <p:nvPr/>
        </p:nvSpPr>
        <p:spPr>
          <a:xfrm>
            <a:off x="2651760" y="393192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Search</a:t>
            </a:r>
            <a:endParaRPr lang="en-US" sz="1800" dirty="0"/>
          </a:p>
        </p:txBody>
      </p:sp>
      <p:sp>
        <p:nvSpPr>
          <p:cNvPr id="19" name="Text 16"/>
          <p:cNvSpPr txBox="1"/>
          <p:nvPr/>
        </p:nvSpPr>
        <p:spPr>
          <a:xfrm>
            <a:off x="5394960" y="3931920"/>
            <a:ext cx="5973775" cy="713232"/>
          </a:xfrm>
          <a:prstGeom prst="rect">
            <a:avLst/>
          </a:prstGeom>
          <a:noFill/>
          <a:ln/>
        </p:spPr>
        <p:txBody>
          <a:bodyPr wrap="square" lIns="0" tIns="0" rIns="0" bIns="0" rtlCol="0" anchor="ctr"/>
          <a:lstStyle/>
          <a:p>
            <a:pPr indent="0" marL="0">
              <a:buNone/>
            </a:pPr>
            <a:r>
              <a:rPr lang="en-US" sz="1500" dirty="0">
                <a:solidFill>
                  <a:schemeClr val="tx1"/>
                </a:solidFill>
              </a:rPr>
              <a:t>An index, asking it a question, what a run costs and how fast it goes</a:t>
            </a:r>
            <a:endParaRPr lang="en-US" sz="1500" dirty="0"/>
          </a:p>
        </p:txBody>
      </p:sp>
      <p:sp>
        <p:nvSpPr>
          <p:cNvPr id="20" name="Operating it"/>
          <p:cNvSpPr/>
          <p:nvPr/>
        </p:nvSpPr>
        <p:spPr>
          <a:xfrm>
            <a:off x="548640" y="4754880"/>
            <a:ext cx="11094415" cy="713232"/>
          </a:xfrm>
          <a:prstGeom prst="roundRect">
            <a:avLst>
              <a:gd name="adj" fmla="val 10256"/>
            </a:avLst>
          </a:prstGeom>
          <a:solidFill>
            <a:schemeClr val="bg2"/>
          </a:solidFill>
          <a:ln/>
        </p:spPr>
      </p:sp>
      <p:sp>
        <p:nvSpPr>
          <p:cNvPr id="21" name="Text 18"/>
          <p:cNvSpPr txBox="1"/>
          <p:nvPr/>
        </p:nvSpPr>
        <p:spPr>
          <a:xfrm>
            <a:off x="822960" y="4754880"/>
            <a:ext cx="1737360" cy="71323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24–27</a:t>
            </a:r>
            <a:endParaRPr lang="en-US" sz="2000" dirty="0"/>
          </a:p>
        </p:txBody>
      </p:sp>
      <p:sp>
        <p:nvSpPr>
          <p:cNvPr id="22" name="Text 19"/>
          <p:cNvSpPr txBox="1"/>
          <p:nvPr/>
        </p:nvSpPr>
        <p:spPr>
          <a:xfrm>
            <a:off x="2651760" y="475488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Operating it</a:t>
            </a:r>
            <a:endParaRPr lang="en-US" sz="1800" dirty="0"/>
          </a:p>
        </p:txBody>
      </p:sp>
      <p:sp>
        <p:nvSpPr>
          <p:cNvPr id="23" name="Text 20"/>
          <p:cNvSpPr txBox="1"/>
          <p:nvPr/>
        </p:nvSpPr>
        <p:spPr>
          <a:xfrm>
            <a:off x="5394960" y="4754880"/>
            <a:ext cx="5973775" cy="713232"/>
          </a:xfrm>
          <a:prstGeom prst="rect">
            <a:avLst/>
          </a:prstGeom>
          <a:noFill/>
          <a:ln/>
        </p:spPr>
        <p:txBody>
          <a:bodyPr wrap="square" lIns="0" tIns="0" rIns="0" bIns="0" rtlCol="0" anchor="ctr"/>
          <a:lstStyle/>
          <a:p>
            <a:pPr indent="0" marL="0">
              <a:buNone/>
            </a:pPr>
            <a:r>
              <a:rPr lang="en-US" sz="1500" dirty="0">
                <a:solidFill>
                  <a:schemeClr val="tx1"/>
                </a:solidFill>
              </a:rPr>
              <a:t>Two commands in one workspace, a client masked, a workspace that runs every day</a:t>
            </a:r>
            <a:endParaRPr lang="en-US" sz="1500" dirty="0"/>
          </a:p>
        </p:txBody>
      </p:sp>
      <p:sp>
        <p:nvSpPr>
          <p:cNvPr id="24" name="quickstart badge"/>
          <p:cNvSpPr/>
          <p:nvPr/>
        </p:nvSpPr>
        <p:spPr>
          <a:xfrm>
            <a:off x="548640" y="5669280"/>
            <a:ext cx="457200" cy="457200"/>
          </a:xfrm>
          <a:prstGeom prst="ellipse">
            <a:avLst/>
          </a:prstGeom>
          <a:solidFill>
            <a:schemeClr val="accent2"/>
          </a:solidFill>
          <a:ln/>
        </p:spPr>
      </p:sp>
      <p:pic>
        <p:nvPicPr>
          <p:cNvPr id="25" name="quickstart icon" descr="preencoded.png">    </p:cNvPr>
          <p:cNvPicPr>
            <a:picLocks noChangeAspect="1"/>
          </p:cNvPicPr>
          <p:nvPr/>
        </p:nvPicPr>
        <p:blipFill>
          <a:blip r:embed="rId1"/>
          <a:stretch>
            <a:fillRect/>
          </a:stretch>
        </p:blipFill>
        <p:spPr>
          <a:xfrm>
            <a:off x="662940" y="5783580"/>
            <a:ext cx="228600" cy="228600"/>
          </a:xfrm>
          <a:prstGeom prst="rect">
            <a:avLst/>
          </a:prstGeom>
        </p:spPr>
      </p:pic>
      <p:sp>
        <p:nvSpPr>
          <p:cNvPr id="26" name="Text 22"/>
          <p:cNvSpPr txBox="1"/>
          <p:nvPr/>
        </p:nvSpPr>
        <p:spPr>
          <a:xfrm>
            <a:off x="1143000" y="5715000"/>
            <a:ext cx="10500055" cy="365760"/>
          </a:xfrm>
          <a:prstGeom prst="rect">
            <a:avLst/>
          </a:prstGeom>
          <a:noFill/>
          <a:ln/>
        </p:spPr>
        <p:txBody>
          <a:bodyPr wrap="square" lIns="0" tIns="0" rIns="0" bIns="0" rtlCol="0" anchor="ctr"/>
          <a:lstStyle/>
          <a:p>
            <a:pPr indent="0" marL="0">
              <a:buNone/>
            </a:pPr>
            <a:r>
              <a:rPr lang="en-US" sz="1500" i="1" dirty="0">
                <a:solidFill>
                  <a:schemeClr val="accent1"/>
                </a:solidFill>
              </a:rPr>
              <a:t>playground/README.md · and the quickstart video: the core loop in ten minutes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828800" cy="128016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3</a:t>
            </a:r>
            <a:endParaRPr lang="en-US" sz="9600" dirty="0"/>
          </a:p>
        </p:txBody>
      </p:sp>
      <p:sp>
        <p:nvSpPr>
          <p:cNvPr id="3" name="Text 0"/>
          <p:cNvSpPr/>
          <p:nvPr>
            <p:ph idx="101" type="title" hasCustomPrompt="1"/>
          </p:nvPr>
        </p:nvSpPr>
        <p:spPr>
          <a:xfrm>
            <a:off x="548640" y="3200400"/>
            <a:ext cx="11094415"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What could be next</a:t>
            </a:r>
            <a:endParaRPr lang="en-US" sz="4400" dirty="0"/>
          </a:p>
        </p:txBody>
      </p:sp>
      <p:sp>
        <p:nvSpPr>
          <p:cNvPr id="4" name="Text 0"/>
          <p:cNvSpPr/>
          <p:nvPr>
            <p:ph idx="102" type="body" hasCustomPrompt="1"/>
          </p:nvPr>
        </p:nvSpPr>
        <p:spPr>
          <a:xfrm>
            <a:off x="548640" y="4206240"/>
            <a:ext cx="9601200" cy="914400"/>
          </a:xfrm>
          <a:prstGeom prst="rect">
            <a:avLst/>
          </a:prstGeom>
          <a:noFill/>
          <a:ln/>
        </p:spPr>
        <p:txBody>
          <a:bodyPr wrap="square" lIns="0" tIns="0" rIns="0" bIns="0" rtlCol="0" anchor="t"/>
          <a:lstStyle/>
          <a:p>
            <a:pPr indent="0" marL="0">
              <a:buNone/>
            </a:pPr>
            <a:r>
              <a:rPr lang="en-US" sz="2200" dirty="0">
                <a:solidFill>
                  <a:schemeClr val="accent6"/>
                </a:solidFill>
              </a:rPr>
              <a:t>A pilot on real incidents, the numbers only it can settle, and what is already written down for later</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Next: a pilot on real incidents</a:t>
            </a:r>
            <a:endParaRPr lang="en-US" sz="3600" dirty="0"/>
          </a:p>
        </p:txBody>
      </p:sp>
      <p:sp>
        <p:nvSpPr>
          <p:cNvPr id="4" name="The sources"/>
          <p:cNvSpPr/>
          <p:nvPr/>
        </p:nvSpPr>
        <p:spPr>
          <a:xfrm>
            <a:off x="548640" y="1508760"/>
            <a:ext cx="5364328" cy="1783080"/>
          </a:xfrm>
          <a:prstGeom prst="roundRect">
            <a:avLst>
              <a:gd name="adj" fmla="val 4103"/>
            </a:avLst>
          </a:prstGeom>
          <a:solidFill>
            <a:schemeClr val="bg2"/>
          </a:solidFill>
          <a:ln/>
        </p:spPr>
      </p:sp>
      <p:sp>
        <p:nvSpPr>
          <p:cNvPr id="5" name="Text 2"/>
          <p:cNvSpPr txBox="1"/>
          <p:nvPr/>
        </p:nvSpPr>
        <p:spPr>
          <a:xfrm>
            <a:off x="822960" y="1737360"/>
            <a:ext cx="73152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a:t>
            </a:r>
            <a:endParaRPr lang="en-US" sz="4800" dirty="0"/>
          </a:p>
        </p:txBody>
      </p:sp>
      <p:sp>
        <p:nvSpPr>
          <p:cNvPr id="6" name="The sources badge"/>
          <p:cNvSpPr/>
          <p:nvPr/>
        </p:nvSpPr>
        <p:spPr>
          <a:xfrm>
            <a:off x="5044288" y="1737360"/>
            <a:ext cx="594360" cy="594360"/>
          </a:xfrm>
          <a:prstGeom prst="ellipse">
            <a:avLst/>
          </a:prstGeom>
          <a:solidFill>
            <a:schemeClr val="accent1"/>
          </a:solidFill>
          <a:ln/>
        </p:spPr>
      </p:sp>
      <p:pic>
        <p:nvPicPr>
          <p:cNvPr id="7" name="The sources icon" descr="preencoded.png">    </p:cNvPr>
          <p:cNvPicPr>
            <a:picLocks noChangeAspect="1"/>
          </p:cNvPicPr>
          <p:nvPr/>
        </p:nvPicPr>
        <p:blipFill>
          <a:blip r:embed="rId1"/>
          <a:stretch>
            <a:fillRect/>
          </a:stretch>
        </p:blipFill>
        <p:spPr>
          <a:xfrm>
            <a:off x="5192878" y="1885950"/>
            <a:ext cx="297180" cy="297180"/>
          </a:xfrm>
          <a:prstGeom prst="rect">
            <a:avLst/>
          </a:prstGeom>
        </p:spPr>
      </p:pic>
      <p:sp>
        <p:nvSpPr>
          <p:cNvPr id="8" name="Text 4"/>
          <p:cNvSpPr txBox="1"/>
          <p:nvPr/>
        </p:nvSpPr>
        <p:spPr>
          <a:xfrm>
            <a:off x="1645920" y="1783080"/>
            <a:ext cx="3261208" cy="457200"/>
          </a:xfrm>
          <a:prstGeom prst="rect">
            <a:avLst/>
          </a:prstGeom>
          <a:noFill/>
          <a:ln/>
        </p:spPr>
        <p:txBody>
          <a:bodyPr wrap="square" lIns="0" tIns="0" rIns="0" bIns="0" rtlCol="0" anchor="t"/>
          <a:lstStyle/>
          <a:p>
            <a:pPr indent="0" marL="0">
              <a:buNone/>
            </a:pPr>
            <a:r>
              <a:rPr lang="en-US" sz="1900" b="1" dirty="0">
                <a:solidFill>
                  <a:schemeClr val="tx2"/>
                </a:solidFill>
              </a:rPr>
              <a:t>The sources</a:t>
            </a:r>
            <a:endParaRPr lang="en-US" sz="1900" dirty="0"/>
          </a:p>
        </p:txBody>
      </p:sp>
      <p:sp>
        <p:nvSpPr>
          <p:cNvPr id="9" name="Text 5"/>
          <p:cNvSpPr txBox="1"/>
          <p:nvPr/>
        </p:nvSpPr>
        <p:spPr>
          <a:xfrm>
            <a:off x="1645920" y="2423160"/>
            <a:ext cx="3992728" cy="777240"/>
          </a:xfrm>
          <a:prstGeom prst="rect">
            <a:avLst/>
          </a:prstGeom>
          <a:noFill/>
          <a:ln/>
        </p:spPr>
        <p:txBody>
          <a:bodyPr wrap="square" lIns="0" tIns="0" rIns="0" bIns="0" rtlCol="0" anchor="t"/>
          <a:lstStyle/>
          <a:p>
            <a:pPr indent="0" marL="0">
              <a:buNone/>
            </a:pPr>
            <a:r>
              <a:rPr lang="en-US" sz="1500" dirty="0">
                <a:solidFill>
                  <a:schemeClr val="tx1"/>
                </a:solidFill>
              </a:rPr>
              <a:t>Which Jira projects, Confluence spaces and folders to read</a:t>
            </a:r>
            <a:endParaRPr lang="en-US" sz="1500" dirty="0"/>
          </a:p>
        </p:txBody>
      </p:sp>
      <p:sp>
        <p:nvSpPr>
          <p:cNvPr id="10" name="Eureka"/>
          <p:cNvSpPr/>
          <p:nvPr/>
        </p:nvSpPr>
        <p:spPr>
          <a:xfrm>
            <a:off x="6278728" y="1508760"/>
            <a:ext cx="5364328" cy="1783080"/>
          </a:xfrm>
          <a:prstGeom prst="roundRect">
            <a:avLst>
              <a:gd name="adj" fmla="val 4103"/>
            </a:avLst>
          </a:prstGeom>
          <a:solidFill>
            <a:schemeClr val="bg2"/>
          </a:solidFill>
          <a:ln/>
        </p:spPr>
      </p:sp>
      <p:sp>
        <p:nvSpPr>
          <p:cNvPr id="11" name="Text 7"/>
          <p:cNvSpPr txBox="1"/>
          <p:nvPr/>
        </p:nvSpPr>
        <p:spPr>
          <a:xfrm>
            <a:off x="6553048" y="1737360"/>
            <a:ext cx="73152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2</a:t>
            </a:r>
            <a:endParaRPr lang="en-US" sz="4800" dirty="0"/>
          </a:p>
        </p:txBody>
      </p:sp>
      <p:sp>
        <p:nvSpPr>
          <p:cNvPr id="12" name="Eureka badge"/>
          <p:cNvSpPr/>
          <p:nvPr/>
        </p:nvSpPr>
        <p:spPr>
          <a:xfrm>
            <a:off x="10774375" y="1737360"/>
            <a:ext cx="594360" cy="594360"/>
          </a:xfrm>
          <a:prstGeom prst="ellipse">
            <a:avLst/>
          </a:prstGeom>
          <a:solidFill>
            <a:schemeClr val="accent1"/>
          </a:solidFill>
          <a:ln/>
        </p:spPr>
      </p:sp>
      <p:pic>
        <p:nvPicPr>
          <p:cNvPr id="13" name="Eureka icon" descr="preencoded.png">    </p:cNvPr>
          <p:cNvPicPr>
            <a:picLocks noChangeAspect="1"/>
          </p:cNvPicPr>
          <p:nvPr/>
        </p:nvPicPr>
        <p:blipFill>
          <a:blip r:embed="rId2"/>
          <a:stretch>
            <a:fillRect/>
          </a:stretch>
        </p:blipFill>
        <p:spPr>
          <a:xfrm>
            <a:off x="10922965" y="1885950"/>
            <a:ext cx="297180" cy="297180"/>
          </a:xfrm>
          <a:prstGeom prst="rect">
            <a:avLst/>
          </a:prstGeom>
        </p:spPr>
      </p:pic>
      <p:sp>
        <p:nvSpPr>
          <p:cNvPr id="14" name="Text 9"/>
          <p:cNvSpPr txBox="1"/>
          <p:nvPr/>
        </p:nvSpPr>
        <p:spPr>
          <a:xfrm>
            <a:off x="7376008" y="1783080"/>
            <a:ext cx="3261208" cy="457200"/>
          </a:xfrm>
          <a:prstGeom prst="rect">
            <a:avLst/>
          </a:prstGeom>
          <a:noFill/>
          <a:ln/>
        </p:spPr>
        <p:txBody>
          <a:bodyPr wrap="square" lIns="0" tIns="0" rIns="0" bIns="0" rtlCol="0" anchor="t"/>
          <a:lstStyle/>
          <a:p>
            <a:pPr indent="0" marL="0">
              <a:buNone/>
            </a:pPr>
            <a:r>
              <a:rPr lang="en-US" sz="1900" b="1" dirty="0">
                <a:solidFill>
                  <a:schemeClr val="tx2"/>
                </a:solidFill>
              </a:rPr>
              <a:t>Eureka</a:t>
            </a:r>
            <a:endParaRPr lang="en-US" sz="1900" dirty="0"/>
          </a:p>
        </p:txBody>
      </p:sp>
      <p:sp>
        <p:nvSpPr>
          <p:cNvPr id="15" name="Text 10"/>
          <p:cNvSpPr txBox="1"/>
          <p:nvPr/>
        </p:nvSpPr>
        <p:spPr>
          <a:xfrm>
            <a:off x="7376008" y="2423160"/>
            <a:ext cx="3992728" cy="777240"/>
          </a:xfrm>
          <a:prstGeom prst="rect">
            <a:avLst/>
          </a:prstGeom>
          <a:noFill/>
          <a:ln/>
        </p:spPr>
        <p:txBody>
          <a:bodyPr wrap="square" lIns="0" tIns="0" rIns="0" bIns="0" rtlCol="0" anchor="t"/>
          <a:lstStyle/>
          <a:p>
            <a:pPr indent="0" marL="0">
              <a:buNone/>
            </a:pPr>
            <a:r>
              <a:rPr lang="en-US" sz="1500" dirty="0">
                <a:solidFill>
                  <a:schemeClr val="tx1"/>
                </a:solidFill>
              </a:rPr>
              <a:t>What it is: a product, an API, an export. No connector yet: start without it, or from a folder export</a:t>
            </a:r>
            <a:endParaRPr lang="en-US" sz="1500" dirty="0"/>
          </a:p>
        </p:txBody>
      </p:sp>
      <p:sp>
        <p:nvSpPr>
          <p:cNvPr id="16" name="A labelled masking sample"/>
          <p:cNvSpPr/>
          <p:nvPr/>
        </p:nvSpPr>
        <p:spPr>
          <a:xfrm>
            <a:off x="548640" y="3520440"/>
            <a:ext cx="5364328" cy="1783080"/>
          </a:xfrm>
          <a:prstGeom prst="roundRect">
            <a:avLst>
              <a:gd name="adj" fmla="val 4103"/>
            </a:avLst>
          </a:prstGeom>
          <a:solidFill>
            <a:schemeClr val="bg2"/>
          </a:solidFill>
          <a:ln/>
        </p:spPr>
      </p:sp>
      <p:sp>
        <p:nvSpPr>
          <p:cNvPr id="17" name="Text 12"/>
          <p:cNvSpPr txBox="1"/>
          <p:nvPr/>
        </p:nvSpPr>
        <p:spPr>
          <a:xfrm>
            <a:off x="822960" y="3749040"/>
            <a:ext cx="73152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3</a:t>
            </a:r>
            <a:endParaRPr lang="en-US" sz="4800" dirty="0"/>
          </a:p>
        </p:txBody>
      </p:sp>
      <p:sp>
        <p:nvSpPr>
          <p:cNvPr id="18" name="A labelled masking sample badge"/>
          <p:cNvSpPr/>
          <p:nvPr/>
        </p:nvSpPr>
        <p:spPr>
          <a:xfrm>
            <a:off x="5044288" y="3749040"/>
            <a:ext cx="594360" cy="594360"/>
          </a:xfrm>
          <a:prstGeom prst="ellipse">
            <a:avLst/>
          </a:prstGeom>
          <a:solidFill>
            <a:schemeClr val="accent1"/>
          </a:solidFill>
          <a:ln/>
        </p:spPr>
      </p:sp>
      <p:pic>
        <p:nvPicPr>
          <p:cNvPr id="19" name="A labelled masking sample icon" descr="preencoded.png">    </p:cNvPr>
          <p:cNvPicPr>
            <a:picLocks noChangeAspect="1"/>
          </p:cNvPicPr>
          <p:nvPr/>
        </p:nvPicPr>
        <p:blipFill>
          <a:blip r:embed="rId3"/>
          <a:stretch>
            <a:fillRect/>
          </a:stretch>
        </p:blipFill>
        <p:spPr>
          <a:xfrm>
            <a:off x="5192878" y="3897630"/>
            <a:ext cx="297180" cy="297180"/>
          </a:xfrm>
          <a:prstGeom prst="rect">
            <a:avLst/>
          </a:prstGeom>
        </p:spPr>
      </p:pic>
      <p:sp>
        <p:nvSpPr>
          <p:cNvPr id="20" name="Text 14"/>
          <p:cNvSpPr txBox="1"/>
          <p:nvPr/>
        </p:nvSpPr>
        <p:spPr>
          <a:xfrm>
            <a:off x="1645920" y="3794760"/>
            <a:ext cx="3261208" cy="457200"/>
          </a:xfrm>
          <a:prstGeom prst="rect">
            <a:avLst/>
          </a:prstGeom>
          <a:noFill/>
          <a:ln/>
        </p:spPr>
        <p:txBody>
          <a:bodyPr wrap="square" lIns="0" tIns="0" rIns="0" bIns="0" rtlCol="0" anchor="t"/>
          <a:lstStyle/>
          <a:p>
            <a:pPr indent="0" marL="0">
              <a:buNone/>
            </a:pPr>
            <a:r>
              <a:rPr lang="en-US" sz="1900" b="1" dirty="0">
                <a:solidFill>
                  <a:schemeClr val="tx2"/>
                </a:solidFill>
              </a:rPr>
              <a:t>A labelled masking sample</a:t>
            </a:r>
            <a:endParaRPr lang="en-US" sz="1900" dirty="0"/>
          </a:p>
        </p:txBody>
      </p:sp>
      <p:sp>
        <p:nvSpPr>
          <p:cNvPr id="21" name="Text 15"/>
          <p:cNvSpPr txBox="1"/>
          <p:nvPr/>
        </p:nvSpPr>
        <p:spPr>
          <a:xfrm>
            <a:off x="1645920" y="4434840"/>
            <a:ext cx="3992728" cy="777240"/>
          </a:xfrm>
          <a:prstGeom prst="rect">
            <a:avLst/>
          </a:prstGeom>
          <a:noFill/>
          <a:ln/>
        </p:spPr>
        <p:txBody>
          <a:bodyPr wrap="square" lIns="0" tIns="0" rIns="0" bIns="0" rtlCol="0" anchor="t"/>
          <a:lstStyle/>
          <a:p>
            <a:pPr indent="0" marL="0">
              <a:buNone/>
            </a:pPr>
            <a:r>
              <a:rPr lang="en-US" sz="1500" dirty="0">
                <a:solidFill>
                  <a:schemeClr val="tx1"/>
                </a:solidFill>
              </a:rPr>
              <a:t>Real incidents marked up on this machine, never committed. Sets masking's recall bar (R21.14)</a:t>
            </a:r>
            <a:endParaRPr lang="en-US" sz="1500" dirty="0"/>
          </a:p>
        </p:txBody>
      </p:sp>
      <p:sp>
        <p:nvSpPr>
          <p:cNvPr id="22" name="Graded search questions"/>
          <p:cNvSpPr/>
          <p:nvPr/>
        </p:nvSpPr>
        <p:spPr>
          <a:xfrm>
            <a:off x="6278728" y="3520440"/>
            <a:ext cx="5364328" cy="1783080"/>
          </a:xfrm>
          <a:prstGeom prst="roundRect">
            <a:avLst>
              <a:gd name="adj" fmla="val 4103"/>
            </a:avLst>
          </a:prstGeom>
          <a:solidFill>
            <a:schemeClr val="bg2"/>
          </a:solidFill>
          <a:ln/>
        </p:spPr>
      </p:sp>
      <p:sp>
        <p:nvSpPr>
          <p:cNvPr id="23" name="Text 17"/>
          <p:cNvSpPr txBox="1"/>
          <p:nvPr/>
        </p:nvSpPr>
        <p:spPr>
          <a:xfrm>
            <a:off x="6553048" y="3749040"/>
            <a:ext cx="73152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4</a:t>
            </a:r>
            <a:endParaRPr lang="en-US" sz="4800" dirty="0"/>
          </a:p>
        </p:txBody>
      </p:sp>
      <p:sp>
        <p:nvSpPr>
          <p:cNvPr id="24" name="Graded search questions badge"/>
          <p:cNvSpPr/>
          <p:nvPr/>
        </p:nvSpPr>
        <p:spPr>
          <a:xfrm>
            <a:off x="10774375" y="3749040"/>
            <a:ext cx="594360" cy="594360"/>
          </a:xfrm>
          <a:prstGeom prst="ellipse">
            <a:avLst/>
          </a:prstGeom>
          <a:solidFill>
            <a:schemeClr val="accent1"/>
          </a:solidFill>
          <a:ln/>
        </p:spPr>
      </p:sp>
      <p:pic>
        <p:nvPicPr>
          <p:cNvPr id="25" name="Graded search questions icon" descr="preencoded.png">    </p:cNvPr>
          <p:cNvPicPr>
            <a:picLocks noChangeAspect="1"/>
          </p:cNvPicPr>
          <p:nvPr/>
        </p:nvPicPr>
        <p:blipFill>
          <a:blip r:embed="rId4"/>
          <a:stretch>
            <a:fillRect/>
          </a:stretch>
        </p:blipFill>
        <p:spPr>
          <a:xfrm>
            <a:off x="10922965" y="3897630"/>
            <a:ext cx="297180" cy="297180"/>
          </a:xfrm>
          <a:prstGeom prst="rect">
            <a:avLst/>
          </a:prstGeom>
        </p:spPr>
      </p:pic>
      <p:sp>
        <p:nvSpPr>
          <p:cNvPr id="26" name="Text 19"/>
          <p:cNvSpPr txBox="1"/>
          <p:nvPr/>
        </p:nvSpPr>
        <p:spPr>
          <a:xfrm>
            <a:off x="7376008" y="3794760"/>
            <a:ext cx="3261208" cy="457200"/>
          </a:xfrm>
          <a:prstGeom prst="rect">
            <a:avLst/>
          </a:prstGeom>
          <a:noFill/>
          <a:ln/>
        </p:spPr>
        <p:txBody>
          <a:bodyPr wrap="square" lIns="0" tIns="0" rIns="0" bIns="0" rtlCol="0" anchor="t"/>
          <a:lstStyle/>
          <a:p>
            <a:pPr indent="0" marL="0">
              <a:buNone/>
            </a:pPr>
            <a:r>
              <a:rPr lang="en-US" sz="1900" b="1" dirty="0">
                <a:solidFill>
                  <a:schemeClr val="tx2"/>
                </a:solidFill>
              </a:rPr>
              <a:t>Graded search questions</a:t>
            </a:r>
            <a:endParaRPr lang="en-US" sz="1900" dirty="0"/>
          </a:p>
        </p:txBody>
      </p:sp>
      <p:sp>
        <p:nvSpPr>
          <p:cNvPr id="27" name="Text 20"/>
          <p:cNvSpPr txBox="1"/>
          <p:nvPr/>
        </p:nvSpPr>
        <p:spPr>
          <a:xfrm>
            <a:off x="7376008" y="4434840"/>
            <a:ext cx="3992728" cy="777240"/>
          </a:xfrm>
          <a:prstGeom prst="rect">
            <a:avLst/>
          </a:prstGeom>
          <a:noFill/>
          <a:ln/>
        </p:spPr>
        <p:txBody>
          <a:bodyPr wrap="square" lIns="0" tIns="0" rIns="0" bIns="0" rtlCol="0" anchor="t"/>
          <a:lstStyle/>
          <a:p>
            <a:pPr indent="0" marL="0">
              <a:buNone/>
            </a:pPr>
            <a:r>
              <a:rPr lang="en-US" sz="1500" dirty="0">
                <a:solidFill>
                  <a:schemeClr val="tx1"/>
                </a:solidFill>
              </a:rPr>
              <a:t>About thirty real questions, their top ten documents graded by a person. Search's first nDCG@10</a:t>
            </a:r>
            <a:endParaRPr lang="en-US" sz="1500" dirty="0"/>
          </a:p>
        </p:txBody>
      </p:sp>
      <p:sp>
        <p:nvSpPr>
          <p:cNvPr id="28" name="Shape 21"/>
          <p:cNvSpPr/>
          <p:nvPr/>
        </p:nvSpPr>
        <p:spPr>
          <a:xfrm>
            <a:off x="548640" y="5623560"/>
            <a:ext cx="5120640" cy="502920"/>
          </a:xfrm>
          <a:prstGeom prst="roundRect">
            <a:avLst>
              <a:gd name="adj" fmla="val 10909"/>
            </a:avLst>
          </a:prstGeom>
          <a:solidFill>
            <a:schemeClr val="tx2"/>
          </a:solidFill>
          <a:ln/>
        </p:spPr>
      </p:sp>
      <p:sp>
        <p:nvSpPr>
          <p:cNvPr id="29" name="Text 22"/>
          <p:cNvSpPr txBox="1"/>
          <p:nvPr/>
        </p:nvSpPr>
        <p:spPr>
          <a:xfrm>
            <a:off x="548640" y="5623560"/>
            <a:ext cx="5120640" cy="502920"/>
          </a:xfrm>
          <a:prstGeom prst="rect">
            <a:avLst/>
          </a:prstGeom>
          <a:noFill/>
          <a:ln/>
        </p:spPr>
        <p:txBody>
          <a:bodyPr wrap="square" lIns="0" tIns="0" rIns="0" bIns="0" rtlCol="0" anchor="ctr"/>
          <a:lstStyle/>
          <a:p>
            <a:pPr algn="ctr" indent="0" marL="0">
              <a:buNone/>
            </a:pPr>
            <a:r>
              <a:rPr lang="en-US" sz="1500" b="1" dirty="0">
                <a:solidFill>
                  <a:schemeClr val="bg1"/>
                </a:solidFill>
              </a:rPr>
              <a:t>Stages: openai:gpt-5.4-mini, through OpenWebUI</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Numbers only real data can settle</a:t>
            </a:r>
            <a:endParaRPr lang="en-US" sz="3600" dirty="0"/>
          </a:p>
        </p:txBody>
      </p:sp>
      <p:sp>
        <p:nvSpPr>
          <p:cNvPr id="4" name="Masking recall"/>
          <p:cNvSpPr/>
          <p:nvPr/>
        </p:nvSpPr>
        <p:spPr>
          <a:xfrm>
            <a:off x="548640" y="1508760"/>
            <a:ext cx="11094415" cy="713232"/>
          </a:xfrm>
          <a:prstGeom prst="roundRect">
            <a:avLst>
              <a:gd name="adj" fmla="val 10256"/>
            </a:avLst>
          </a:prstGeom>
          <a:solidFill>
            <a:schemeClr val="bg2"/>
          </a:solidFill>
          <a:ln/>
        </p:spPr>
      </p:sp>
      <p:sp>
        <p:nvSpPr>
          <p:cNvPr id="5" name="Shape 2"/>
          <p:cNvSpPr/>
          <p:nvPr/>
        </p:nvSpPr>
        <p:spPr>
          <a:xfrm>
            <a:off x="731520" y="1664208"/>
            <a:ext cx="914400" cy="402336"/>
          </a:xfrm>
          <a:prstGeom prst="roundRect">
            <a:avLst>
              <a:gd name="adj" fmla="val 13636"/>
            </a:avLst>
          </a:prstGeom>
          <a:solidFill>
            <a:schemeClr val="accent2"/>
          </a:solidFill>
          <a:ln/>
        </p:spPr>
      </p:sp>
      <p:sp>
        <p:nvSpPr>
          <p:cNvPr id="6" name="Text 3"/>
          <p:cNvSpPr txBox="1"/>
          <p:nvPr/>
        </p:nvSpPr>
        <p:spPr>
          <a:xfrm>
            <a:off x="731520" y="1664208"/>
            <a:ext cx="914400" cy="402336"/>
          </a:xfrm>
          <a:prstGeom prst="rect">
            <a:avLst/>
          </a:prstGeom>
          <a:noFill/>
          <a:ln/>
        </p:spPr>
        <p:txBody>
          <a:bodyPr wrap="square" lIns="0" tIns="0" rIns="0" bIns="0" rtlCol="0" anchor="ctr"/>
          <a:lstStyle/>
          <a:p>
            <a:pPr algn="ctr" indent="0" marL="0">
              <a:buNone/>
            </a:pPr>
            <a:r>
              <a:rPr lang="en-US" sz="1300" b="1" dirty="0">
                <a:solidFill>
                  <a:schemeClr val="tx2"/>
                </a:solidFill>
              </a:rPr>
              <a:t>OPEN</a:t>
            </a:r>
            <a:endParaRPr lang="en-US" sz="1300" dirty="0"/>
          </a:p>
        </p:txBody>
      </p:sp>
      <p:sp>
        <p:nvSpPr>
          <p:cNvPr id="7" name="Text 4"/>
          <p:cNvSpPr txBox="1"/>
          <p:nvPr/>
        </p:nvSpPr>
        <p:spPr>
          <a:xfrm>
            <a:off x="1874520" y="1508760"/>
            <a:ext cx="2377440" cy="713232"/>
          </a:xfrm>
          <a:prstGeom prst="rect">
            <a:avLst/>
          </a:prstGeom>
          <a:noFill/>
          <a:ln/>
        </p:spPr>
        <p:txBody>
          <a:bodyPr wrap="square" lIns="0" tIns="0" rIns="0" bIns="0" rtlCol="0" anchor="ctr"/>
          <a:lstStyle/>
          <a:p>
            <a:pPr indent="0" marL="0">
              <a:buNone/>
            </a:pPr>
            <a:r>
              <a:rPr lang="en-US" sz="1700" b="1" dirty="0">
                <a:solidFill>
                  <a:schemeClr val="tx2"/>
                </a:solidFill>
              </a:rPr>
              <a:t>Masking recall</a:t>
            </a:r>
            <a:endParaRPr lang="en-US" sz="1700" dirty="0"/>
          </a:p>
        </p:txBody>
      </p:sp>
      <p:sp>
        <p:nvSpPr>
          <p:cNvPr id="8" name="Text 5"/>
          <p:cNvSpPr txBox="1"/>
          <p:nvPr/>
        </p:nvSpPr>
        <p:spPr>
          <a:xfrm>
            <a:off x="4297680" y="1508760"/>
            <a:ext cx="5760720" cy="713232"/>
          </a:xfrm>
          <a:prstGeom prst="rect">
            <a:avLst/>
          </a:prstGeom>
          <a:noFill/>
          <a:ln/>
        </p:spPr>
        <p:txBody>
          <a:bodyPr wrap="square" lIns="0" tIns="0" rIns="0" bIns="0" rtlCol="0" anchor="ctr"/>
          <a:lstStyle/>
          <a:p>
            <a:pPr indent="0" marL="0">
              <a:buNone/>
            </a:pPr>
            <a:r>
              <a:rPr lang="en-US" sz="1500" dirty="0">
                <a:solidFill>
                  <a:schemeClr val="tx1"/>
                </a:solidFill>
              </a:rPr>
              <a:t>What share of client data must masking catch?</a:t>
            </a:r>
            <a:endParaRPr lang="en-US" sz="1500" dirty="0"/>
          </a:p>
        </p:txBody>
      </p:sp>
      <p:sp>
        <p:nvSpPr>
          <p:cNvPr id="9" name="Text 6"/>
          <p:cNvSpPr txBox="1"/>
          <p:nvPr/>
        </p:nvSpPr>
        <p:spPr>
          <a:xfrm>
            <a:off x="9997135" y="1508760"/>
            <a:ext cx="1463040" cy="713232"/>
          </a:xfrm>
          <a:prstGeom prst="rect">
            <a:avLst/>
          </a:prstGeom>
          <a:noFill/>
          <a:ln/>
        </p:spPr>
        <p:txBody>
          <a:bodyPr wrap="square" lIns="0" tIns="0" rIns="0" bIns="0" rtlCol="0" anchor="ctr"/>
          <a:lstStyle/>
          <a:p>
            <a:pPr algn="r" indent="0" marL="0">
              <a:buNone/>
            </a:pPr>
            <a:r>
              <a:rPr lang="en-US" sz="1300" dirty="0">
                <a:solidFill>
                  <a:schemeClr val="accent5"/>
                </a:solidFill>
                <a:latin typeface="Consolas" pitchFamily="34" charset="0"/>
                <a:ea typeface="Consolas" pitchFamily="34" charset="-122"/>
                <a:cs typeface="Consolas" pitchFamily="34" charset="-120"/>
              </a:rPr>
              <a:t>R21.14</a:t>
            </a:r>
            <a:endParaRPr lang="en-US" sz="1300" dirty="0"/>
          </a:p>
        </p:txBody>
      </p:sp>
      <p:sp>
        <p:nvSpPr>
          <p:cNvPr id="10" name="Search's bar"/>
          <p:cNvSpPr/>
          <p:nvPr/>
        </p:nvSpPr>
        <p:spPr>
          <a:xfrm>
            <a:off x="548640" y="2350008"/>
            <a:ext cx="11094415" cy="713232"/>
          </a:xfrm>
          <a:prstGeom prst="roundRect">
            <a:avLst>
              <a:gd name="adj" fmla="val 10256"/>
            </a:avLst>
          </a:prstGeom>
          <a:solidFill>
            <a:schemeClr val="bg2"/>
          </a:solidFill>
          <a:ln/>
        </p:spPr>
      </p:sp>
      <p:sp>
        <p:nvSpPr>
          <p:cNvPr id="11" name="Shape 8"/>
          <p:cNvSpPr/>
          <p:nvPr/>
        </p:nvSpPr>
        <p:spPr>
          <a:xfrm>
            <a:off x="731520" y="2505456"/>
            <a:ext cx="914400" cy="402336"/>
          </a:xfrm>
          <a:prstGeom prst="roundRect">
            <a:avLst>
              <a:gd name="adj" fmla="val 13636"/>
            </a:avLst>
          </a:prstGeom>
          <a:solidFill>
            <a:schemeClr val="accent2"/>
          </a:solidFill>
          <a:ln/>
        </p:spPr>
      </p:sp>
      <p:sp>
        <p:nvSpPr>
          <p:cNvPr id="12" name="Text 9"/>
          <p:cNvSpPr txBox="1"/>
          <p:nvPr/>
        </p:nvSpPr>
        <p:spPr>
          <a:xfrm>
            <a:off x="731520" y="2505456"/>
            <a:ext cx="914400" cy="402336"/>
          </a:xfrm>
          <a:prstGeom prst="rect">
            <a:avLst/>
          </a:prstGeom>
          <a:noFill/>
          <a:ln/>
        </p:spPr>
        <p:txBody>
          <a:bodyPr wrap="square" lIns="0" tIns="0" rIns="0" bIns="0" rtlCol="0" anchor="ctr"/>
          <a:lstStyle/>
          <a:p>
            <a:pPr algn="ctr" indent="0" marL="0">
              <a:buNone/>
            </a:pPr>
            <a:r>
              <a:rPr lang="en-US" sz="1300" b="1" dirty="0">
                <a:solidFill>
                  <a:schemeClr val="tx2"/>
                </a:solidFill>
              </a:rPr>
              <a:t>OPEN</a:t>
            </a:r>
            <a:endParaRPr lang="en-US" sz="1300" dirty="0"/>
          </a:p>
        </p:txBody>
      </p:sp>
      <p:sp>
        <p:nvSpPr>
          <p:cNvPr id="13" name="Text 10"/>
          <p:cNvSpPr txBox="1"/>
          <p:nvPr/>
        </p:nvSpPr>
        <p:spPr>
          <a:xfrm>
            <a:off x="1874520" y="2350008"/>
            <a:ext cx="2377440" cy="713232"/>
          </a:xfrm>
          <a:prstGeom prst="rect">
            <a:avLst/>
          </a:prstGeom>
          <a:noFill/>
          <a:ln/>
        </p:spPr>
        <p:txBody>
          <a:bodyPr wrap="square" lIns="0" tIns="0" rIns="0" bIns="0" rtlCol="0" anchor="ctr"/>
          <a:lstStyle/>
          <a:p>
            <a:pPr indent="0" marL="0">
              <a:buNone/>
            </a:pPr>
            <a:r>
              <a:rPr lang="en-US" sz="1700" b="1" dirty="0">
                <a:solidFill>
                  <a:schemeClr val="tx2"/>
                </a:solidFill>
              </a:rPr>
              <a:t>Search's bar</a:t>
            </a:r>
            <a:endParaRPr lang="en-US" sz="1700" dirty="0"/>
          </a:p>
        </p:txBody>
      </p:sp>
      <p:sp>
        <p:nvSpPr>
          <p:cNvPr id="14" name="Text 11"/>
          <p:cNvSpPr txBox="1"/>
          <p:nvPr/>
        </p:nvSpPr>
        <p:spPr>
          <a:xfrm>
            <a:off x="4297680" y="2350008"/>
            <a:ext cx="5760720" cy="713232"/>
          </a:xfrm>
          <a:prstGeom prst="rect">
            <a:avLst/>
          </a:prstGeom>
          <a:noFill/>
          <a:ln/>
        </p:spPr>
        <p:txBody>
          <a:bodyPr wrap="square" lIns="0" tIns="0" rIns="0" bIns="0" rtlCol="0" anchor="ctr"/>
          <a:lstStyle/>
          <a:p>
            <a:pPr indent="0" marL="0">
              <a:buNone/>
            </a:pPr>
            <a:r>
              <a:rPr lang="en-US" sz="1500" dirty="0">
                <a:solidFill>
                  <a:schemeClr val="tx1"/>
                </a:solidFill>
              </a:rPr>
              <a:t>What mean nDCG@10 must search clear?</a:t>
            </a:r>
            <a:endParaRPr lang="en-US" sz="1500" dirty="0"/>
          </a:p>
        </p:txBody>
      </p:sp>
      <p:sp>
        <p:nvSpPr>
          <p:cNvPr id="15" name="Text 12"/>
          <p:cNvSpPr txBox="1"/>
          <p:nvPr/>
        </p:nvSpPr>
        <p:spPr>
          <a:xfrm>
            <a:off x="9997135" y="2350008"/>
            <a:ext cx="1463040" cy="713232"/>
          </a:xfrm>
          <a:prstGeom prst="rect">
            <a:avLst/>
          </a:prstGeom>
          <a:noFill/>
          <a:ln/>
        </p:spPr>
        <p:txBody>
          <a:bodyPr wrap="square" lIns="0" tIns="0" rIns="0" bIns="0" rtlCol="0" anchor="ctr"/>
          <a:lstStyle/>
          <a:p>
            <a:pPr algn="r" indent="0" marL="0">
              <a:buNone/>
            </a:pPr>
            <a:r>
              <a:rPr lang="en-US" sz="1300" dirty="0">
                <a:solidFill>
                  <a:schemeClr val="accent5"/>
                </a:solidFill>
                <a:latin typeface="Consolas" pitchFamily="34" charset="0"/>
                <a:ea typeface="Consolas" pitchFamily="34" charset="-122"/>
                <a:cs typeface="Consolas" pitchFamily="34" charset="-120"/>
              </a:rPr>
              <a:t>spec 022, Q1</a:t>
            </a:r>
            <a:endParaRPr lang="en-US" sz="1300" dirty="0"/>
          </a:p>
        </p:txBody>
      </p:sp>
      <p:sp>
        <p:nvSpPr>
          <p:cNvPr id="16" name="Candidate depth"/>
          <p:cNvSpPr/>
          <p:nvPr/>
        </p:nvSpPr>
        <p:spPr>
          <a:xfrm>
            <a:off x="548640" y="3191256"/>
            <a:ext cx="11094415" cy="713232"/>
          </a:xfrm>
          <a:prstGeom prst="roundRect">
            <a:avLst>
              <a:gd name="adj" fmla="val 10256"/>
            </a:avLst>
          </a:prstGeom>
          <a:solidFill>
            <a:schemeClr val="bg2"/>
          </a:solidFill>
          <a:ln/>
        </p:spPr>
      </p:sp>
      <p:sp>
        <p:nvSpPr>
          <p:cNvPr id="17" name="Shape 14"/>
          <p:cNvSpPr/>
          <p:nvPr/>
        </p:nvSpPr>
        <p:spPr>
          <a:xfrm>
            <a:off x="731520" y="3346704"/>
            <a:ext cx="914400" cy="402336"/>
          </a:xfrm>
          <a:prstGeom prst="roundRect">
            <a:avLst>
              <a:gd name="adj" fmla="val 13636"/>
            </a:avLst>
          </a:prstGeom>
          <a:solidFill>
            <a:schemeClr val="accent2"/>
          </a:solidFill>
          <a:ln/>
        </p:spPr>
      </p:sp>
      <p:sp>
        <p:nvSpPr>
          <p:cNvPr id="18" name="Text 15"/>
          <p:cNvSpPr txBox="1"/>
          <p:nvPr/>
        </p:nvSpPr>
        <p:spPr>
          <a:xfrm>
            <a:off x="731520" y="3346704"/>
            <a:ext cx="914400" cy="402336"/>
          </a:xfrm>
          <a:prstGeom prst="rect">
            <a:avLst/>
          </a:prstGeom>
          <a:noFill/>
          <a:ln/>
        </p:spPr>
        <p:txBody>
          <a:bodyPr wrap="square" lIns="0" tIns="0" rIns="0" bIns="0" rtlCol="0" anchor="ctr"/>
          <a:lstStyle/>
          <a:p>
            <a:pPr algn="ctr" indent="0" marL="0">
              <a:buNone/>
            </a:pPr>
            <a:r>
              <a:rPr lang="en-US" sz="1300" b="1" dirty="0">
                <a:solidFill>
                  <a:schemeClr val="tx2"/>
                </a:solidFill>
              </a:rPr>
              <a:t>OPEN</a:t>
            </a:r>
            <a:endParaRPr lang="en-US" sz="1300" dirty="0"/>
          </a:p>
        </p:txBody>
      </p:sp>
      <p:sp>
        <p:nvSpPr>
          <p:cNvPr id="19" name="Text 16"/>
          <p:cNvSpPr txBox="1"/>
          <p:nvPr/>
        </p:nvSpPr>
        <p:spPr>
          <a:xfrm>
            <a:off x="1874520" y="3191256"/>
            <a:ext cx="2377440" cy="713232"/>
          </a:xfrm>
          <a:prstGeom prst="rect">
            <a:avLst/>
          </a:prstGeom>
          <a:noFill/>
          <a:ln/>
        </p:spPr>
        <p:txBody>
          <a:bodyPr wrap="square" lIns="0" tIns="0" rIns="0" bIns="0" rtlCol="0" anchor="ctr"/>
          <a:lstStyle/>
          <a:p>
            <a:pPr indent="0" marL="0">
              <a:buNone/>
            </a:pPr>
            <a:r>
              <a:rPr lang="en-US" sz="1700" b="1" dirty="0">
                <a:solidFill>
                  <a:schemeClr val="tx2"/>
                </a:solidFill>
              </a:rPr>
              <a:t>Candidate depth</a:t>
            </a:r>
            <a:endParaRPr lang="en-US" sz="1700" dirty="0"/>
          </a:p>
        </p:txBody>
      </p:sp>
      <p:sp>
        <p:nvSpPr>
          <p:cNvPr id="20" name="Text 17"/>
          <p:cNvSpPr txBox="1"/>
          <p:nvPr/>
        </p:nvSpPr>
        <p:spPr>
          <a:xfrm>
            <a:off x="4297680" y="3191256"/>
            <a:ext cx="5760720" cy="713232"/>
          </a:xfrm>
          <a:prstGeom prst="rect">
            <a:avLst/>
          </a:prstGeom>
          <a:noFill/>
          <a:ln/>
        </p:spPr>
        <p:txBody>
          <a:bodyPr wrap="square" lIns="0" tIns="0" rIns="0" bIns="0" rtlCol="0" anchor="ctr"/>
          <a:lstStyle/>
          <a:p>
            <a:pPr indent="0" marL="0">
              <a:buNone/>
            </a:pPr>
            <a:r>
              <a:rPr lang="en-US" sz="1500" dirty="0">
                <a:solidFill>
                  <a:schemeClr val="tx1"/>
                </a:solidFill>
              </a:rPr>
              <a:t>Are 100 candidates per list enough for the top 10?</a:t>
            </a:r>
            <a:endParaRPr lang="en-US" sz="1500" dirty="0"/>
          </a:p>
        </p:txBody>
      </p:sp>
      <p:sp>
        <p:nvSpPr>
          <p:cNvPr id="21" name="Text 18"/>
          <p:cNvSpPr txBox="1"/>
          <p:nvPr/>
        </p:nvSpPr>
        <p:spPr>
          <a:xfrm>
            <a:off x="9997135" y="3191256"/>
            <a:ext cx="1463040" cy="713232"/>
          </a:xfrm>
          <a:prstGeom prst="rect">
            <a:avLst/>
          </a:prstGeom>
          <a:noFill/>
          <a:ln/>
        </p:spPr>
        <p:txBody>
          <a:bodyPr wrap="square" lIns="0" tIns="0" rIns="0" bIns="0" rtlCol="0" anchor="ctr"/>
          <a:lstStyle/>
          <a:p>
            <a:pPr algn="r" indent="0" marL="0">
              <a:buNone/>
            </a:pPr>
            <a:r>
              <a:rPr lang="en-US" sz="1300" dirty="0">
                <a:solidFill>
                  <a:schemeClr val="accent5"/>
                </a:solidFill>
                <a:latin typeface="Consolas" pitchFamily="34" charset="0"/>
                <a:ea typeface="Consolas" pitchFamily="34" charset="-122"/>
                <a:cs typeface="Consolas" pitchFamily="34" charset="-120"/>
              </a:rPr>
              <a:t>spec 019, Q1</a:t>
            </a:r>
            <a:endParaRPr lang="en-US" sz="1300" dirty="0"/>
          </a:p>
        </p:txBody>
      </p:sp>
      <p:sp>
        <p:nvSpPr>
          <p:cNvPr id="22" name="Any word, or all"/>
          <p:cNvSpPr/>
          <p:nvPr/>
        </p:nvSpPr>
        <p:spPr>
          <a:xfrm>
            <a:off x="548640" y="4032504"/>
            <a:ext cx="11094415" cy="713232"/>
          </a:xfrm>
          <a:prstGeom prst="roundRect">
            <a:avLst>
              <a:gd name="adj" fmla="val 10256"/>
            </a:avLst>
          </a:prstGeom>
          <a:solidFill>
            <a:schemeClr val="bg2"/>
          </a:solidFill>
          <a:ln/>
        </p:spPr>
      </p:sp>
      <p:sp>
        <p:nvSpPr>
          <p:cNvPr id="23" name="Shape 20"/>
          <p:cNvSpPr/>
          <p:nvPr/>
        </p:nvSpPr>
        <p:spPr>
          <a:xfrm>
            <a:off x="731520" y="4187952"/>
            <a:ext cx="914400" cy="402336"/>
          </a:xfrm>
          <a:prstGeom prst="roundRect">
            <a:avLst>
              <a:gd name="adj" fmla="val 13636"/>
            </a:avLst>
          </a:prstGeom>
          <a:solidFill>
            <a:schemeClr val="accent2"/>
          </a:solidFill>
          <a:ln/>
        </p:spPr>
      </p:sp>
      <p:sp>
        <p:nvSpPr>
          <p:cNvPr id="24" name="Text 21"/>
          <p:cNvSpPr txBox="1"/>
          <p:nvPr/>
        </p:nvSpPr>
        <p:spPr>
          <a:xfrm>
            <a:off x="731520" y="4187952"/>
            <a:ext cx="914400" cy="402336"/>
          </a:xfrm>
          <a:prstGeom prst="rect">
            <a:avLst/>
          </a:prstGeom>
          <a:noFill/>
          <a:ln/>
        </p:spPr>
        <p:txBody>
          <a:bodyPr wrap="square" lIns="0" tIns="0" rIns="0" bIns="0" rtlCol="0" anchor="ctr"/>
          <a:lstStyle/>
          <a:p>
            <a:pPr algn="ctr" indent="0" marL="0">
              <a:buNone/>
            </a:pPr>
            <a:r>
              <a:rPr lang="en-US" sz="1300" b="1" dirty="0">
                <a:solidFill>
                  <a:schemeClr val="tx2"/>
                </a:solidFill>
              </a:rPr>
              <a:t>OPEN</a:t>
            </a:r>
            <a:endParaRPr lang="en-US" sz="1300" dirty="0"/>
          </a:p>
        </p:txBody>
      </p:sp>
      <p:sp>
        <p:nvSpPr>
          <p:cNvPr id="25" name="Text 22"/>
          <p:cNvSpPr txBox="1"/>
          <p:nvPr/>
        </p:nvSpPr>
        <p:spPr>
          <a:xfrm>
            <a:off x="1874520" y="4032504"/>
            <a:ext cx="2377440" cy="713232"/>
          </a:xfrm>
          <a:prstGeom prst="rect">
            <a:avLst/>
          </a:prstGeom>
          <a:noFill/>
          <a:ln/>
        </p:spPr>
        <p:txBody>
          <a:bodyPr wrap="square" lIns="0" tIns="0" rIns="0" bIns="0" rtlCol="0" anchor="ctr"/>
          <a:lstStyle/>
          <a:p>
            <a:pPr indent="0" marL="0">
              <a:buNone/>
            </a:pPr>
            <a:r>
              <a:rPr lang="en-US" sz="1700" b="1" dirty="0">
                <a:solidFill>
                  <a:schemeClr val="tx2"/>
                </a:solidFill>
              </a:rPr>
              <a:t>Any word, or all</a:t>
            </a:r>
            <a:endParaRPr lang="en-US" sz="1700" dirty="0"/>
          </a:p>
        </p:txBody>
      </p:sp>
      <p:sp>
        <p:nvSpPr>
          <p:cNvPr id="26" name="Text 23"/>
          <p:cNvSpPr txBox="1"/>
          <p:nvPr/>
        </p:nvSpPr>
        <p:spPr>
          <a:xfrm>
            <a:off x="4297680" y="4032504"/>
            <a:ext cx="5760720" cy="713232"/>
          </a:xfrm>
          <a:prstGeom prst="rect">
            <a:avLst/>
          </a:prstGeom>
          <a:noFill/>
          <a:ln/>
        </p:spPr>
        <p:txBody>
          <a:bodyPr wrap="square" lIns="0" tIns="0" rIns="0" bIns="0" rtlCol="0" anchor="ctr"/>
          <a:lstStyle/>
          <a:p>
            <a:pPr indent="0" marL="0">
              <a:buNone/>
            </a:pPr>
            <a:r>
              <a:rPr lang="en-US" sz="1500" dirty="0">
                <a:solidFill>
                  <a:schemeClr val="tx1"/>
                </a:solidFill>
              </a:rPr>
              <a:t>Should the words list match any word of a query?</a:t>
            </a:r>
            <a:endParaRPr lang="en-US" sz="1500" dirty="0"/>
          </a:p>
        </p:txBody>
      </p:sp>
      <p:sp>
        <p:nvSpPr>
          <p:cNvPr id="27" name="Text 24"/>
          <p:cNvSpPr txBox="1"/>
          <p:nvPr/>
        </p:nvSpPr>
        <p:spPr>
          <a:xfrm>
            <a:off x="9997135" y="4032504"/>
            <a:ext cx="1463040" cy="713232"/>
          </a:xfrm>
          <a:prstGeom prst="rect">
            <a:avLst/>
          </a:prstGeom>
          <a:noFill/>
          <a:ln/>
        </p:spPr>
        <p:txBody>
          <a:bodyPr wrap="square" lIns="0" tIns="0" rIns="0" bIns="0" rtlCol="0" anchor="ctr"/>
          <a:lstStyle/>
          <a:p>
            <a:pPr algn="r" indent="0" marL="0">
              <a:buNone/>
            </a:pPr>
            <a:r>
              <a:rPr lang="en-US" sz="1300" dirty="0">
                <a:solidFill>
                  <a:schemeClr val="accent5"/>
                </a:solidFill>
                <a:latin typeface="Consolas" pitchFamily="34" charset="0"/>
                <a:ea typeface="Consolas" pitchFamily="34" charset="-122"/>
                <a:cs typeface="Consolas" pitchFamily="34" charset="-120"/>
              </a:rPr>
              <a:t>spec 019, Q2</a:t>
            </a:r>
            <a:endParaRPr lang="en-US" sz="1300" dirty="0"/>
          </a:p>
        </p:txBody>
      </p:sp>
      <p:sp>
        <p:nvSpPr>
          <p:cNvPr id="28" name="A deny-list"/>
          <p:cNvSpPr/>
          <p:nvPr/>
        </p:nvSpPr>
        <p:spPr>
          <a:xfrm>
            <a:off x="548640" y="4873752"/>
            <a:ext cx="11094415" cy="713232"/>
          </a:xfrm>
          <a:prstGeom prst="roundRect">
            <a:avLst>
              <a:gd name="adj" fmla="val 10256"/>
            </a:avLst>
          </a:prstGeom>
          <a:solidFill>
            <a:schemeClr val="bg2"/>
          </a:solidFill>
          <a:ln/>
        </p:spPr>
      </p:sp>
      <p:sp>
        <p:nvSpPr>
          <p:cNvPr id="29" name="Shape 26"/>
          <p:cNvSpPr/>
          <p:nvPr/>
        </p:nvSpPr>
        <p:spPr>
          <a:xfrm>
            <a:off x="731520" y="5029200"/>
            <a:ext cx="914400" cy="402336"/>
          </a:xfrm>
          <a:prstGeom prst="roundRect">
            <a:avLst>
              <a:gd name="adj" fmla="val 13636"/>
            </a:avLst>
          </a:prstGeom>
          <a:solidFill>
            <a:schemeClr val="accent2"/>
          </a:solidFill>
          <a:ln/>
        </p:spPr>
      </p:sp>
      <p:sp>
        <p:nvSpPr>
          <p:cNvPr id="30" name="Text 27"/>
          <p:cNvSpPr txBox="1"/>
          <p:nvPr/>
        </p:nvSpPr>
        <p:spPr>
          <a:xfrm>
            <a:off x="731520" y="5029200"/>
            <a:ext cx="914400" cy="402336"/>
          </a:xfrm>
          <a:prstGeom prst="rect">
            <a:avLst/>
          </a:prstGeom>
          <a:noFill/>
          <a:ln/>
        </p:spPr>
        <p:txBody>
          <a:bodyPr wrap="square" lIns="0" tIns="0" rIns="0" bIns="0" rtlCol="0" anchor="ctr"/>
          <a:lstStyle/>
          <a:p>
            <a:pPr algn="ctr" indent="0" marL="0">
              <a:buNone/>
            </a:pPr>
            <a:r>
              <a:rPr lang="en-US" sz="1300" b="1" dirty="0">
                <a:solidFill>
                  <a:schemeClr val="tx2"/>
                </a:solidFill>
              </a:rPr>
              <a:t>OPEN</a:t>
            </a:r>
            <a:endParaRPr lang="en-US" sz="1300" dirty="0"/>
          </a:p>
        </p:txBody>
      </p:sp>
      <p:sp>
        <p:nvSpPr>
          <p:cNvPr id="31" name="Text 28"/>
          <p:cNvSpPr txBox="1"/>
          <p:nvPr/>
        </p:nvSpPr>
        <p:spPr>
          <a:xfrm>
            <a:off x="1874520" y="4873752"/>
            <a:ext cx="2377440" cy="713232"/>
          </a:xfrm>
          <a:prstGeom prst="rect">
            <a:avLst/>
          </a:prstGeom>
          <a:noFill/>
          <a:ln/>
        </p:spPr>
        <p:txBody>
          <a:bodyPr wrap="square" lIns="0" tIns="0" rIns="0" bIns="0" rtlCol="0" anchor="ctr"/>
          <a:lstStyle/>
          <a:p>
            <a:pPr indent="0" marL="0">
              <a:buNone/>
            </a:pPr>
            <a:r>
              <a:rPr lang="en-US" sz="1700" b="1" dirty="0">
                <a:solidFill>
                  <a:schemeClr val="tx2"/>
                </a:solidFill>
              </a:rPr>
              <a:t>A deny-list</a:t>
            </a:r>
            <a:endParaRPr lang="en-US" sz="1700" dirty="0"/>
          </a:p>
        </p:txBody>
      </p:sp>
      <p:sp>
        <p:nvSpPr>
          <p:cNvPr id="32" name="Text 29"/>
          <p:cNvSpPr txBox="1"/>
          <p:nvPr/>
        </p:nvSpPr>
        <p:spPr>
          <a:xfrm>
            <a:off x="4297680" y="4873752"/>
            <a:ext cx="5760720" cy="713232"/>
          </a:xfrm>
          <a:prstGeom prst="rect">
            <a:avLst/>
          </a:prstGeom>
          <a:noFill/>
          <a:ln/>
        </p:spPr>
        <p:txBody>
          <a:bodyPr wrap="square" lIns="0" tIns="0" rIns="0" bIns="0" rtlCol="0" anchor="ctr"/>
          <a:lstStyle/>
          <a:p>
            <a:pPr indent="0" marL="0">
              <a:buNone/>
            </a:pPr>
            <a:r>
              <a:rPr lang="en-US" sz="1500" dirty="0">
                <a:solidFill>
                  <a:schemeClr val="tx1"/>
                </a:solidFill>
              </a:rPr>
              <a:t>Can client names be exported, to lift recall on names models miss?</a:t>
            </a:r>
            <a:endParaRPr lang="en-US" sz="1500" dirty="0"/>
          </a:p>
        </p:txBody>
      </p:sp>
      <p:sp>
        <p:nvSpPr>
          <p:cNvPr id="33" name="Text 30"/>
          <p:cNvSpPr txBox="1"/>
          <p:nvPr/>
        </p:nvSpPr>
        <p:spPr>
          <a:xfrm>
            <a:off x="9997135" y="4873752"/>
            <a:ext cx="1463040" cy="713232"/>
          </a:xfrm>
          <a:prstGeom prst="rect">
            <a:avLst/>
          </a:prstGeom>
          <a:noFill/>
          <a:ln/>
        </p:spPr>
        <p:txBody>
          <a:bodyPr wrap="square" lIns="0" tIns="0" rIns="0" bIns="0" rtlCol="0" anchor="ctr"/>
          <a:lstStyle/>
          <a:p>
            <a:pPr algn="r" indent="0" marL="0">
              <a:buNone/>
            </a:pPr>
            <a:r>
              <a:rPr lang="en-US" sz="1300" dirty="0">
                <a:solidFill>
                  <a:schemeClr val="accent5"/>
                </a:solidFill>
                <a:latin typeface="Consolas" pitchFamily="34" charset="0"/>
                <a:ea typeface="Consolas" pitchFamily="34" charset="-122"/>
                <a:cs typeface="Consolas" pitchFamily="34" charset="-120"/>
              </a:rPr>
              <a:t>spec 021, Q3</a:t>
            </a:r>
            <a:endParaRPr lang="en-US" sz="1300" dirty="0"/>
          </a:p>
        </p:txBody>
      </p:sp>
      <p:sp>
        <p:nvSpPr>
          <p:cNvPr id="34" name="Text 31"/>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700" i="1" dirty="0">
                <a:solidFill>
                  <a:schemeClr val="accent1"/>
                </a:solidFill>
              </a:rPr>
              <a:t>No threshold is invented: each waits on a measurement, and is the owner's to agree.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Written down for later</a:t>
            </a:r>
            <a:endParaRPr lang="en-US" sz="3600" dirty="0"/>
          </a:p>
        </p:txBody>
      </p:sp>
      <p:sp>
        <p:nvSpPr>
          <p:cNvPr id="4" name="A Eureka connector"/>
          <p:cNvSpPr/>
          <p:nvPr/>
        </p:nvSpPr>
        <p:spPr>
          <a:xfrm>
            <a:off x="548640" y="1508760"/>
            <a:ext cx="3515258" cy="1920240"/>
          </a:xfrm>
          <a:prstGeom prst="roundRect">
            <a:avLst>
              <a:gd name="adj" fmla="val 3810"/>
            </a:avLst>
          </a:prstGeom>
          <a:solidFill>
            <a:schemeClr val="bg2"/>
          </a:solidFill>
          <a:ln/>
        </p:spPr>
      </p:sp>
      <p:sp>
        <p:nvSpPr>
          <p:cNvPr id="5" name="A Eureka connector badge"/>
          <p:cNvSpPr/>
          <p:nvPr/>
        </p:nvSpPr>
        <p:spPr>
          <a:xfrm>
            <a:off x="777240" y="1737360"/>
            <a:ext cx="594360" cy="594360"/>
          </a:xfrm>
          <a:prstGeom prst="ellipse">
            <a:avLst/>
          </a:prstGeom>
          <a:solidFill>
            <a:schemeClr val="accent1"/>
          </a:solidFill>
          <a:ln/>
        </p:spPr>
      </p:sp>
      <p:pic>
        <p:nvPicPr>
          <p:cNvPr id="6" name="A Eureka connector icon" descr="preencoded.png">    </p:cNvPr>
          <p:cNvPicPr>
            <a:picLocks noChangeAspect="1"/>
          </p:cNvPicPr>
          <p:nvPr/>
        </p:nvPicPr>
        <p:blipFill>
          <a:blip r:embed="rId1"/>
          <a:stretch>
            <a:fillRect/>
          </a:stretch>
        </p:blipFill>
        <p:spPr>
          <a:xfrm>
            <a:off x="925830" y="1885950"/>
            <a:ext cx="297180" cy="297180"/>
          </a:xfrm>
          <a:prstGeom prst="rect">
            <a:avLst/>
          </a:prstGeom>
        </p:spPr>
      </p:pic>
      <p:sp>
        <p:nvSpPr>
          <p:cNvPr id="7" name="Text 3"/>
          <p:cNvSpPr txBox="1"/>
          <p:nvPr/>
        </p:nvSpPr>
        <p:spPr>
          <a:xfrm>
            <a:off x="1508760" y="170992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A Eureka connector</a:t>
            </a:r>
            <a:endParaRPr lang="en-US" sz="1700" dirty="0"/>
          </a:p>
        </p:txBody>
      </p:sp>
      <p:sp>
        <p:nvSpPr>
          <p:cNvPr id="8" name="Text 4"/>
          <p:cNvSpPr txBox="1"/>
          <p:nvPr/>
        </p:nvSpPr>
        <p:spPr>
          <a:xfrm>
            <a:off x="777240" y="2468880"/>
            <a:ext cx="3058058" cy="868680"/>
          </a:xfrm>
          <a:prstGeom prst="rect">
            <a:avLst/>
          </a:prstGeom>
          <a:noFill/>
          <a:ln/>
        </p:spPr>
        <p:txBody>
          <a:bodyPr wrap="square" lIns="0" tIns="0" rIns="0" bIns="0" rtlCol="0" anchor="t"/>
          <a:lstStyle/>
          <a:p>
            <a:pPr indent="0" marL="0">
              <a:buNone/>
            </a:pPr>
            <a:r>
              <a:rPr lang="en-US" sz="1400" dirty="0">
                <a:solidFill>
                  <a:schemeClr val="tx1"/>
                </a:solidFill>
              </a:rPr>
              <a:t>If a folder export of its post-mortems is not enough</a:t>
            </a:r>
            <a:endParaRPr lang="en-US" sz="1400" dirty="0"/>
          </a:p>
        </p:txBody>
      </p:sp>
      <p:sp>
        <p:nvSpPr>
          <p:cNvPr id="9" name="Per-item permissions"/>
          <p:cNvSpPr/>
          <p:nvPr/>
        </p:nvSpPr>
        <p:spPr>
          <a:xfrm>
            <a:off x="4338218" y="1508760"/>
            <a:ext cx="3515258" cy="1920240"/>
          </a:xfrm>
          <a:prstGeom prst="roundRect">
            <a:avLst>
              <a:gd name="adj" fmla="val 3810"/>
            </a:avLst>
          </a:prstGeom>
          <a:solidFill>
            <a:schemeClr val="bg2"/>
          </a:solidFill>
          <a:ln/>
        </p:spPr>
      </p:sp>
      <p:sp>
        <p:nvSpPr>
          <p:cNvPr id="10" name="Per-item permissions badge"/>
          <p:cNvSpPr/>
          <p:nvPr/>
        </p:nvSpPr>
        <p:spPr>
          <a:xfrm>
            <a:off x="4566818" y="1737360"/>
            <a:ext cx="594360" cy="594360"/>
          </a:xfrm>
          <a:prstGeom prst="ellipse">
            <a:avLst/>
          </a:prstGeom>
          <a:solidFill>
            <a:schemeClr val="accent1"/>
          </a:solidFill>
          <a:ln/>
        </p:spPr>
      </p:sp>
      <p:pic>
        <p:nvPicPr>
          <p:cNvPr id="11" name="Per-item permissions icon" descr="preencoded.png">    </p:cNvPr>
          <p:cNvPicPr>
            <a:picLocks noChangeAspect="1"/>
          </p:cNvPicPr>
          <p:nvPr/>
        </p:nvPicPr>
        <p:blipFill>
          <a:blip r:embed="rId2"/>
          <a:stretch>
            <a:fillRect/>
          </a:stretch>
        </p:blipFill>
        <p:spPr>
          <a:xfrm>
            <a:off x="4715408" y="1885950"/>
            <a:ext cx="297180" cy="297180"/>
          </a:xfrm>
          <a:prstGeom prst="rect">
            <a:avLst/>
          </a:prstGeom>
        </p:spPr>
      </p:pic>
      <p:sp>
        <p:nvSpPr>
          <p:cNvPr id="12" name="Text 7"/>
          <p:cNvSpPr txBox="1"/>
          <p:nvPr/>
        </p:nvSpPr>
        <p:spPr>
          <a:xfrm>
            <a:off x="5298338" y="170992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Per-item permissions</a:t>
            </a:r>
            <a:endParaRPr lang="en-US" sz="1700" dirty="0"/>
          </a:p>
        </p:txBody>
      </p:sp>
      <p:sp>
        <p:nvSpPr>
          <p:cNvPr id="13" name="Text 8"/>
          <p:cNvSpPr txBox="1"/>
          <p:nvPr/>
        </p:nvSpPr>
        <p:spPr>
          <a:xfrm>
            <a:off x="4566818" y="2468880"/>
            <a:ext cx="3058058" cy="868680"/>
          </a:xfrm>
          <a:prstGeom prst="rect">
            <a:avLst/>
          </a:prstGeom>
          <a:noFill/>
          <a:ln/>
        </p:spPr>
        <p:txBody>
          <a:bodyPr wrap="square" lIns="0" tIns="0" rIns="0" bIns="0" rtlCol="0" anchor="t"/>
          <a:lstStyle/>
          <a:p>
            <a:pPr indent="0" marL="0">
              <a:buNone/>
            </a:pPr>
            <a:r>
              <a:rPr lang="en-US" sz="1400" dirty="0">
                <a:solidFill>
                  <a:schemeClr val="tx1"/>
                </a:solidFill>
              </a:rPr>
              <a:t>Jira security levels and Confluence restrictions in the index, not one reader list per source</a:t>
            </a:r>
            <a:endParaRPr lang="en-US" sz="1400" dirty="0"/>
          </a:p>
        </p:txBody>
      </p:sp>
      <p:sp>
        <p:nvSpPr>
          <p:cNvPr id="14" name="Better ranking"/>
          <p:cNvSpPr/>
          <p:nvPr/>
        </p:nvSpPr>
        <p:spPr>
          <a:xfrm>
            <a:off x="8127797" y="1508760"/>
            <a:ext cx="3515258" cy="1920240"/>
          </a:xfrm>
          <a:prstGeom prst="roundRect">
            <a:avLst>
              <a:gd name="adj" fmla="val 3810"/>
            </a:avLst>
          </a:prstGeom>
          <a:solidFill>
            <a:schemeClr val="bg2"/>
          </a:solidFill>
          <a:ln/>
        </p:spPr>
      </p:sp>
      <p:sp>
        <p:nvSpPr>
          <p:cNvPr id="15" name="Better ranking badge"/>
          <p:cNvSpPr/>
          <p:nvPr/>
        </p:nvSpPr>
        <p:spPr>
          <a:xfrm>
            <a:off x="8356397" y="1737360"/>
            <a:ext cx="594360" cy="594360"/>
          </a:xfrm>
          <a:prstGeom prst="ellipse">
            <a:avLst/>
          </a:prstGeom>
          <a:solidFill>
            <a:schemeClr val="accent1"/>
          </a:solidFill>
          <a:ln/>
        </p:spPr>
      </p:sp>
      <p:pic>
        <p:nvPicPr>
          <p:cNvPr id="16" name="Better ranking icon" descr="preencoded.png">    </p:cNvPr>
          <p:cNvPicPr>
            <a:picLocks noChangeAspect="1"/>
          </p:cNvPicPr>
          <p:nvPr/>
        </p:nvPicPr>
        <p:blipFill>
          <a:blip r:embed="rId3"/>
          <a:stretch>
            <a:fillRect/>
          </a:stretch>
        </p:blipFill>
        <p:spPr>
          <a:xfrm>
            <a:off x="8504987" y="1885950"/>
            <a:ext cx="297180" cy="297180"/>
          </a:xfrm>
          <a:prstGeom prst="rect">
            <a:avLst/>
          </a:prstGeom>
        </p:spPr>
      </p:pic>
      <p:sp>
        <p:nvSpPr>
          <p:cNvPr id="17" name="Text 11"/>
          <p:cNvSpPr txBox="1"/>
          <p:nvPr/>
        </p:nvSpPr>
        <p:spPr>
          <a:xfrm>
            <a:off x="9087917" y="170992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Better ranking</a:t>
            </a:r>
            <a:endParaRPr lang="en-US" sz="1700" dirty="0"/>
          </a:p>
        </p:txBody>
      </p:sp>
      <p:sp>
        <p:nvSpPr>
          <p:cNvPr id="18" name="Text 12"/>
          <p:cNvSpPr txBox="1"/>
          <p:nvPr/>
        </p:nvSpPr>
        <p:spPr>
          <a:xfrm>
            <a:off x="8356397" y="2468880"/>
            <a:ext cx="3058058" cy="868680"/>
          </a:xfrm>
          <a:prstGeom prst="rect">
            <a:avLst/>
          </a:prstGeom>
          <a:noFill/>
          <a:ln/>
        </p:spPr>
        <p:txBody>
          <a:bodyPr wrap="square" lIns="0" tIns="0" rIns="0" bIns="0" rtlCol="0" anchor="t"/>
          <a:lstStyle/>
          <a:p>
            <a:pPr indent="0" marL="0">
              <a:buNone/>
            </a:pPr>
            <a:r>
              <a:rPr lang="en-US" sz="1400" dirty="0">
                <a:solidFill>
                  <a:schemeClr val="tx1"/>
                </a:solidFill>
              </a:rPr>
              <a:t>A reranker over the fused list, and a local relevance judge, if the measurements ask for them</a:t>
            </a:r>
            <a:endParaRPr lang="en-US" sz="1400" dirty="0"/>
          </a:p>
        </p:txBody>
      </p:sp>
      <p:sp>
        <p:nvSpPr>
          <p:cNvPr id="19" name="More masking"/>
          <p:cNvSpPr/>
          <p:nvPr/>
        </p:nvSpPr>
        <p:spPr>
          <a:xfrm>
            <a:off x="548640" y="3657600"/>
            <a:ext cx="3515258" cy="1920240"/>
          </a:xfrm>
          <a:prstGeom prst="roundRect">
            <a:avLst>
              <a:gd name="adj" fmla="val 3810"/>
            </a:avLst>
          </a:prstGeom>
          <a:solidFill>
            <a:schemeClr val="bg2"/>
          </a:solidFill>
          <a:ln/>
        </p:spPr>
      </p:sp>
      <p:sp>
        <p:nvSpPr>
          <p:cNvPr id="20" name="More masking badge"/>
          <p:cNvSpPr/>
          <p:nvPr/>
        </p:nvSpPr>
        <p:spPr>
          <a:xfrm>
            <a:off x="777240" y="3886200"/>
            <a:ext cx="594360" cy="594360"/>
          </a:xfrm>
          <a:prstGeom prst="ellipse">
            <a:avLst/>
          </a:prstGeom>
          <a:solidFill>
            <a:schemeClr val="accent1"/>
          </a:solidFill>
          <a:ln/>
        </p:spPr>
      </p:sp>
      <p:pic>
        <p:nvPicPr>
          <p:cNvPr id="21" name="More masking icon" descr="preencoded.png">    </p:cNvPr>
          <p:cNvPicPr>
            <a:picLocks noChangeAspect="1"/>
          </p:cNvPicPr>
          <p:nvPr/>
        </p:nvPicPr>
        <p:blipFill>
          <a:blip r:embed="rId4"/>
          <a:stretch>
            <a:fillRect/>
          </a:stretch>
        </p:blipFill>
        <p:spPr>
          <a:xfrm>
            <a:off x="925830" y="4034790"/>
            <a:ext cx="297180" cy="297180"/>
          </a:xfrm>
          <a:prstGeom prst="rect">
            <a:avLst/>
          </a:prstGeom>
        </p:spPr>
      </p:pic>
      <p:sp>
        <p:nvSpPr>
          <p:cNvPr id="22" name="Text 15"/>
          <p:cNvSpPr txBox="1"/>
          <p:nvPr/>
        </p:nvSpPr>
        <p:spPr>
          <a:xfrm>
            <a:off x="1508760" y="385876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More masking</a:t>
            </a:r>
            <a:endParaRPr lang="en-US" sz="1700" dirty="0"/>
          </a:p>
        </p:txBody>
      </p:sp>
      <p:sp>
        <p:nvSpPr>
          <p:cNvPr id="23" name="Text 16"/>
          <p:cNvSpPr txBox="1"/>
          <p:nvPr/>
        </p:nvSpPr>
        <p:spPr>
          <a:xfrm>
            <a:off x="777240" y="4617720"/>
            <a:ext cx="3058058" cy="868680"/>
          </a:xfrm>
          <a:prstGeom prst="rect">
            <a:avLst/>
          </a:prstGeom>
          <a:noFill/>
          <a:ln/>
        </p:spPr>
        <p:txBody>
          <a:bodyPr wrap="square" lIns="0" tIns="0" rIns="0" bIns="0" rtlCol="0" anchor="t"/>
          <a:lstStyle/>
          <a:p>
            <a:pPr indent="0" marL="0">
              <a:buNone/>
            </a:pPr>
            <a:r>
              <a:rPr lang="en-US" sz="1400" dirty="0">
                <a:solidFill>
                  <a:schemeClr val="tx1"/>
                </a:solidFill>
              </a:rPr>
              <a:t>What was masked, shown at convert; redacted page images; masked document keys</a:t>
            </a:r>
            <a:endParaRPr lang="en-US" sz="1400" dirty="0"/>
          </a:p>
        </p:txBody>
      </p:sp>
      <p:sp>
        <p:nvSpPr>
          <p:cNvPr id="24" name="Links and containers"/>
          <p:cNvSpPr/>
          <p:nvPr/>
        </p:nvSpPr>
        <p:spPr>
          <a:xfrm>
            <a:off x="4338218" y="3657600"/>
            <a:ext cx="3515258" cy="1920240"/>
          </a:xfrm>
          <a:prstGeom prst="roundRect">
            <a:avLst>
              <a:gd name="adj" fmla="val 3810"/>
            </a:avLst>
          </a:prstGeom>
          <a:solidFill>
            <a:schemeClr val="bg2"/>
          </a:solidFill>
          <a:ln/>
        </p:spPr>
      </p:sp>
      <p:sp>
        <p:nvSpPr>
          <p:cNvPr id="25" name="Links and containers badge"/>
          <p:cNvSpPr/>
          <p:nvPr/>
        </p:nvSpPr>
        <p:spPr>
          <a:xfrm>
            <a:off x="4566818" y="3886200"/>
            <a:ext cx="594360" cy="594360"/>
          </a:xfrm>
          <a:prstGeom prst="ellipse">
            <a:avLst/>
          </a:prstGeom>
          <a:solidFill>
            <a:schemeClr val="accent1"/>
          </a:solidFill>
          <a:ln/>
        </p:spPr>
      </p:sp>
      <p:pic>
        <p:nvPicPr>
          <p:cNvPr id="26" name="Links and containers icon" descr="preencoded.png">    </p:cNvPr>
          <p:cNvPicPr>
            <a:picLocks noChangeAspect="1"/>
          </p:cNvPicPr>
          <p:nvPr/>
        </p:nvPicPr>
        <p:blipFill>
          <a:blip r:embed="rId5"/>
          <a:stretch>
            <a:fillRect/>
          </a:stretch>
        </p:blipFill>
        <p:spPr>
          <a:xfrm>
            <a:off x="4715408" y="4034790"/>
            <a:ext cx="297180" cy="297180"/>
          </a:xfrm>
          <a:prstGeom prst="rect">
            <a:avLst/>
          </a:prstGeom>
        </p:spPr>
      </p:pic>
      <p:sp>
        <p:nvSpPr>
          <p:cNvPr id="27" name="Text 19"/>
          <p:cNvSpPr txBox="1"/>
          <p:nvPr/>
        </p:nvSpPr>
        <p:spPr>
          <a:xfrm>
            <a:off x="5298338" y="385876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Links and containers</a:t>
            </a:r>
            <a:endParaRPr lang="en-US" sz="1700" dirty="0"/>
          </a:p>
        </p:txBody>
      </p:sp>
      <p:sp>
        <p:nvSpPr>
          <p:cNvPr id="28" name="Text 20"/>
          <p:cNvSpPr txBox="1"/>
          <p:nvPr/>
        </p:nvSpPr>
        <p:spPr>
          <a:xfrm>
            <a:off x="4566818" y="4617720"/>
            <a:ext cx="3058058" cy="868680"/>
          </a:xfrm>
          <a:prstGeom prst="rect">
            <a:avLst/>
          </a:prstGeom>
          <a:noFill/>
          <a:ln/>
        </p:spPr>
        <p:txBody>
          <a:bodyPr wrap="square" lIns="0" tIns="0" rIns="0" bIns="0" rtlCol="0" anchor="t"/>
          <a:lstStyle/>
          <a:p>
            <a:pPr indent="0" marL="0">
              <a:buNone/>
            </a:pPr>
            <a:r>
              <a:rPr lang="en-US" sz="1400" dirty="0">
                <a:solidFill>
                  <a:schemeClr val="tx1"/>
                </a:solidFill>
              </a:rPr>
              <a:t>A URL, and the Jira project or Confluence space, for every document</a:t>
            </a:r>
            <a:endParaRPr lang="en-US" sz="1400" dirty="0"/>
          </a:p>
        </p:txBody>
      </p:sp>
      <p:sp>
        <p:nvSpPr>
          <p:cNvPr id="29" name="Clustering and chat"/>
          <p:cNvSpPr/>
          <p:nvPr/>
        </p:nvSpPr>
        <p:spPr>
          <a:xfrm>
            <a:off x="8127797" y="3657600"/>
            <a:ext cx="3515258" cy="1920240"/>
          </a:xfrm>
          <a:prstGeom prst="roundRect">
            <a:avLst>
              <a:gd name="adj" fmla="val 3810"/>
            </a:avLst>
          </a:prstGeom>
          <a:solidFill>
            <a:schemeClr val="bg2"/>
          </a:solidFill>
          <a:ln/>
        </p:spPr>
      </p:sp>
      <p:sp>
        <p:nvSpPr>
          <p:cNvPr id="30" name="Clustering and chat badge"/>
          <p:cNvSpPr/>
          <p:nvPr/>
        </p:nvSpPr>
        <p:spPr>
          <a:xfrm>
            <a:off x="8356397" y="3886200"/>
            <a:ext cx="594360" cy="594360"/>
          </a:xfrm>
          <a:prstGeom prst="ellipse">
            <a:avLst/>
          </a:prstGeom>
          <a:solidFill>
            <a:schemeClr val="accent1"/>
          </a:solidFill>
          <a:ln/>
        </p:spPr>
      </p:sp>
      <p:pic>
        <p:nvPicPr>
          <p:cNvPr id="31" name="Clustering and chat icon" descr="preencoded.png">    </p:cNvPr>
          <p:cNvPicPr>
            <a:picLocks noChangeAspect="1"/>
          </p:cNvPicPr>
          <p:nvPr/>
        </p:nvPicPr>
        <p:blipFill>
          <a:blip r:embed="rId6"/>
          <a:stretch>
            <a:fillRect/>
          </a:stretch>
        </p:blipFill>
        <p:spPr>
          <a:xfrm>
            <a:off x="8504987" y="4034790"/>
            <a:ext cx="297180" cy="297180"/>
          </a:xfrm>
          <a:prstGeom prst="rect">
            <a:avLst/>
          </a:prstGeom>
        </p:spPr>
      </p:pic>
      <p:sp>
        <p:nvSpPr>
          <p:cNvPr id="32" name="Text 23"/>
          <p:cNvSpPr txBox="1"/>
          <p:nvPr/>
        </p:nvSpPr>
        <p:spPr>
          <a:xfrm>
            <a:off x="9087917" y="3858768"/>
            <a:ext cx="2417978" cy="640080"/>
          </a:xfrm>
          <a:prstGeom prst="rect">
            <a:avLst/>
          </a:prstGeom>
          <a:noFill/>
          <a:ln/>
        </p:spPr>
        <p:txBody>
          <a:bodyPr wrap="square" lIns="0" tIns="0" rIns="0" bIns="0" rtlCol="0" anchor="ctr"/>
          <a:lstStyle/>
          <a:p>
            <a:pPr indent="0" marL="0">
              <a:buNone/>
            </a:pPr>
            <a:r>
              <a:rPr lang="en-US" sz="1700" b="1" dirty="0">
                <a:solidFill>
                  <a:schemeClr val="tx2"/>
                </a:solidFill>
              </a:rPr>
              <a:t>Clustering and chat</a:t>
            </a:r>
            <a:endParaRPr lang="en-US" sz="1700" dirty="0"/>
          </a:p>
        </p:txBody>
      </p:sp>
      <p:sp>
        <p:nvSpPr>
          <p:cNvPr id="33" name="Text 24"/>
          <p:cNvSpPr txBox="1"/>
          <p:nvPr/>
        </p:nvSpPr>
        <p:spPr>
          <a:xfrm>
            <a:off x="8356397" y="4617720"/>
            <a:ext cx="3058058" cy="868680"/>
          </a:xfrm>
          <a:prstGeom prst="rect">
            <a:avLst/>
          </a:prstGeom>
          <a:noFill/>
          <a:ln/>
        </p:spPr>
        <p:txBody>
          <a:bodyPr wrap="square" lIns="0" tIns="0" rIns="0" bIns="0" rtlCol="0" anchor="t"/>
          <a:lstStyle/>
          <a:p>
            <a:pPr indent="0" marL="0">
              <a:buNone/>
            </a:pPr>
            <a:r>
              <a:rPr lang="en-US" sz="1400" dirty="0">
                <a:solidFill>
                  <a:schemeClr val="tx1"/>
                </a:solidFill>
              </a:rPr>
              <a:t>Built by other tools, over the index's views. Not part of dossier</a:t>
            </a:r>
            <a:endParaRPr lang="en-US" sz="1400" dirty="0"/>
          </a:p>
        </p:txBody>
      </p:sp>
      <p:sp>
        <p:nvSpPr>
          <p:cNvPr id="34" name="Text 25"/>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700" i="1" dirty="0">
                <a:solidFill>
                  <a:schemeClr val="accent1"/>
                </a:solidFill>
              </a:rPr>
              <a:t>Each starts the same way: a spec, then a failing test.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4415" cy="457200"/>
          </a:xfrm>
          <a:prstGeom prst="rect">
            <a:avLst/>
          </a:prstGeom>
          <a:noFill/>
          <a:ln/>
        </p:spPr>
        <p:txBody>
          <a:bodyPr wrap="square" lIns="0" tIns="0" rIns="0" bIns="0" rtlCol="0" anchor="b"/>
          <a:lstStyle/>
          <a:p>
            <a:pPr indent="0" marL="0">
              <a:buNone/>
            </a:pPr>
            <a:r>
              <a:rPr lang="en-US" sz="1800" b="1" spc="200" kern="0" dirty="0">
                <a:solidFill>
                  <a:schemeClr val="accent2"/>
                </a:solidFill>
              </a:rPr>
              <a:t>WHERE TO START</a:t>
            </a:r>
            <a:endParaRPr lang="en-US" sz="1800" dirty="0"/>
          </a:p>
        </p:txBody>
      </p:sp>
      <p:sp>
        <p:nvSpPr>
          <p:cNvPr id="3" name="Text 0"/>
          <p:cNvSpPr/>
          <p:nvPr>
            <p:ph idx="101" type="title" hasCustomPrompt="1"/>
          </p:nvPr>
        </p:nvSpPr>
        <p:spPr>
          <a:xfrm>
            <a:off x="548640" y="2103120"/>
            <a:ext cx="11094415" cy="1371600"/>
          </a:xfrm>
          <a:prstGeom prst="rect">
            <a:avLst/>
          </a:prstGeom>
          <a:noFill/>
          <a:ln/>
        </p:spPr>
        <p:txBody>
          <a:bodyPr wrap="square" lIns="0" tIns="0" rIns="0" bIns="0" rtlCol="0" anchor="ctr"/>
          <a:lstStyle/>
          <a:p>
            <a:pPr algn="l" indent="0" marL="0">
              <a:buNone/>
            </a:pPr>
            <a:r>
              <a:rPr lang="en-US" sz="6000" b="1" dirty="0">
                <a:solidFill>
                  <a:schemeClr val="bg1"/>
                </a:solidFill>
                <a:latin typeface="Cambria" pitchFamily="34" charset="0"/>
                <a:ea typeface="Cambria" pitchFamily="34" charset="-122"/>
                <a:cs typeface="Cambria" pitchFamily="34" charset="-120"/>
              </a:rPr>
              <a:t>Spec first, then code</a:t>
            </a:r>
            <a:endParaRPr lang="en-US" sz="6000" dirty="0"/>
          </a:p>
        </p:txBody>
      </p:sp>
      <p:sp>
        <p:nvSpPr>
          <p:cNvPr id="4" name="Text 0"/>
          <p:cNvSpPr/>
          <p:nvPr>
            <p:ph idx="102" type="body" hasCustomPrompt="1"/>
          </p:nvPr>
        </p:nvSpPr>
        <p:spPr>
          <a:xfrm>
            <a:off x="548640" y="3566160"/>
            <a:ext cx="9601200" cy="1097280"/>
          </a:xfrm>
          <a:prstGeom prst="rect">
            <a:avLst/>
          </a:prstGeom>
          <a:noFill/>
          <a:ln/>
        </p:spPr>
        <p:txBody>
          <a:bodyPr wrap="square" lIns="0" tIns="0" rIns="0" bIns="0" rtlCol="0" anchor="t"/>
          <a:lstStyle/>
          <a:p>
            <a:pPr indent="0" marL="0">
              <a:buNone/>
            </a:pPr>
            <a:r>
              <a:rPr lang="en-US" sz="2400" dirty="0">
                <a:solidFill>
                  <a:schemeClr val="accent6"/>
                </a:solidFill>
              </a:rPr>
              <a:t>Read specs/000-overview.md and docs/architecture.md, then work through the playground</a:t>
            </a:r>
            <a:endParaRPr lang="en-US" sz="2400" dirty="0"/>
          </a:p>
        </p:txBody>
      </p:sp>
      <p:sp>
        <p:nvSpPr>
          <p:cNvPr id="5" name="start badge"/>
          <p:cNvSpPr/>
          <p:nvPr/>
        </p:nvSpPr>
        <p:spPr>
          <a:xfrm>
            <a:off x="10180015" y="4754880"/>
            <a:ext cx="1463040" cy="1463040"/>
          </a:xfrm>
          <a:prstGeom prst="ellipse">
            <a:avLst/>
          </a:prstGeom>
          <a:solidFill>
            <a:schemeClr val="accent2"/>
          </a:solidFill>
          <a:ln/>
        </p:spPr>
      </p:sp>
      <p:pic>
        <p:nvPicPr>
          <p:cNvPr id="6" name="start icon" descr="preencoded.png">    </p:cNvPr>
          <p:cNvPicPr>
            <a:picLocks noChangeAspect="1"/>
          </p:cNvPicPr>
          <p:nvPr/>
        </p:nvPicPr>
        <p:blipFill>
          <a:blip r:embed="rId1"/>
          <a:stretch>
            <a:fillRect/>
          </a:stretch>
        </p:blipFill>
        <p:spPr>
          <a:xfrm>
            <a:off x="10545775" y="5120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dossier">
      <a:dk1>
        <a:srgbClr val="1B2430"/>
      </a:dk1>
      <a:lt1>
        <a:srgbClr val="FFFFFF"/>
      </a:lt1>
      <a:dk2>
        <a:srgbClr val="12343B"/>
      </a:dk2>
      <a:lt2>
        <a:srgbClr val="EEF3F2"/>
      </a:lt2>
      <a:accent1>
        <a:srgbClr val="1F6F78"/>
      </a:accent1>
      <a:accent2>
        <a:srgbClr val="D99A3D"/>
      </a:accent2>
      <a:accent3>
        <a:srgbClr val="B84A3A"/>
      </a:accent3>
      <a:accent4>
        <a:srgbClr val="5E8C64"/>
      </a:accent4>
      <a:accent5>
        <a:srgbClr val="5B6B7A"/>
      </a:accent5>
      <a:accent6>
        <a:srgbClr val="A9C4C0"/>
      </a:accent6>
      <a:hlink>
        <a:srgbClr val="1F6F78"/>
      </a:hlink>
      <a:folHlink>
        <a:srgbClr val="5B6B7A"/>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architecture, features and what comes next</dc:title>
  <dc:subject>PptxGenJS Presentation</dc:subject>
  <dc:creator>dossier-audit</dc:creator>
  <cp:lastModifiedBy>dossier-audit</cp:lastModifiedBy>
  <cp:revision>1</cp:revision>
  <dcterms:created xsi:type="dcterms:W3CDTF">2026-10-15T06:25:49Z</dcterms:created>
  <dcterms:modified xsi:type="dcterms:W3CDTF">2026-10-15T06:25:49Z</dcterms:modified>
</cp:coreProperties>
</file>